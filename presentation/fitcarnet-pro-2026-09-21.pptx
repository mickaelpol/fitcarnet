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1.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charts/chart2.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E8EAED"/>
                </a:solidFill>
                <a:latin typeface="Calibri"/>
              </a:defRPr>
            </a:pPr>
            <a:r>
              <a:rPr sz="1300" b="0" i="0" u="none" strike="noStrike">
                <a:solidFill>
                  <a:srgbClr val="E8EAED"/>
                </a:solidFill>
                <a:latin typeface="Calibri"/>
              </a:rPr>
              <a:t>Professionnels abonnés en fin d'année</a:t>
            </a:r>
          </a:p>
        </c:rich>
      </c:tx>
      <c:layout/>
      <c:overlay val="0"/>
    </c:title>
    <c:autoTitleDeleted val="0"/>
    <c:plotArea>
      <c:layout/>
      <c:barChart>
        <c:barDir val="col"/>
        <c:grouping val="clustered"/>
        <c:varyColors val="0"/>
        <c:ser>
          <c:idx val="0"/>
          <c:order val="0"/>
          <c:tx>
            <c:strRef>
              <c:f>Sheet1!$B$1</c:f>
              <c:strCache>
                <c:ptCount val="1"/>
                <c:pt idx="0">
                  <c:v>Prudent</c:v>
                </c:pt>
              </c:strCache>
            </c:strRef>
          </c:tx>
          <c:spPr>
            <a:solidFill>
              <a:srgbClr val="8C6B1F"/>
            </a:solidFill>
            <a:effectLst/>
          </c:spPr>
          <c:invertIfNegative val="0"/>
          <c:dLbls>
            <c:numFmt formatCode="#,##0" sourceLinked="0"/>
            <c:txPr>
              <a:bodyPr/>
              <a:lstStyle/>
              <a:p>
                <a:pPr>
                  <a:defRPr b="0" i="0" strike="noStrike" sz="1000" u="none">
                    <a:solidFill>
                      <a:srgbClr val="ADB2B9"/>
                    </a:solidFill>
                    <a:latin typeface="Calibri"/>
                  </a:defRPr>
                </a:pPr>
              </a:p>
            </c:txPr>
            <c:showLegendKey val="0"/>
            <c:showVal val="1"/>
            <c:showCatName val="0"/>
            <c:showSerName val="0"/>
            <c:showPercent val="0"/>
            <c:showBubbleSize val="0"/>
            <c:showLeaderLines val="0"/>
          </c:dLbls>
          <c:cat>
            <c:multiLvlStrRef>
              <c:f>Sheet1!$A$2:$A$4</c:f>
              <c:multiLvlStrCache>
                <c:ptCount val="3"/>
                <c:lvl>
                  <c:pt idx="0">
                    <c:v>Année 1</c:v>
                  </c:pt>
                  <c:pt idx="1">
                    <c:v>Année 2</c:v>
                  </c:pt>
                  <c:pt idx="2">
                    <c:v>Année 3</c:v>
                  </c:pt>
                </c:lvl>
              </c:multiLvlStrCache>
            </c:multiLvlStrRef>
          </c:cat>
          <c:val>
            <c:numRef>
              <c:f>Sheet1!$B$2:$B$4</c:f>
              <c:numCache>
                <c:formatCode>General</c:formatCode>
                <c:ptCount val="3"/>
                <c:pt idx="0">
                  <c:v>11</c:v>
                </c:pt>
                <c:pt idx="1">
                  <c:v>49</c:v>
                </c:pt>
                <c:pt idx="2">
                  <c:v>105</c:v>
                </c:pt>
              </c:numCache>
            </c:numRef>
          </c:val>
        </c:ser>
        <c:ser>
          <c:idx val="1"/>
          <c:order val="1"/>
          <c:tx>
            <c:strRef>
              <c:f>Sheet1!$C$1</c:f>
              <c:strCache>
                <c:ptCount val="1"/>
                <c:pt idx="0">
                  <c:v>Central</c:v>
                </c:pt>
              </c:strCache>
            </c:strRef>
          </c:tx>
          <c:spPr>
            <a:solidFill>
              <a:srgbClr val="E3B23C"/>
            </a:solidFill>
            <a:effectLst/>
          </c:spPr>
          <c:invertIfNegative val="0"/>
          <c:dLbls>
            <c:numFmt formatCode="#,##0" sourceLinked="0"/>
            <c:txPr>
              <a:bodyPr/>
              <a:lstStyle/>
              <a:p>
                <a:pPr>
                  <a:defRPr b="0" i="0" strike="noStrike" sz="1000" u="none">
                    <a:solidFill>
                      <a:srgbClr val="ADB2B9"/>
                    </a:solidFill>
                    <a:latin typeface="Calibri"/>
                  </a:defRPr>
                </a:pPr>
              </a:p>
            </c:txPr>
            <c:showLegendKey val="0"/>
            <c:showVal val="1"/>
            <c:showCatName val="0"/>
            <c:showSerName val="0"/>
            <c:showPercent val="0"/>
            <c:showBubbleSize val="0"/>
            <c:showLeaderLines val="0"/>
          </c:dLbls>
          <c:cat>
            <c:multiLvlStrRef>
              <c:f>Sheet1!$A$2:$A$4</c:f>
              <c:multiLvlStrCache>
                <c:ptCount val="3"/>
                <c:lvl>
                  <c:pt idx="0">
                    <c:v>Année 1</c:v>
                  </c:pt>
                  <c:pt idx="1">
                    <c:v>Année 2</c:v>
                  </c:pt>
                  <c:pt idx="2">
                    <c:v>Année 3</c:v>
                  </c:pt>
                </c:lvl>
              </c:multiLvlStrCache>
            </c:multiLvlStrRef>
          </c:cat>
          <c:val>
            <c:numRef>
              <c:f>Sheet1!$C$2:$C$4</c:f>
              <c:numCache>
                <c:formatCode>General</c:formatCode>
                <c:ptCount val="3"/>
                <c:pt idx="0">
                  <c:v>22</c:v>
                </c:pt>
                <c:pt idx="1">
                  <c:v>97</c:v>
                </c:pt>
                <c:pt idx="2">
                  <c:v>210</c:v>
                </c:pt>
              </c:numCache>
            </c:numRef>
          </c:val>
        </c:ser>
        <c:ser>
          <c:idx val="2"/>
          <c:order val="2"/>
          <c:tx>
            <c:strRef>
              <c:f>Sheet1!$D$1</c:f>
              <c:strCache>
                <c:ptCount val="1"/>
                <c:pt idx="0">
                  <c:v>Ambitieux</c:v>
                </c:pt>
              </c:strCache>
            </c:strRef>
          </c:tx>
          <c:spPr>
            <a:solidFill>
              <a:srgbClr val="F5DCA1"/>
            </a:solidFill>
            <a:effectLst/>
          </c:spPr>
          <c:invertIfNegative val="0"/>
          <c:dLbls>
            <c:numFmt formatCode="#,##0" sourceLinked="0"/>
            <c:txPr>
              <a:bodyPr/>
              <a:lstStyle/>
              <a:p>
                <a:pPr>
                  <a:defRPr b="0" i="0" strike="noStrike" sz="1000" u="none">
                    <a:solidFill>
                      <a:srgbClr val="ADB2B9"/>
                    </a:solidFill>
                    <a:latin typeface="Calibri"/>
                  </a:defRPr>
                </a:pPr>
              </a:p>
            </c:txPr>
            <c:showLegendKey val="0"/>
            <c:showVal val="1"/>
            <c:showCatName val="0"/>
            <c:showSerName val="0"/>
            <c:showPercent val="0"/>
            <c:showBubbleSize val="0"/>
            <c:showLeaderLines val="0"/>
          </c:dLbls>
          <c:cat>
            <c:multiLvlStrRef>
              <c:f>Sheet1!$A$2:$A$4</c:f>
              <c:multiLvlStrCache>
                <c:ptCount val="3"/>
                <c:lvl>
                  <c:pt idx="0">
                    <c:v>Année 1</c:v>
                  </c:pt>
                  <c:pt idx="1">
                    <c:v>Année 2</c:v>
                  </c:pt>
                  <c:pt idx="2">
                    <c:v>Année 3</c:v>
                  </c:pt>
                </c:lvl>
              </c:multiLvlStrCache>
            </c:multiLvlStrRef>
          </c:cat>
          <c:val>
            <c:numRef>
              <c:f>Sheet1!$D$2:$D$4</c:f>
              <c:numCache>
                <c:formatCode>General</c:formatCode>
                <c:ptCount val="3"/>
                <c:pt idx="0">
                  <c:v>36</c:v>
                </c:pt>
                <c:pt idx="1">
                  <c:v>155</c:v>
                </c:pt>
                <c:pt idx="2">
                  <c:v>336</c:v>
                </c:pt>
              </c:numCache>
            </c:numRef>
          </c:val>
        </c:ser>
        <c:dLbls>
          <c:numFmt formatCode="#,##0" sourceLinked="0"/>
          <c:txPr>
            <a:bodyPr/>
            <a:lstStyle/>
            <a:p>
              <a:pPr>
                <a:defRPr b="0" i="0" strike="noStrike" sz="1000" u="none">
                  <a:solidFill>
                    <a:srgbClr val="ADB2B9"/>
                  </a:solidFill>
                  <a:latin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ADB2B9"/>
                </a:solidFill>
                <a:latin typeface="Calibri"/>
              </a:defRPr>
            </a:pPr>
            <a:endParaRPr lang="en-US"/>
          </a:p>
        </c:txPr>
        <c:crossAx val="2094734552"/>
        <c:crosses val="autoZero"/>
        <c:auto val="1"/>
        <c:lblAlgn val="ctr"/>
        <c:noMultiLvlLbl val="1"/>
      </c:catAx>
      <c:valAx>
        <c:axId val="2094734552"/>
        <c:scaling>
          <c:orientation val="minMax"/>
          <c:max val="380"/>
        </c:scaling>
        <c:delete val="0"/>
        <c:axPos val="l"/>
        <c:majorGridlines>
          <c:spPr>
            <a:ln w="9525" cap="flat">
              <a:solidFill>
                <a:srgbClr val="2F343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868E99"/>
                </a:solidFill>
                <a:latin typeface="Calibri"/>
              </a:defRPr>
            </a:pPr>
            <a:endParaRPr lang="en-US"/>
          </a:p>
        </c:txPr>
        <c:crossAx val="2094734554"/>
        <c:crosses val="autoZero"/>
        <c:crossBetween val="between"/>
      </c:valAx>
      <c:spPr>
        <a:solidFill>
          <a:srgbClr val="14161A"/>
        </a:solidFill>
        <a:ln w="12700" cap="flat">
          <a:solidFill>
            <a:srgbClr val="14161A"/>
          </a:solidFill>
        </a:ln>
        <a:effectLst/>
      </c:spPr>
    </c:plotArea>
    <c:legend>
      <c:legendPos val="b"/>
      <c:overlay val="0"/>
      <c:txPr>
        <a:bodyPr/>
        <a:lstStyle/>
        <a:p>
          <a:pPr>
            <a:defRPr sz="1000">
              <a:solidFill>
                <a:srgbClr val="ADB2B9"/>
              </a:solidFill>
              <a:latin typeface="Calibri"/>
              <a:cs typeface="Calibri"/>
            </a:defRPr>
          </a:pPr>
          <a:endParaRPr lang="en-US"/>
        </a:p>
      </c:txPr>
    </c:legend>
    <c:plotVisOnly val="1"/>
    <c:dispBlanksAs val="span"/>
  </c:chart>
  <c:spPr>
    <a:solidFill>
      <a:srgbClr val="14161A"/>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E8EAED"/>
                </a:solidFill>
                <a:latin typeface="Calibri"/>
              </a:defRPr>
            </a:pPr>
            <a:r>
              <a:rPr sz="1300" b="0" i="0" u="none" strike="noStrike">
                <a:solidFill>
                  <a:srgbClr val="E8EAED"/>
                </a:solidFill>
                <a:latin typeface="Calibri"/>
              </a:rPr>
              <a:t>Chiffre d'affaires et charges, en euros HT</a:t>
            </a:r>
          </a:p>
        </c:rich>
      </c:tx>
      <c:layout/>
      <c:overlay val="0"/>
    </c:title>
    <c:autoTitleDeleted val="0"/>
    <c:plotArea>
      <c:layout/>
      <c:barChart>
        <c:barDir val="col"/>
        <c:grouping val="clustered"/>
        <c:varyColors val="0"/>
        <c:ser>
          <c:idx val="0"/>
          <c:order val="0"/>
          <c:tx>
            <c:strRef>
              <c:f>Sheet1!$B$1</c:f>
              <c:strCache>
                <c:ptCount val="1"/>
                <c:pt idx="0">
                  <c:v>Chiffre d'affaires</c:v>
                </c:pt>
              </c:strCache>
            </c:strRef>
          </c:tx>
          <c:spPr>
            <a:solidFill>
              <a:srgbClr val="E3B23C"/>
            </a:solidFill>
            <a:effectLst/>
          </c:spPr>
          <c:invertIfNegative val="0"/>
          <c:dLbls>
            <c:numFmt formatCode="#,##0" sourceLinked="0"/>
            <c:txPr>
              <a:bodyPr/>
              <a:lstStyle/>
              <a:p>
                <a:pPr>
                  <a:defRPr b="0" i="0" strike="noStrike" sz="1000" u="none">
                    <a:solidFill>
                      <a:srgbClr val="ADB2B9"/>
                    </a:solidFill>
                    <a:latin typeface="Calibri"/>
                  </a:defRPr>
                </a:pPr>
              </a:p>
            </c:txPr>
            <c:showLegendKey val="0"/>
            <c:showVal val="1"/>
            <c:showCatName val="0"/>
            <c:showSerName val="0"/>
            <c:showPercent val="0"/>
            <c:showBubbleSize val="0"/>
            <c:showLeaderLines val="0"/>
          </c:dLbls>
          <c:cat>
            <c:multiLvlStrRef>
              <c:f>Sheet1!$A$2:$A$4</c:f>
              <c:multiLvlStrCache>
                <c:ptCount val="3"/>
                <c:lvl>
                  <c:pt idx="0">
                    <c:v>Année 1</c:v>
                  </c:pt>
                  <c:pt idx="1">
                    <c:v>Année 2</c:v>
                  </c:pt>
                  <c:pt idx="2">
                    <c:v>Année 3</c:v>
                  </c:pt>
                </c:lvl>
              </c:multiLvlStrCache>
            </c:multiLvlStrRef>
          </c:cat>
          <c:val>
            <c:numRef>
              <c:f>Sheet1!$B$2:$B$4</c:f>
              <c:numCache>
                <c:formatCode>General</c:formatCode>
                <c:ptCount val="3"/>
                <c:pt idx="0">
                  <c:v>3357</c:v>
                </c:pt>
                <c:pt idx="1">
                  <c:v>32789</c:v>
                </c:pt>
                <c:pt idx="2">
                  <c:v>81546</c:v>
                </c:pt>
              </c:numCache>
            </c:numRef>
          </c:val>
        </c:ser>
        <c:ser>
          <c:idx val="1"/>
          <c:order val="1"/>
          <c:tx>
            <c:strRef>
              <c:f>Sheet1!$C$1</c:f>
              <c:strCache>
                <c:ptCount val="1"/>
                <c:pt idx="0">
                  <c:v>Charges</c:v>
                </c:pt>
              </c:strCache>
            </c:strRef>
          </c:tx>
          <c:spPr>
            <a:solidFill>
              <a:srgbClr val="7BA7DD"/>
            </a:solidFill>
            <a:effectLst/>
          </c:spPr>
          <c:invertIfNegative val="0"/>
          <c:dLbls>
            <c:numFmt formatCode="#,##0" sourceLinked="0"/>
            <c:txPr>
              <a:bodyPr/>
              <a:lstStyle/>
              <a:p>
                <a:pPr>
                  <a:defRPr b="0" i="0" strike="noStrike" sz="1000" u="none">
                    <a:solidFill>
                      <a:srgbClr val="ADB2B9"/>
                    </a:solidFill>
                    <a:latin typeface="Calibri"/>
                  </a:defRPr>
                </a:pPr>
              </a:p>
            </c:txPr>
            <c:showLegendKey val="0"/>
            <c:showVal val="1"/>
            <c:showCatName val="0"/>
            <c:showSerName val="0"/>
            <c:showPercent val="0"/>
            <c:showBubbleSize val="0"/>
            <c:showLeaderLines val="0"/>
          </c:dLbls>
          <c:cat>
            <c:multiLvlStrRef>
              <c:f>Sheet1!$A$2:$A$4</c:f>
              <c:multiLvlStrCache>
                <c:ptCount val="3"/>
                <c:lvl>
                  <c:pt idx="0">
                    <c:v>Année 1</c:v>
                  </c:pt>
                  <c:pt idx="1">
                    <c:v>Année 2</c:v>
                  </c:pt>
                  <c:pt idx="2">
                    <c:v>Année 3</c:v>
                  </c:pt>
                </c:lvl>
              </c:multiLvlStrCache>
            </c:multiLvlStrRef>
          </c:cat>
          <c:val>
            <c:numRef>
              <c:f>Sheet1!$C$2:$C$4</c:f>
              <c:numCache>
                <c:formatCode>General</c:formatCode>
                <c:ptCount val="3"/>
                <c:pt idx="0">
                  <c:v>9004</c:v>
                </c:pt>
                <c:pt idx="1">
                  <c:v>12720</c:v>
                </c:pt>
                <c:pt idx="2">
                  <c:v>29740</c:v>
                </c:pt>
              </c:numCache>
            </c:numRef>
          </c:val>
        </c:ser>
        <c:dLbls>
          <c:numFmt formatCode="#,##0" sourceLinked="0"/>
          <c:txPr>
            <a:bodyPr/>
            <a:lstStyle/>
            <a:p>
              <a:pPr>
                <a:defRPr b="0" i="0" strike="noStrike" sz="1000" u="none">
                  <a:solidFill>
                    <a:srgbClr val="ADB2B9"/>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ADB2B9"/>
                </a:solidFill>
                <a:latin typeface="Calibri"/>
              </a:defRPr>
            </a:pPr>
            <a:endParaRPr lang="en-US"/>
          </a:p>
        </c:txPr>
        <c:crossAx val="2094734552"/>
        <c:crosses val="autoZero"/>
        <c:auto val="1"/>
        <c:lblAlgn val="ctr"/>
        <c:noMultiLvlLbl val="1"/>
      </c:catAx>
      <c:valAx>
        <c:axId val="2094734552"/>
        <c:scaling>
          <c:orientation val="minMax"/>
          <c:max val="95000"/>
        </c:scaling>
        <c:delete val="0"/>
        <c:axPos val="l"/>
        <c:majorGridlines>
          <c:spPr>
            <a:ln w="9525" cap="flat">
              <a:solidFill>
                <a:srgbClr val="2F343D"/>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868E99"/>
                </a:solidFill>
                <a:latin typeface="Calibri"/>
              </a:defRPr>
            </a:pPr>
            <a:endParaRPr lang="en-US"/>
          </a:p>
        </c:txPr>
        <c:crossAx val="2094734554"/>
        <c:crosses val="autoZero"/>
        <c:crossBetween val="between"/>
      </c:valAx>
      <c:spPr>
        <a:solidFill>
          <a:srgbClr val="14161A"/>
        </a:solidFill>
        <a:ln w="12700" cap="flat">
          <a:solidFill>
            <a:srgbClr val="14161A"/>
          </a:solidFill>
        </a:ln>
        <a:effectLst/>
      </c:spPr>
    </c:plotArea>
    <c:legend>
      <c:legendPos val="b"/>
      <c:overlay val="0"/>
      <c:txPr>
        <a:bodyPr/>
        <a:lstStyle/>
        <a:p>
          <a:pPr>
            <a:defRPr sz="1000">
              <a:solidFill>
                <a:srgbClr val="ADB2B9"/>
              </a:solidFill>
              <a:latin typeface="Calibri"/>
              <a:cs typeface="Calibri"/>
            </a:defRPr>
          </a:pPr>
          <a:endParaRPr lang="en-US"/>
        </a:p>
      </c:txPr>
    </c:legend>
    <c:plotVisOnly val="1"/>
    <c:dispBlanksAs val="span"/>
  </c:chart>
  <c:spPr>
    <a:solidFill>
      <a:srgbClr val="14161A"/>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Ouvrir sur ce que le produit fait, pas sur le marché. La phrase « 84 g à peser → 63 g servi » est toute la proposition : on ne donne pas une recette, on donne un geste. Préciser d'emblée que le produit tourne déjà et qu'il est utilisé tous les jours — ce n'est pas une idée sur papier.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la diapositive qu'on lit si on ne lit qu'une. Les quatre chiffres du haut disent la trajectoire, les cinq lignes du bas disent le dossier. Insister sur « l'actif » : le coût de construction du produit est déjà payé, ce qui explique un besoin de départ de 6 000 € et non de 200 000 €.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chiffre à faire retenir : 350 contre 155 kcal pour le même riz. Un facteur 2,26 sur l'assiette, c'est un plan à 2 000 kcal qui en vaut 1 200. Ce n'est pas un détail de spécialiste, c'est la différence entre un client qui progresse et un client qui arrête.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L'acheteur et l'utilisateur ne sont pas la même personne : c'est la mécanique du B2B2C, et c'est aussi son risque. Le coach paie, mais il ne renouvellera que si ses clients se servent vraiment de l'application. D'où la gratuité totale côté client 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 pas lire les cinq lignes : les montrer. Si la salle veut une démonstration, elle se fait ici — le plan de tournage des vidéos est prêt. La cinquième ligne, les garde-fous, est celle qui distingue un outil de nutrition sérieux d'un compteur de calories.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Quatre écrans, quatre preuves. Le message n'est pas « voilà ce qu'on va faire » mais « voilà ce qui existe ». Ce qui reste à construire pour l'offre professionnelle tient sur la diapositive suivante, et c'est volontairement court.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la diapositive qui tient lieu de traction : pas de clients payants, mais un actif technique réel et mesurable. Quatre lignes sur sept sont en service. Le seul vrai chantier est le partage coach ↔ client, qui est aussi le premier risque de sécurité — voir la diapositive des risques.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Marché construit par le bas, pas par le haut : on part du nombre de professionnels et du prix, jamais d'un « marché mondial du bien-être ». Le point à faire passer : 210 abonnés sur 37 000 à 47 000 professionnels, c'est 0,5 %. Le plan ne suppose aucune domination.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prix n'est pas encore validé par un client : c'est une grille à éprouver, pas un tarif public. Le positionnement est volontairement au milieu du marché — la nutrition, que les concurrents facturent en module, est incluse partout.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 pas transformer les concurrents en paillassons : Trainerize et TrueCoach font mieux que nous sur la messagerie, l'encaissement et la notoriété, et ils ont dix ans d'avance. La colonne qui compte est la dernière, et elle est vide partout sauf chez nous. Assumer la colonne des faiblesses à voix haute : elle vaut plus de crédibilité qu'elle ne coûte.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L'avantage défendable n'est pas la fonctionnalité — un concurrent peut l'ajouter en six mois. C'est la discipline de calcul : la table de référence, la convention européenne des fibres, et la règle interne de ne jamais afficher un chiffre qu'on ne peut pas justifier. C'est un choix d'ingénierie qui se copie mal parce qu'il coûte des fonctionnalités.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chiffre à retenir est le coût d'acquisition : 85 € pour un abonnement à 42 € par mois, soit un retour en deux mois. C'est ce rapport-là qui rend le modèle tenable, bien plus que le nombre d'abonnés. Il est calculé, pas mesuré — il fait partie des hypothèses de la diapositive suivante.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Diapositive la plus importante pour un investisseur, et la plus honnête. Ne pas la survoler : dire à voix haute que rien n'est mesuré, et que c'est précisément ce que les six premiers mois servent à corriger. Deux hypothèses portent tout : le panier moyen à 42 € et la résiliation à 3 %. Si l'une des deux est fausse, les deux diapositives suivantes le sont aussi.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 de crosse de hockey : la croissance vient d'un mécanisme nommé — 4 puis 8 puis 14 nouveaux professionnels par mois, chacun rattaché à un canal. Si on demande pourquoi l'année 3 accélère : iOS est publié, le parrainage tourne, et la formule Studio ouvre les petites salles.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seule année déficitaire, et d'un montant couvrable en apport personnel. La ligne à souligner : les charges de l'année 1 sont surtout des dépenses de mise en conformité — juridique, licence, assurance — c'est-à-dire des coûts qu'on ne repaie pas. Le détail complet est en annexe.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seul risque vraiment bloquant est juridique, pas commercial : la provenance du catalogue d'exercices. Il se lève avec un chèque ou un changement de jeu de données, et c'est la première tâche des trente prochains jours. Le deuxième — le partage coach ↔ client — est technique, et l'isolation actuelle est déjà couverte par 18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calendrier est celui d'un projet en activité secondaire, et c'est assumé : il vaut mieux un rythme tenu qu'un rythme annoncé. Insister sur le point de décision du mois 6 — l'argent engagé avant cette date est faible, et la porte de sortie est écrite d'avance.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colonne de droite est celle qui compte pour un investisseur : elle dit ce qu'on fait quand le plan ne se réalise pas. Un plan sans porte de sortie écrite n'est pas un plan. Les trois cartes du bas sont les indicateurs d'usage — ceux qui préviennent avant que le chiffre d'affaires ne baisse.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 pas maquiller la faiblesse : un fondateur seul à temps partiel, c'est un risque, et il est déjà listé comme tel. Ce qui le compense est vérifiable — le produit existe, il est testé, et l'audit de sécurité a été mené jusqu'au bout. Compléter le parcours personnel avant de présenter : la case est laissée vide exprès plutôt que remplie au jugé.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demande n'est pas une levée : 6 000 €, couvrables en apport personnel. Ce qui se demande vraiment à la salle, c'est autre chose — des pilotes, un associé commercial, une mise en relation avec des coachs. Le dire explicitement : c'est plus utile que l'argent à ce stade.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Terminer par une demande concrète et petite, pas par un remerciement. Cinq entretiens d'une heure : c'est ce qu'on demande, et c'est ce qui débloque tout le reste. Laisser un silence après la phrase, puis passer aux questions — les annexes couvrent le détail des charges, le juridique et les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Annexe : à sortir en questions si on interroge la structure de coûts.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Annexe : à sortir si la question du RGPD ou des données de santé est posée.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Annexe : la diapositive qu'on montre quand on demande « d'où sortent ces chiffres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jpg"/><Relationship Id="rId3" Type="http://schemas.openxmlformats.org/officeDocument/2006/relationships/image" Target="../media/image-1-3.jp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jpg"/><Relationship Id="rId3" Type="http://schemas.openxmlformats.org/officeDocument/2006/relationships/image" Target="../media/image-5-3.jpg"/><Relationship Id="rId4" Type="http://schemas.openxmlformats.org/officeDocument/2006/relationships/image" Target="../media/image-5-4.jp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jpg"/><Relationship Id="rId3" Type="http://schemas.openxmlformats.org/officeDocument/2006/relationships/image" Target="../media/image-6-3.jpg"/><Relationship Id="rId4" Type="http://schemas.openxmlformats.org/officeDocument/2006/relationships/image" Target="../media/image-6-4.jp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013"/>
        </a:solidFill>
      </p:bgPr>
    </p:bg>
    <p:spTree>
      <p:nvGrpSpPr>
        <p:cNvPr id="1" name=""/>
        <p:cNvGrpSpPr/>
        <p:nvPr/>
      </p:nvGrpSpPr>
      <p:grpSpPr>
        <a:xfrm>
          <a:off x="0" y="0"/>
          <a:ext cx="0" cy="0"/>
          <a:chOff x="0" y="0"/>
          <a:chExt cx="0" cy="0"/>
        </a:xfrm>
      </p:grpSpPr>
      <p:sp>
        <p:nvSpPr>
          <p:cNvPr id="2" name="Text 0"/>
          <p:cNvSpPr txBox="1"/>
          <p:nvPr/>
        </p:nvSpPr>
        <p:spPr>
          <a:xfrm>
            <a:off x="548640" y="566928"/>
            <a:ext cx="6400800" cy="274320"/>
          </a:xfrm>
          <a:prstGeom prst="rect">
            <a:avLst/>
          </a:prstGeom>
          <a:noFill/>
          <a:ln/>
        </p:spPr>
        <p:txBody>
          <a:bodyPr wrap="square" lIns="0" tIns="0" rIns="0" bIns="0" rtlCol="0" anchor="ctr"/>
          <a:lstStyle/>
          <a:p>
            <a:pPr indent="0" marL="0">
              <a:buNone/>
            </a:pPr>
            <a:r>
              <a:rPr lang="en-US" sz="1100" b="1" spc="200" kern="0" dirty="0">
                <a:solidFill>
                  <a:srgbClr val="E3B23C"/>
                </a:solidFill>
                <a:latin typeface="Calibri" pitchFamily="34" charset="0"/>
                <a:ea typeface="Calibri" pitchFamily="34" charset="-122"/>
                <a:cs typeface="Calibri" pitchFamily="34" charset="-120"/>
              </a:rPr>
              <a:t>Business plan · coachs sportifs et diététiciens · France</a:t>
            </a:r>
            <a:endParaRPr lang="en-US" sz="1100" dirty="0"/>
          </a:p>
        </p:txBody>
      </p:sp>
      <p:sp>
        <p:nvSpPr>
          <p:cNvPr id="3" name="Text 1"/>
          <p:cNvSpPr txBox="1"/>
          <p:nvPr/>
        </p:nvSpPr>
        <p:spPr>
          <a:xfrm>
            <a:off x="548640" y="932688"/>
            <a:ext cx="6400800" cy="1143000"/>
          </a:xfrm>
          <a:prstGeom prst="rect">
            <a:avLst/>
          </a:prstGeom>
          <a:noFill/>
          <a:ln/>
        </p:spPr>
        <p:txBody>
          <a:bodyPr wrap="square" lIns="0" tIns="0" rIns="0" bIns="0" rtlCol="0" anchor="ctr"/>
          <a:lstStyle/>
          <a:p>
            <a:pPr indent="0" marL="0">
              <a:buNone/>
            </a:pPr>
            <a:r>
              <a:rPr lang="en-US" sz="7600" b="1" dirty="0">
                <a:solidFill>
                  <a:srgbClr val="E8EAED"/>
                </a:solidFill>
                <a:latin typeface="Arial Narrow" pitchFamily="34" charset="0"/>
                <a:ea typeface="Arial Narrow" pitchFamily="34" charset="-122"/>
                <a:cs typeface="Arial Narrow" pitchFamily="34" charset="-120"/>
              </a:rPr>
              <a:t>fitcarnet </a:t>
            </a:r>
            <a:pPr indent="0" marL="0">
              <a:buNone/>
            </a:pPr>
            <a:r>
              <a:rPr lang="en-US" sz="7600" b="1" dirty="0">
                <a:solidFill>
                  <a:srgbClr val="E3B23C"/>
                </a:solidFill>
                <a:latin typeface="Arial Narrow" pitchFamily="34" charset="0"/>
                <a:ea typeface="Arial Narrow" pitchFamily="34" charset="-122"/>
                <a:cs typeface="Arial Narrow" pitchFamily="34" charset="-120"/>
              </a:rPr>
              <a:t>Pro</a:t>
            </a:r>
            <a:endParaRPr lang="en-US" sz="7600" dirty="0"/>
          </a:p>
        </p:txBody>
      </p:sp>
      <p:sp>
        <p:nvSpPr>
          <p:cNvPr id="4" name="Text 2"/>
          <p:cNvSpPr txBox="1"/>
          <p:nvPr/>
        </p:nvSpPr>
        <p:spPr>
          <a:xfrm>
            <a:off x="548640" y="2139696"/>
            <a:ext cx="6035040" cy="914400"/>
          </a:xfrm>
          <a:prstGeom prst="rect">
            <a:avLst/>
          </a:prstGeom>
          <a:noFill/>
          <a:ln/>
        </p:spPr>
        <p:txBody>
          <a:bodyPr wrap="square" lIns="0" tIns="0" rIns="0" bIns="0" rtlCol="0" anchor="t"/>
          <a:lstStyle/>
          <a:p>
            <a:pPr indent="0" marL="0">
              <a:lnSpc>
                <a:spcPts val="2200"/>
              </a:lnSpc>
              <a:buNone/>
            </a:pPr>
            <a:r>
              <a:rPr lang="en-US" sz="1500" dirty="0">
                <a:solidFill>
                  <a:srgbClr val="ADB2B9"/>
                </a:solidFill>
                <a:latin typeface="Calibri" pitchFamily="34" charset="0"/>
                <a:ea typeface="Calibri" pitchFamily="34" charset="-122"/>
                <a:cs typeface="Calibri" pitchFamily="34" charset="-120"/>
              </a:rPr>
              <a:t>L'outil des coachs et des diététiciens qui compose, pour chaque client, des repas justes avec ce qu'il a vraiment dans son frigo — et suit sa progression en salle.</a:t>
            </a:r>
            <a:endParaRPr lang="en-US" sz="1500" dirty="0"/>
          </a:p>
        </p:txBody>
      </p:sp>
      <p:sp>
        <p:nvSpPr>
          <p:cNvPr id="5" name="Shape 3"/>
          <p:cNvSpPr/>
          <p:nvPr/>
        </p:nvSpPr>
        <p:spPr>
          <a:xfrm>
            <a:off x="548640" y="3154680"/>
            <a:ext cx="6035040" cy="566928"/>
          </a:xfrm>
          <a:prstGeom prst="roundRect">
            <a:avLst>
              <a:gd name="adj" fmla="val 11290"/>
            </a:avLst>
          </a:prstGeom>
          <a:solidFill>
            <a:srgbClr val="1D2026"/>
          </a:solidFill>
          <a:ln w="9525">
            <a:solidFill>
              <a:srgbClr val="2F343D"/>
            </a:solidFill>
            <a:prstDash val="solid"/>
          </a:ln>
        </p:spPr>
      </p:sp>
      <p:sp>
        <p:nvSpPr>
          <p:cNvPr id="6" name="Text 4"/>
          <p:cNvSpPr txBox="1"/>
          <p:nvPr/>
        </p:nvSpPr>
        <p:spPr>
          <a:xfrm>
            <a:off x="768096" y="3154680"/>
            <a:ext cx="5669280" cy="566928"/>
          </a:xfrm>
          <a:prstGeom prst="rect">
            <a:avLst/>
          </a:prstGeom>
          <a:noFill/>
          <a:ln/>
        </p:spPr>
        <p:txBody>
          <a:bodyPr wrap="square" lIns="0" tIns="0" rIns="0" bIns="0" rtlCol="0" anchor="ctr"/>
          <a:lstStyle/>
          <a:p>
            <a:pPr indent="0" marL="0">
              <a:buNone/>
            </a:pPr>
            <a:r>
              <a:rPr lang="en-US" sz="1250" dirty="0">
                <a:solidFill>
                  <a:srgbClr val="ADB2B9"/>
                </a:solidFill>
                <a:latin typeface="Calibri" pitchFamily="34" charset="0"/>
                <a:ea typeface="Calibri" pitchFamily="34" charset="-122"/>
                <a:cs typeface="Calibri" pitchFamily="34" charset="-120"/>
              </a:rPr>
              <a:t>blanc de poulet · 84 g à peser → 63 g servi · </a:t>
            </a:r>
            <a:pPr indent="0" marL="0">
              <a:buNone/>
            </a:pPr>
            <a:r>
              <a:rPr lang="en-US" sz="1250" b="1" dirty="0">
                <a:solidFill>
                  <a:srgbClr val="5EC080"/>
                </a:solidFill>
                <a:latin typeface="Calibri" pitchFamily="34" charset="0"/>
                <a:ea typeface="Calibri" pitchFamily="34" charset="-122"/>
                <a:cs typeface="Calibri" pitchFamily="34" charset="-120"/>
              </a:rPr>
              <a:t>cible atteinte</a:t>
            </a:r>
            <a:endParaRPr lang="en-US" sz="1250" dirty="0"/>
          </a:p>
        </p:txBody>
      </p:sp>
      <p:sp>
        <p:nvSpPr>
          <p:cNvPr id="7" name="Text 5"/>
          <p:cNvSpPr txBox="1"/>
          <p:nvPr/>
        </p:nvSpPr>
        <p:spPr>
          <a:xfrm>
            <a:off x="548640" y="4005072"/>
            <a:ext cx="1920240" cy="566928"/>
          </a:xfrm>
          <a:prstGeom prst="rect">
            <a:avLst/>
          </a:prstGeom>
          <a:noFill/>
          <a:ln/>
        </p:spPr>
        <p:txBody>
          <a:bodyPr wrap="square" lIns="0" tIns="0" rIns="0" bIns="0" rtlCol="0" anchor="b"/>
          <a:lstStyle/>
          <a:p>
            <a:pPr indent="0" marL="0">
              <a:buNone/>
            </a:pPr>
            <a:r>
              <a:rPr lang="en-US" sz="3400" b="1" dirty="0">
                <a:solidFill>
                  <a:srgbClr val="E8EAED"/>
                </a:solidFill>
                <a:latin typeface="Arial Narrow" pitchFamily="34" charset="0"/>
                <a:ea typeface="Arial Narrow" pitchFamily="34" charset="-122"/>
                <a:cs typeface="Arial Narrow" pitchFamily="34" charset="-120"/>
              </a:rPr>
              <a:t>3 ans</a:t>
            </a:r>
            <a:endParaRPr lang="en-US" sz="3400" dirty="0"/>
          </a:p>
        </p:txBody>
      </p:sp>
      <p:sp>
        <p:nvSpPr>
          <p:cNvPr id="8" name="Text 6"/>
          <p:cNvSpPr txBox="1"/>
          <p:nvPr/>
        </p:nvSpPr>
        <p:spPr>
          <a:xfrm>
            <a:off x="548640" y="4590288"/>
            <a:ext cx="1920240" cy="420624"/>
          </a:xfrm>
          <a:prstGeom prst="rect">
            <a:avLst/>
          </a:prstGeom>
          <a:noFill/>
          <a:ln/>
        </p:spPr>
        <p:txBody>
          <a:bodyPr wrap="square" lIns="0" tIns="0" rIns="0" bIns="0" rtlCol="0" anchor="t"/>
          <a:lstStyle/>
          <a:p>
            <a:pPr indent="0" marL="0">
              <a:buNone/>
            </a:pPr>
            <a:r>
              <a:rPr lang="en-US" sz="1050" dirty="0">
                <a:solidFill>
                  <a:srgbClr val="868E99"/>
                </a:solidFill>
                <a:latin typeface="Calibri" pitchFamily="34" charset="0"/>
                <a:ea typeface="Calibri" pitchFamily="34" charset="-122"/>
                <a:cs typeface="Calibri" pitchFamily="34" charset="-120"/>
              </a:rPr>
              <a:t>horizon du plan</a:t>
            </a:r>
            <a:endParaRPr lang="en-US" sz="1050" dirty="0"/>
          </a:p>
        </p:txBody>
      </p:sp>
      <p:sp>
        <p:nvSpPr>
          <p:cNvPr id="9" name="Text 7"/>
          <p:cNvSpPr txBox="1"/>
          <p:nvPr/>
        </p:nvSpPr>
        <p:spPr>
          <a:xfrm>
            <a:off x="2560320" y="4005072"/>
            <a:ext cx="1920240" cy="566928"/>
          </a:xfrm>
          <a:prstGeom prst="rect">
            <a:avLst/>
          </a:prstGeom>
          <a:noFill/>
          <a:ln/>
        </p:spPr>
        <p:txBody>
          <a:bodyPr wrap="square" lIns="0" tIns="0" rIns="0" bIns="0" rtlCol="0" anchor="b"/>
          <a:lstStyle/>
          <a:p>
            <a:pPr indent="0" marL="0">
              <a:buNone/>
            </a:pPr>
            <a:r>
              <a:rPr lang="en-US" sz="3400" b="1" dirty="0">
                <a:solidFill>
                  <a:srgbClr val="E3B23C"/>
                </a:solidFill>
                <a:latin typeface="Arial Narrow" pitchFamily="34" charset="0"/>
                <a:ea typeface="Arial Narrow" pitchFamily="34" charset="-122"/>
                <a:cs typeface="Arial Narrow" pitchFamily="34" charset="-120"/>
              </a:rPr>
              <a:t>210</a:t>
            </a:r>
            <a:endParaRPr lang="en-US" sz="3400" dirty="0"/>
          </a:p>
        </p:txBody>
      </p:sp>
      <p:sp>
        <p:nvSpPr>
          <p:cNvPr id="10" name="Text 8"/>
          <p:cNvSpPr txBox="1"/>
          <p:nvPr/>
        </p:nvSpPr>
        <p:spPr>
          <a:xfrm>
            <a:off x="2560320" y="4590288"/>
            <a:ext cx="1920240" cy="420624"/>
          </a:xfrm>
          <a:prstGeom prst="rect">
            <a:avLst/>
          </a:prstGeom>
          <a:noFill/>
          <a:ln/>
        </p:spPr>
        <p:txBody>
          <a:bodyPr wrap="square" lIns="0" tIns="0" rIns="0" bIns="0" rtlCol="0" anchor="t"/>
          <a:lstStyle/>
          <a:p>
            <a:pPr indent="0" marL="0">
              <a:buNone/>
            </a:pPr>
            <a:r>
              <a:rPr lang="en-US" sz="1050" dirty="0">
                <a:solidFill>
                  <a:srgbClr val="868E99"/>
                </a:solidFill>
                <a:latin typeface="Calibri" pitchFamily="34" charset="0"/>
                <a:ea typeface="Calibri" pitchFamily="34" charset="-122"/>
                <a:cs typeface="Calibri" pitchFamily="34" charset="-120"/>
              </a:rPr>
              <a:t>coachs payants visés</a:t>
            </a:r>
            <a:endParaRPr lang="en-US" sz="1050" dirty="0"/>
          </a:p>
        </p:txBody>
      </p:sp>
      <p:sp>
        <p:nvSpPr>
          <p:cNvPr id="11" name="Text 9"/>
          <p:cNvSpPr txBox="1"/>
          <p:nvPr/>
        </p:nvSpPr>
        <p:spPr>
          <a:xfrm>
            <a:off x="4572000" y="4005072"/>
            <a:ext cx="2011680" cy="566928"/>
          </a:xfrm>
          <a:prstGeom prst="rect">
            <a:avLst/>
          </a:prstGeom>
          <a:noFill/>
          <a:ln/>
        </p:spPr>
        <p:txBody>
          <a:bodyPr wrap="square" lIns="0" tIns="0" rIns="0" bIns="0" rtlCol="0" anchor="b"/>
          <a:lstStyle/>
          <a:p>
            <a:pPr indent="0" marL="0">
              <a:buNone/>
            </a:pPr>
            <a:r>
              <a:rPr lang="en-US" sz="3400" b="1" dirty="0">
                <a:solidFill>
                  <a:srgbClr val="E8EAED"/>
                </a:solidFill>
                <a:latin typeface="Arial Narrow" pitchFamily="34" charset="0"/>
                <a:ea typeface="Arial Narrow" pitchFamily="34" charset="-122"/>
                <a:cs typeface="Arial Narrow" pitchFamily="34" charset="-120"/>
              </a:rPr>
              <a:t>≈ 6 k€</a:t>
            </a:r>
            <a:endParaRPr lang="en-US" sz="3400" dirty="0"/>
          </a:p>
        </p:txBody>
      </p:sp>
      <p:sp>
        <p:nvSpPr>
          <p:cNvPr id="12" name="Text 10"/>
          <p:cNvSpPr txBox="1"/>
          <p:nvPr/>
        </p:nvSpPr>
        <p:spPr>
          <a:xfrm>
            <a:off x="4572000" y="4590288"/>
            <a:ext cx="2011680" cy="420624"/>
          </a:xfrm>
          <a:prstGeom prst="rect">
            <a:avLst/>
          </a:prstGeom>
          <a:noFill/>
          <a:ln/>
        </p:spPr>
        <p:txBody>
          <a:bodyPr wrap="square" lIns="0" tIns="0" rIns="0" bIns="0" rtlCol="0" anchor="t"/>
          <a:lstStyle/>
          <a:p>
            <a:pPr indent="0" marL="0">
              <a:buNone/>
            </a:pPr>
            <a:r>
              <a:rPr lang="en-US" sz="1050" dirty="0">
                <a:solidFill>
                  <a:srgbClr val="868E99"/>
                </a:solidFill>
                <a:latin typeface="Calibri" pitchFamily="34" charset="0"/>
                <a:ea typeface="Calibri" pitchFamily="34" charset="-122"/>
                <a:cs typeface="Calibri" pitchFamily="34" charset="-120"/>
              </a:rPr>
              <a:t>besoin de départ</a:t>
            </a:r>
            <a:endParaRPr lang="en-US" sz="1050" dirty="0"/>
          </a:p>
        </p:txBody>
      </p:sp>
      <p:pic>
        <p:nvPicPr>
          <p:cNvPr id="13" name="Image 0" descr="/home/micka/perso/fitcarnet/presentation/captures/07-repas-compose.jpg">    </p:cNvPr>
          <p:cNvPicPr>
            <a:picLocks noChangeAspect="1"/>
          </p:cNvPicPr>
          <p:nvPr/>
        </p:nvPicPr>
        <p:blipFill>
          <a:blip r:embed="rId1"/>
          <a:stretch>
            <a:fillRect/>
          </a:stretch>
        </p:blipFill>
        <p:spPr>
          <a:xfrm>
            <a:off x="6903720" y="960120"/>
            <a:ext cx="4736592" cy="2962656"/>
          </a:xfrm>
          <a:prstGeom prst="rect">
            <a:avLst/>
          </a:prstGeom>
        </p:spPr>
      </p:pic>
      <p:sp>
        <p:nvSpPr>
          <p:cNvPr id="14" name="Text 11"/>
          <p:cNvSpPr txBox="1"/>
          <p:nvPr/>
        </p:nvSpPr>
        <p:spPr>
          <a:xfrm>
            <a:off x="6903720" y="3986784"/>
            <a:ext cx="4736592" cy="274320"/>
          </a:xfrm>
          <a:prstGeom prst="rect">
            <a:avLst/>
          </a:prstGeom>
          <a:noFill/>
          <a:ln/>
        </p:spPr>
        <p:txBody>
          <a:bodyPr wrap="square" lIns="0" tIns="0" rIns="0" bIns="0" rtlCol="0" anchor="ctr"/>
          <a:lstStyle/>
          <a:p>
            <a:pPr indent="0" marL="0">
              <a:buNone/>
            </a:pPr>
            <a:r>
              <a:rPr lang="en-US" sz="950" i="1" dirty="0">
                <a:solidFill>
                  <a:srgbClr val="868E99"/>
                </a:solidFill>
                <a:latin typeface="Calibri" pitchFamily="34" charset="0"/>
                <a:ea typeface="Calibri" pitchFamily="34" charset="-122"/>
                <a:cs typeface="Calibri" pitchFamily="34" charset="-120"/>
              </a:rPr>
              <a:t>L'application telle qu'elle tourne aujourd'hui — étape « Repas » du calculateur</a:t>
            </a:r>
            <a:endParaRPr lang="en-US" sz="950" dirty="0"/>
          </a:p>
        </p:txBody>
      </p:sp>
      <p:pic>
        <p:nvPicPr>
          <p:cNvPr id="15" name="Image 1" descr="/home/micka/perso/fitcarnet/presentation/captures/11-batch-cooking.jpg">    </p:cNvPr>
          <p:cNvPicPr>
            <a:picLocks noChangeAspect="1"/>
          </p:cNvPicPr>
          <p:nvPr/>
        </p:nvPicPr>
        <p:blipFill>
          <a:blip r:embed="rId2"/>
          <a:stretch>
            <a:fillRect/>
          </a:stretch>
        </p:blipFill>
        <p:spPr>
          <a:xfrm>
            <a:off x="6903720" y="4389120"/>
            <a:ext cx="2304288" cy="1444752"/>
          </a:xfrm>
          <a:prstGeom prst="rect">
            <a:avLst/>
          </a:prstGeom>
        </p:spPr>
      </p:pic>
      <p:pic>
        <p:nvPicPr>
          <p:cNvPr id="16" name="Image 2" descr="/home/micka/perso/fitcarnet/presentation/captures/18-seance-detail-1rm.jpg">    </p:cNvPr>
          <p:cNvPicPr>
            <a:picLocks noChangeAspect="1"/>
          </p:cNvPicPr>
          <p:nvPr/>
        </p:nvPicPr>
        <p:blipFill>
          <a:blip r:embed="rId3"/>
          <a:stretch>
            <a:fillRect/>
          </a:stretch>
        </p:blipFill>
        <p:spPr>
          <a:xfrm>
            <a:off x="9336024" y="4389120"/>
            <a:ext cx="2304288" cy="1444752"/>
          </a:xfrm>
          <a:prstGeom prst="rect">
            <a:avLst/>
          </a:prstGeom>
        </p:spPr>
      </p:pic>
      <p:sp>
        <p:nvSpPr>
          <p:cNvPr id="17" name="Text 12"/>
          <p:cNvSpPr txBox="1"/>
          <p:nvPr/>
        </p:nvSpPr>
        <p:spPr>
          <a:xfrm>
            <a:off x="548640" y="5961888"/>
            <a:ext cx="11091672" cy="310896"/>
          </a:xfrm>
          <a:prstGeom prst="rect">
            <a:avLst/>
          </a:prstGeom>
          <a:noFill/>
          <a:ln/>
        </p:spPr>
        <p:txBody>
          <a:bodyPr wrap="square" lIns="0" tIns="0" rIns="0" bIns="0" rtlCol="0" anchor="ctr"/>
          <a:lstStyle/>
          <a:p>
            <a:pPr indent="0" marL="0">
              <a:buNone/>
            </a:pPr>
            <a:r>
              <a:rPr lang="en-US" sz="950" i="1" dirty="0">
                <a:solidFill>
                  <a:srgbClr val="868E99"/>
                </a:solidFill>
                <a:latin typeface="Calibri" pitchFamily="34" charset="0"/>
                <a:ea typeface="Calibri" pitchFamily="34" charset="-122"/>
                <a:cs typeface="Calibri" pitchFamily="34" charset="-120"/>
              </a:rPr>
              <a:t>Document de travail — les prévisions sont des hypothèses, à valider auprès de coachs (diapositive 13)</a:t>
            </a:r>
            <a:endParaRPr lang="en-US" sz="950" dirty="0"/>
          </a:p>
        </p:txBody>
      </p:sp>
      <p:sp>
        <p:nvSpPr>
          <p:cNvPr id="18" name="Text 13"/>
          <p:cNvSpPr txBox="1"/>
          <p:nvPr/>
        </p:nvSpPr>
        <p:spPr>
          <a:xfrm>
            <a:off x="548640" y="6336792"/>
            <a:ext cx="8229600" cy="274320"/>
          </a:xfrm>
          <a:prstGeom prst="rect">
            <a:avLst/>
          </a:prstGeom>
          <a:noFill/>
          <a:ln/>
        </p:spPr>
        <p:txBody>
          <a:bodyPr wrap="square" lIns="0" tIns="0" rIns="0" bIns="0" rtlCol="0" anchor="ctr"/>
          <a:lstStyle/>
          <a:p>
            <a:pPr algn="l" indent="0" marL="0">
              <a:buNone/>
            </a:pPr>
            <a:r>
              <a:rPr lang="en-US" sz="900" dirty="0">
                <a:solidFill>
                  <a:srgbClr val="868E99"/>
                </a:solidFill>
                <a:latin typeface="Calibri" pitchFamily="34" charset="0"/>
                <a:ea typeface="Calibri" pitchFamily="34" charset="-122"/>
                <a:cs typeface="Calibri" pitchFamily="34" charset="-120"/>
              </a:rPr>
              <a:t>fitcarnet Pro · business plan · 21 septembre 2026</a:t>
            </a:r>
            <a:endParaRPr lang="en-US" sz="900" dirty="0"/>
          </a:p>
        </p:txBody>
      </p:sp>
      <p:sp>
        <p:nvSpPr>
          <p:cNvPr id="19" name="Text 14"/>
          <p:cNvSpPr txBox="1"/>
          <p:nvPr/>
        </p:nvSpPr>
        <p:spPr>
          <a:xfrm>
            <a:off x="8897112" y="6336792"/>
            <a:ext cx="2743200" cy="274320"/>
          </a:xfrm>
          <a:prstGeom prst="rect">
            <a:avLst/>
          </a:prstGeom>
          <a:noFill/>
          <a:ln/>
        </p:spPr>
        <p:txBody>
          <a:bodyPr wrap="square" lIns="0" tIns="0" rIns="0" bIns="0" rtlCol="0" anchor="ctr"/>
          <a:lstStyle/>
          <a:p>
            <a:pPr algn="r" indent="0" marL="0">
              <a:buNone/>
            </a:pPr>
            <a:r>
              <a:rPr lang="en-US" sz="900" dirty="0">
                <a:solidFill>
                  <a:srgbClr val="868E99"/>
                </a:solidFill>
                <a:latin typeface="Calibri" pitchFamily="34" charset="0"/>
                <a:ea typeface="Calibri" pitchFamily="34" charset="-122"/>
                <a:cs typeface="Calibri" pitchFamily="34" charset="-120"/>
              </a:rPr>
              <a:t>01 / 24</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4161A"/>
        </a:solidFill>
      </p:bgPr>
    </p:bg>
    <p:spTree>
      <p:nvGrpSpPr>
        <p:cNvPr id="1" name=""/>
        <p:cNvGrpSpPr/>
        <p:nvPr/>
      </p:nvGrpSpPr>
      <p:grpSpPr>
        <a:xfrm>
          <a:off x="0" y="0"/>
          <a:ext cx="0" cy="0"/>
          <a:chOff x="0" y="0"/>
          <a:chExt cx="0" cy="0"/>
        </a:xfrm>
      </p:grpSpPr>
      <p:sp>
        <p:nvSpPr>
          <p:cNvPr id="2" name="Text 0"/>
          <p:cNvSpPr txBox="1"/>
          <p:nvPr/>
        </p:nvSpPr>
        <p:spPr>
          <a:xfrm>
            <a:off x="548640" y="347472"/>
            <a:ext cx="11091672" cy="237744"/>
          </a:xfrm>
          <a:prstGeom prst="rect">
            <a:avLst/>
          </a:prstGeom>
          <a:noFill/>
          <a:ln/>
        </p:spPr>
        <p:txBody>
          <a:bodyPr wrap="square" lIns="0" tIns="0" rIns="0" bIns="0" rtlCol="0" anchor="ctr"/>
          <a:lstStyle/>
          <a:p>
            <a:pPr indent="0" marL="0">
              <a:buNone/>
            </a:pPr>
            <a:r>
              <a:rPr lang="en-US" sz="1050" b="1" spc="200" kern="0" dirty="0">
                <a:solidFill>
                  <a:srgbClr val="E3B23C"/>
                </a:solidFill>
                <a:latin typeface="Calibri" pitchFamily="34" charset="0"/>
                <a:ea typeface="Calibri" pitchFamily="34" charset="-122"/>
                <a:cs typeface="Calibri" pitchFamily="34" charset="-120"/>
              </a:rPr>
              <a:t>SYNTHÈSE</a:t>
            </a:r>
            <a:endParaRPr lang="en-US" sz="1050" dirty="0"/>
          </a:p>
        </p:txBody>
      </p:sp>
      <p:sp>
        <p:nvSpPr>
          <p:cNvPr id="3" name="Text 1"/>
          <p:cNvSpPr txBox="1"/>
          <p:nvPr/>
        </p:nvSpPr>
        <p:spPr>
          <a:xfrm>
            <a:off x="548640" y="603504"/>
            <a:ext cx="11091672" cy="566928"/>
          </a:xfrm>
          <a:prstGeom prst="rect">
            <a:avLst/>
          </a:prstGeom>
          <a:noFill/>
          <a:ln/>
        </p:spPr>
        <p:txBody>
          <a:bodyPr wrap="square" lIns="0" tIns="0" rIns="0" bIns="0" rtlCol="0" anchor="ctr"/>
          <a:lstStyle/>
          <a:p>
            <a:pPr indent="0" marL="0">
              <a:buNone/>
            </a:pPr>
            <a:r>
              <a:rPr lang="en-US" sz="3000" b="1" dirty="0">
                <a:solidFill>
                  <a:srgbClr val="E8EAED"/>
                </a:solidFill>
                <a:latin typeface="Arial Narrow" pitchFamily="34" charset="0"/>
                <a:ea typeface="Arial Narrow" pitchFamily="34" charset="-122"/>
                <a:cs typeface="Arial Narrow" pitchFamily="34" charset="-120"/>
              </a:rPr>
              <a:t>Un produit déjà construit, un lancement peu coûteux</a:t>
            </a:r>
            <a:endParaRPr lang="en-US" sz="3000" dirty="0"/>
          </a:p>
        </p:txBody>
      </p:sp>
      <p:sp>
        <p:nvSpPr>
          <p:cNvPr id="4" name="Shape 2"/>
          <p:cNvSpPr/>
          <p:nvPr/>
        </p:nvSpPr>
        <p:spPr>
          <a:xfrm>
            <a:off x="548640" y="1691640"/>
            <a:ext cx="2670048" cy="1207008"/>
          </a:xfrm>
          <a:prstGeom prst="roundRect">
            <a:avLst>
              <a:gd name="adj" fmla="val 5303"/>
            </a:avLst>
          </a:prstGeom>
          <a:solidFill>
            <a:srgbClr val="1D2026"/>
          </a:solidFill>
          <a:ln w="15875">
            <a:solidFill>
              <a:srgbClr val="E3B23C"/>
            </a:solidFill>
            <a:prstDash val="solid"/>
          </a:ln>
        </p:spPr>
      </p:sp>
      <p:sp>
        <p:nvSpPr>
          <p:cNvPr id="5" name="Text 3"/>
          <p:cNvSpPr txBox="1"/>
          <p:nvPr/>
        </p:nvSpPr>
        <p:spPr>
          <a:xfrm>
            <a:off x="768096" y="1810512"/>
            <a:ext cx="2231136" cy="566928"/>
          </a:xfrm>
          <a:prstGeom prst="rect">
            <a:avLst/>
          </a:prstGeom>
          <a:noFill/>
          <a:ln/>
        </p:spPr>
        <p:txBody>
          <a:bodyPr wrap="square" lIns="0" tIns="0" rIns="0" bIns="0" rtlCol="0" anchor="b"/>
          <a:lstStyle/>
          <a:p>
            <a:pPr indent="0" marL="0">
              <a:buNone/>
            </a:pPr>
            <a:r>
              <a:rPr lang="en-US" sz="3400" b="1" dirty="0">
                <a:solidFill>
                  <a:srgbClr val="E3B23C"/>
                </a:solidFill>
                <a:latin typeface="Arial Narrow" pitchFamily="34" charset="0"/>
                <a:ea typeface="Arial Narrow" pitchFamily="34" charset="-122"/>
                <a:cs typeface="Arial Narrow" pitchFamily="34" charset="-120"/>
              </a:rPr>
              <a:t>81,5 k€</a:t>
            </a:r>
            <a:endParaRPr lang="en-US" sz="3400" dirty="0"/>
          </a:p>
        </p:txBody>
      </p:sp>
      <p:sp>
        <p:nvSpPr>
          <p:cNvPr id="6" name="Text 4"/>
          <p:cNvSpPr txBox="1"/>
          <p:nvPr/>
        </p:nvSpPr>
        <p:spPr>
          <a:xfrm>
            <a:off x="768096" y="2395728"/>
            <a:ext cx="2231136" cy="420624"/>
          </a:xfrm>
          <a:prstGeom prst="rect">
            <a:avLst/>
          </a:prstGeom>
          <a:noFill/>
          <a:ln/>
        </p:spPr>
        <p:txBody>
          <a:bodyPr wrap="square" lIns="0" tIns="0" rIns="0" bIns="0" rtlCol="0" anchor="t"/>
          <a:lstStyle/>
          <a:p>
            <a:pPr indent="0" marL="0">
              <a:buNone/>
            </a:pPr>
            <a:r>
              <a:rPr lang="en-US" sz="1050" dirty="0">
                <a:solidFill>
                  <a:srgbClr val="868E99"/>
                </a:solidFill>
                <a:latin typeface="Calibri" pitchFamily="34" charset="0"/>
                <a:ea typeface="Calibri" pitchFamily="34" charset="-122"/>
                <a:cs typeface="Calibri" pitchFamily="34" charset="-120"/>
              </a:rPr>
              <a:t>CA année 3 · scénario central</a:t>
            </a:r>
            <a:endParaRPr lang="en-US" sz="1050" dirty="0"/>
          </a:p>
        </p:txBody>
      </p:sp>
      <p:sp>
        <p:nvSpPr>
          <p:cNvPr id="7" name="Shape 5"/>
          <p:cNvSpPr/>
          <p:nvPr/>
        </p:nvSpPr>
        <p:spPr>
          <a:xfrm>
            <a:off x="3355848" y="1691640"/>
            <a:ext cx="2670048" cy="1207008"/>
          </a:xfrm>
          <a:prstGeom prst="roundRect">
            <a:avLst>
              <a:gd name="adj" fmla="val 5303"/>
            </a:avLst>
          </a:prstGeom>
          <a:solidFill>
            <a:srgbClr val="1D2026"/>
          </a:solidFill>
          <a:ln w="9525">
            <a:solidFill>
              <a:srgbClr val="2F343D"/>
            </a:solidFill>
            <a:prstDash val="solid"/>
          </a:ln>
        </p:spPr>
      </p:sp>
      <p:sp>
        <p:nvSpPr>
          <p:cNvPr id="8" name="Text 6"/>
          <p:cNvSpPr txBox="1"/>
          <p:nvPr/>
        </p:nvSpPr>
        <p:spPr>
          <a:xfrm>
            <a:off x="3575304" y="1810512"/>
            <a:ext cx="2231136" cy="566928"/>
          </a:xfrm>
          <a:prstGeom prst="rect">
            <a:avLst/>
          </a:prstGeom>
          <a:noFill/>
          <a:ln/>
        </p:spPr>
        <p:txBody>
          <a:bodyPr wrap="square" lIns="0" tIns="0" rIns="0" bIns="0" rtlCol="0" anchor="b"/>
          <a:lstStyle/>
          <a:p>
            <a:pPr indent="0" marL="0">
              <a:buNone/>
            </a:pPr>
            <a:r>
              <a:rPr lang="en-US" sz="3400" b="1" dirty="0">
                <a:solidFill>
                  <a:srgbClr val="E8EAED"/>
                </a:solidFill>
                <a:latin typeface="Arial Narrow" pitchFamily="34" charset="0"/>
                <a:ea typeface="Arial Narrow" pitchFamily="34" charset="-122"/>
                <a:cs typeface="Arial Narrow" pitchFamily="34" charset="-120"/>
              </a:rPr>
              <a:t>8,8 k€</a:t>
            </a:r>
            <a:endParaRPr lang="en-US" sz="3400" dirty="0"/>
          </a:p>
        </p:txBody>
      </p:sp>
      <p:sp>
        <p:nvSpPr>
          <p:cNvPr id="9" name="Text 7"/>
          <p:cNvSpPr txBox="1"/>
          <p:nvPr/>
        </p:nvSpPr>
        <p:spPr>
          <a:xfrm>
            <a:off x="3575304" y="2395728"/>
            <a:ext cx="2231136" cy="420624"/>
          </a:xfrm>
          <a:prstGeom prst="rect">
            <a:avLst/>
          </a:prstGeom>
          <a:noFill/>
          <a:ln/>
        </p:spPr>
        <p:txBody>
          <a:bodyPr wrap="square" lIns="0" tIns="0" rIns="0" bIns="0" rtlCol="0" anchor="t"/>
          <a:lstStyle/>
          <a:p>
            <a:pPr indent="0" marL="0">
              <a:buNone/>
            </a:pPr>
            <a:r>
              <a:rPr lang="en-US" sz="1050" dirty="0">
                <a:solidFill>
                  <a:srgbClr val="868E99"/>
                </a:solidFill>
                <a:latin typeface="Calibri" pitchFamily="34" charset="0"/>
                <a:ea typeface="Calibri" pitchFamily="34" charset="-122"/>
                <a:cs typeface="Calibri" pitchFamily="34" charset="-120"/>
              </a:rPr>
              <a:t>revenu mensuel à 36 mois</a:t>
            </a:r>
            <a:endParaRPr lang="en-US" sz="1050" dirty="0"/>
          </a:p>
        </p:txBody>
      </p:sp>
      <p:sp>
        <p:nvSpPr>
          <p:cNvPr id="10" name="Shape 8"/>
          <p:cNvSpPr/>
          <p:nvPr/>
        </p:nvSpPr>
        <p:spPr>
          <a:xfrm>
            <a:off x="6163056" y="1691640"/>
            <a:ext cx="2670048" cy="1207008"/>
          </a:xfrm>
          <a:prstGeom prst="roundRect">
            <a:avLst>
              <a:gd name="adj" fmla="val 5303"/>
            </a:avLst>
          </a:prstGeom>
          <a:solidFill>
            <a:srgbClr val="1D2026"/>
          </a:solidFill>
          <a:ln w="9525">
            <a:solidFill>
              <a:srgbClr val="2F343D"/>
            </a:solidFill>
            <a:prstDash val="solid"/>
          </a:ln>
        </p:spPr>
      </p:sp>
      <p:sp>
        <p:nvSpPr>
          <p:cNvPr id="11" name="Text 9"/>
          <p:cNvSpPr txBox="1"/>
          <p:nvPr/>
        </p:nvSpPr>
        <p:spPr>
          <a:xfrm>
            <a:off x="6382512" y="1810512"/>
            <a:ext cx="2231136" cy="566928"/>
          </a:xfrm>
          <a:prstGeom prst="rect">
            <a:avLst/>
          </a:prstGeom>
          <a:noFill/>
          <a:ln/>
        </p:spPr>
        <p:txBody>
          <a:bodyPr wrap="square" lIns="0" tIns="0" rIns="0" bIns="0" rtlCol="0" anchor="b"/>
          <a:lstStyle/>
          <a:p>
            <a:pPr indent="0" marL="0">
              <a:buNone/>
            </a:pPr>
            <a:r>
              <a:rPr lang="en-US" sz="3400" b="1" dirty="0">
                <a:solidFill>
                  <a:srgbClr val="E8EAED"/>
                </a:solidFill>
                <a:latin typeface="Arial Narrow" pitchFamily="34" charset="0"/>
                <a:ea typeface="Arial Narrow" pitchFamily="34" charset="-122"/>
                <a:cs typeface="Arial Narrow" pitchFamily="34" charset="-120"/>
              </a:rPr>
              <a:t>M13</a:t>
            </a:r>
            <a:endParaRPr lang="en-US" sz="3400" dirty="0"/>
          </a:p>
        </p:txBody>
      </p:sp>
      <p:sp>
        <p:nvSpPr>
          <p:cNvPr id="12" name="Text 10"/>
          <p:cNvSpPr txBox="1"/>
          <p:nvPr/>
        </p:nvSpPr>
        <p:spPr>
          <a:xfrm>
            <a:off x="6382512" y="2395728"/>
            <a:ext cx="2231136" cy="420624"/>
          </a:xfrm>
          <a:prstGeom prst="rect">
            <a:avLst/>
          </a:prstGeom>
          <a:noFill/>
          <a:ln/>
        </p:spPr>
        <p:txBody>
          <a:bodyPr wrap="square" lIns="0" tIns="0" rIns="0" bIns="0" rtlCol="0" anchor="t"/>
          <a:lstStyle/>
          <a:p>
            <a:pPr indent="0" marL="0">
              <a:buNone/>
            </a:pPr>
            <a:r>
              <a:rPr lang="en-US" sz="1050" dirty="0">
                <a:solidFill>
                  <a:srgbClr val="868E99"/>
                </a:solidFill>
                <a:latin typeface="Calibri" pitchFamily="34" charset="0"/>
                <a:ea typeface="Calibri" pitchFamily="34" charset="-122"/>
                <a:cs typeface="Calibri" pitchFamily="34" charset="-120"/>
              </a:rPr>
              <a:t>point mort mensuel</a:t>
            </a:r>
            <a:endParaRPr lang="en-US" sz="1050" dirty="0"/>
          </a:p>
        </p:txBody>
      </p:sp>
      <p:sp>
        <p:nvSpPr>
          <p:cNvPr id="13" name="Shape 11"/>
          <p:cNvSpPr/>
          <p:nvPr/>
        </p:nvSpPr>
        <p:spPr>
          <a:xfrm>
            <a:off x="8970264" y="1691640"/>
            <a:ext cx="2670048" cy="1207008"/>
          </a:xfrm>
          <a:prstGeom prst="roundRect">
            <a:avLst>
              <a:gd name="adj" fmla="val 5303"/>
            </a:avLst>
          </a:prstGeom>
          <a:solidFill>
            <a:srgbClr val="1D2026"/>
          </a:solidFill>
          <a:ln w="9525">
            <a:solidFill>
              <a:srgbClr val="2F343D"/>
            </a:solidFill>
            <a:prstDash val="solid"/>
          </a:ln>
        </p:spPr>
      </p:sp>
      <p:sp>
        <p:nvSpPr>
          <p:cNvPr id="14" name="Text 12"/>
          <p:cNvSpPr txBox="1"/>
          <p:nvPr/>
        </p:nvSpPr>
        <p:spPr>
          <a:xfrm>
            <a:off x="9189720" y="1810512"/>
            <a:ext cx="2231136" cy="566928"/>
          </a:xfrm>
          <a:prstGeom prst="rect">
            <a:avLst/>
          </a:prstGeom>
          <a:noFill/>
          <a:ln/>
        </p:spPr>
        <p:txBody>
          <a:bodyPr wrap="square" lIns="0" tIns="0" rIns="0" bIns="0" rtlCol="0" anchor="b"/>
          <a:lstStyle/>
          <a:p>
            <a:pPr indent="0" marL="0">
              <a:buNone/>
            </a:pPr>
            <a:r>
              <a:rPr lang="en-US" sz="3400" b="1" dirty="0">
                <a:solidFill>
                  <a:srgbClr val="E8EAED"/>
                </a:solidFill>
                <a:latin typeface="Arial Narrow" pitchFamily="34" charset="0"/>
                <a:ea typeface="Arial Narrow" pitchFamily="34" charset="-122"/>
                <a:cs typeface="Arial Narrow" pitchFamily="34" charset="-120"/>
              </a:rPr>
              <a:t>0,5 %</a:t>
            </a:r>
            <a:endParaRPr lang="en-US" sz="3400" dirty="0"/>
          </a:p>
        </p:txBody>
      </p:sp>
      <p:sp>
        <p:nvSpPr>
          <p:cNvPr id="15" name="Text 13"/>
          <p:cNvSpPr txBox="1"/>
          <p:nvPr/>
        </p:nvSpPr>
        <p:spPr>
          <a:xfrm>
            <a:off x="9189720" y="2395728"/>
            <a:ext cx="2231136" cy="420624"/>
          </a:xfrm>
          <a:prstGeom prst="rect">
            <a:avLst/>
          </a:prstGeom>
          <a:noFill/>
          <a:ln/>
        </p:spPr>
        <p:txBody>
          <a:bodyPr wrap="square" lIns="0" tIns="0" rIns="0" bIns="0" rtlCol="0" anchor="t"/>
          <a:lstStyle/>
          <a:p>
            <a:pPr indent="0" marL="0">
              <a:buNone/>
            </a:pPr>
            <a:r>
              <a:rPr lang="en-US" sz="1050" dirty="0">
                <a:solidFill>
                  <a:srgbClr val="868E99"/>
                </a:solidFill>
                <a:latin typeface="Calibri" pitchFamily="34" charset="0"/>
                <a:ea typeface="Calibri" pitchFamily="34" charset="-122"/>
                <a:cs typeface="Calibri" pitchFamily="34" charset="-120"/>
              </a:rPr>
              <a:t>des professionnels ciblés</a:t>
            </a:r>
            <a:endParaRPr lang="en-US" sz="1050" dirty="0"/>
          </a:p>
        </p:txBody>
      </p:sp>
      <p:sp>
        <p:nvSpPr>
          <p:cNvPr id="16" name="Shape 14"/>
          <p:cNvSpPr/>
          <p:nvPr/>
        </p:nvSpPr>
        <p:spPr>
          <a:xfrm>
            <a:off x="548640" y="3273552"/>
            <a:ext cx="128016" cy="32004"/>
          </a:xfrm>
          <a:prstGeom prst="rect">
            <a:avLst/>
          </a:prstGeom>
          <a:solidFill>
            <a:srgbClr val="E3B23C"/>
          </a:solidFill>
          <a:ln w="12700">
            <a:solidFill>
              <a:srgbClr val="E3B23C"/>
            </a:solidFill>
            <a:prstDash val="solid"/>
          </a:ln>
        </p:spPr>
      </p:sp>
      <p:sp>
        <p:nvSpPr>
          <p:cNvPr id="17" name="Text 15"/>
          <p:cNvSpPr txBox="1"/>
          <p:nvPr/>
        </p:nvSpPr>
        <p:spPr>
          <a:xfrm>
            <a:off x="804672" y="3127248"/>
            <a:ext cx="10835640" cy="512064"/>
          </a:xfrm>
          <a:prstGeom prst="rect">
            <a:avLst/>
          </a:prstGeom>
          <a:noFill/>
          <a:ln/>
        </p:spPr>
        <p:txBody>
          <a:bodyPr wrap="square" lIns="0" tIns="0" rIns="0" bIns="0" rtlCol="0" anchor="t"/>
          <a:lstStyle/>
          <a:p>
            <a:pPr indent="0" marL="0">
              <a:buNone/>
            </a:pPr>
            <a:r>
              <a:rPr lang="en-US" sz="1350" b="1" dirty="0">
                <a:solidFill>
                  <a:srgbClr val="E8EAED"/>
                </a:solidFill>
                <a:latin typeface="Calibri" pitchFamily="34" charset="0"/>
                <a:ea typeface="Calibri" pitchFamily="34" charset="-122"/>
                <a:cs typeface="Calibri" pitchFamily="34" charset="-120"/>
              </a:rPr>
              <a:t>L'offre. </a:t>
            </a:r>
            <a:pPr indent="0" marL="0">
              <a:buNone/>
            </a:pPr>
            <a:r>
              <a:rPr lang="en-US" sz="1350" dirty="0">
                <a:solidFill>
                  <a:srgbClr val="ADB2B9"/>
                </a:solidFill>
                <a:latin typeface="Calibri" pitchFamily="34" charset="0"/>
                <a:ea typeface="Calibri" pitchFamily="34" charset="-122"/>
                <a:cs typeface="Calibri" pitchFamily="34" charset="-120"/>
              </a:rPr>
              <a:t>Un abonnement payé par le professionnel ; l'application est gratuite pour ses clients, qu'il invite lui-même.</a:t>
            </a:r>
            <a:endParaRPr lang="en-US" sz="1350" dirty="0"/>
          </a:p>
        </p:txBody>
      </p:sp>
      <p:sp>
        <p:nvSpPr>
          <p:cNvPr id="18" name="Shape 16"/>
          <p:cNvSpPr/>
          <p:nvPr/>
        </p:nvSpPr>
        <p:spPr>
          <a:xfrm>
            <a:off x="548640" y="3785616"/>
            <a:ext cx="128016" cy="32004"/>
          </a:xfrm>
          <a:prstGeom prst="rect">
            <a:avLst/>
          </a:prstGeom>
          <a:solidFill>
            <a:srgbClr val="E3B23C"/>
          </a:solidFill>
          <a:ln w="12700">
            <a:solidFill>
              <a:srgbClr val="E3B23C"/>
            </a:solidFill>
            <a:prstDash val="solid"/>
          </a:ln>
        </p:spPr>
      </p:sp>
      <p:sp>
        <p:nvSpPr>
          <p:cNvPr id="19" name="Text 17"/>
          <p:cNvSpPr txBox="1"/>
          <p:nvPr/>
        </p:nvSpPr>
        <p:spPr>
          <a:xfrm>
            <a:off x="804672" y="3639312"/>
            <a:ext cx="10835640" cy="512064"/>
          </a:xfrm>
          <a:prstGeom prst="rect">
            <a:avLst/>
          </a:prstGeom>
          <a:noFill/>
          <a:ln/>
        </p:spPr>
        <p:txBody>
          <a:bodyPr wrap="square" lIns="0" tIns="0" rIns="0" bIns="0" rtlCol="0" anchor="t"/>
          <a:lstStyle/>
          <a:p>
            <a:pPr indent="0" marL="0">
              <a:buNone/>
            </a:pPr>
            <a:r>
              <a:rPr lang="en-US" sz="1350" b="1" dirty="0">
                <a:solidFill>
                  <a:srgbClr val="E8EAED"/>
                </a:solidFill>
                <a:latin typeface="Calibri" pitchFamily="34" charset="0"/>
                <a:ea typeface="Calibri" pitchFamily="34" charset="-122"/>
                <a:cs typeface="Calibri" pitchFamily="34" charset="-120"/>
              </a:rPr>
              <a:t>La différence. </a:t>
            </a:r>
            <a:pPr indent="0" marL="0">
              <a:buNone/>
            </a:pPr>
            <a:r>
              <a:rPr lang="en-US" sz="1350" dirty="0">
                <a:solidFill>
                  <a:srgbClr val="ADB2B9"/>
                </a:solidFill>
                <a:latin typeface="Calibri" pitchFamily="34" charset="0"/>
                <a:ea typeface="Calibri" pitchFamily="34" charset="-122"/>
                <a:cs typeface="Calibri" pitchFamily="34" charset="-120"/>
              </a:rPr>
              <a:t>Les plans partent du stock réel du client et donnent des grammages à peser, pas une recette théorique.</a:t>
            </a:r>
            <a:endParaRPr lang="en-US" sz="1350" dirty="0"/>
          </a:p>
        </p:txBody>
      </p:sp>
      <p:sp>
        <p:nvSpPr>
          <p:cNvPr id="20" name="Shape 18"/>
          <p:cNvSpPr/>
          <p:nvPr/>
        </p:nvSpPr>
        <p:spPr>
          <a:xfrm>
            <a:off x="548640" y="4297680"/>
            <a:ext cx="128016" cy="32004"/>
          </a:xfrm>
          <a:prstGeom prst="rect">
            <a:avLst/>
          </a:prstGeom>
          <a:solidFill>
            <a:srgbClr val="E3B23C"/>
          </a:solidFill>
          <a:ln w="12700">
            <a:solidFill>
              <a:srgbClr val="E3B23C"/>
            </a:solidFill>
            <a:prstDash val="solid"/>
          </a:ln>
        </p:spPr>
      </p:sp>
      <p:sp>
        <p:nvSpPr>
          <p:cNvPr id="21" name="Text 19"/>
          <p:cNvSpPr txBox="1"/>
          <p:nvPr/>
        </p:nvSpPr>
        <p:spPr>
          <a:xfrm>
            <a:off x="804672" y="4151376"/>
            <a:ext cx="10835640" cy="512064"/>
          </a:xfrm>
          <a:prstGeom prst="rect">
            <a:avLst/>
          </a:prstGeom>
          <a:noFill/>
          <a:ln/>
        </p:spPr>
        <p:txBody>
          <a:bodyPr wrap="square" lIns="0" tIns="0" rIns="0" bIns="0" rtlCol="0" anchor="t"/>
          <a:lstStyle/>
          <a:p>
            <a:pPr indent="0" marL="0">
              <a:buNone/>
            </a:pPr>
            <a:r>
              <a:rPr lang="en-US" sz="1350" b="1" dirty="0">
                <a:solidFill>
                  <a:srgbClr val="E8EAED"/>
                </a:solidFill>
                <a:latin typeface="Calibri" pitchFamily="34" charset="0"/>
                <a:ea typeface="Calibri" pitchFamily="34" charset="-122"/>
                <a:cs typeface="Calibri" pitchFamily="34" charset="-120"/>
              </a:rPr>
              <a:t>La cible. </a:t>
            </a:r>
            <a:pPr indent="0" marL="0">
              <a:buNone/>
            </a:pPr>
            <a:r>
              <a:rPr lang="en-US" sz="1350" dirty="0">
                <a:solidFill>
                  <a:srgbClr val="ADB2B9"/>
                </a:solidFill>
                <a:latin typeface="Calibri" pitchFamily="34" charset="0"/>
                <a:ea typeface="Calibri" pitchFamily="34" charset="-122"/>
                <a:cs typeface="Calibri" pitchFamily="34" charset="-120"/>
              </a:rPr>
              <a:t>Les coachs libéraux (20 000 à 30 000 en France) et les diététiciens (17 369 en exercice).</a:t>
            </a:r>
            <a:endParaRPr lang="en-US" sz="1350" dirty="0"/>
          </a:p>
        </p:txBody>
      </p:sp>
      <p:sp>
        <p:nvSpPr>
          <p:cNvPr id="22" name="Shape 20"/>
          <p:cNvSpPr/>
          <p:nvPr/>
        </p:nvSpPr>
        <p:spPr>
          <a:xfrm>
            <a:off x="548640" y="4809744"/>
            <a:ext cx="128016" cy="32004"/>
          </a:xfrm>
          <a:prstGeom prst="rect">
            <a:avLst/>
          </a:prstGeom>
          <a:solidFill>
            <a:srgbClr val="E3B23C"/>
          </a:solidFill>
          <a:ln w="12700">
            <a:solidFill>
              <a:srgbClr val="E3B23C"/>
            </a:solidFill>
            <a:prstDash val="solid"/>
          </a:ln>
        </p:spPr>
      </p:sp>
      <p:sp>
        <p:nvSpPr>
          <p:cNvPr id="23" name="Text 21"/>
          <p:cNvSpPr txBox="1"/>
          <p:nvPr/>
        </p:nvSpPr>
        <p:spPr>
          <a:xfrm>
            <a:off x="804672" y="4663440"/>
            <a:ext cx="10835640" cy="512064"/>
          </a:xfrm>
          <a:prstGeom prst="rect">
            <a:avLst/>
          </a:prstGeom>
          <a:noFill/>
          <a:ln/>
        </p:spPr>
        <p:txBody>
          <a:bodyPr wrap="square" lIns="0" tIns="0" rIns="0" bIns="0" rtlCol="0" anchor="t"/>
          <a:lstStyle/>
          <a:p>
            <a:pPr indent="0" marL="0">
              <a:buNone/>
            </a:pPr>
            <a:r>
              <a:rPr lang="en-US" sz="1350" b="1" dirty="0">
                <a:solidFill>
                  <a:srgbClr val="E8EAED"/>
                </a:solidFill>
                <a:latin typeface="Calibri" pitchFamily="34" charset="0"/>
                <a:ea typeface="Calibri" pitchFamily="34" charset="-122"/>
                <a:cs typeface="Calibri" pitchFamily="34" charset="-120"/>
              </a:rPr>
              <a:t>Le prix. </a:t>
            </a:r>
            <a:pPr indent="0" marL="0">
              <a:buNone/>
            </a:pPr>
            <a:r>
              <a:rPr lang="en-US" sz="1350" dirty="0">
                <a:solidFill>
                  <a:srgbClr val="ADB2B9"/>
                </a:solidFill>
                <a:latin typeface="Calibri" pitchFamily="34" charset="0"/>
                <a:ea typeface="Calibri" pitchFamily="34" charset="-122"/>
                <a:cs typeface="Calibri" pitchFamily="34" charset="-120"/>
              </a:rPr>
              <a:t>Trois formules de 29 à 99 € HT par mois ; panier moyen estimé à 42 €.</a:t>
            </a:r>
            <a:endParaRPr lang="en-US" sz="1350" dirty="0"/>
          </a:p>
        </p:txBody>
      </p:sp>
      <p:sp>
        <p:nvSpPr>
          <p:cNvPr id="24" name="Shape 22"/>
          <p:cNvSpPr/>
          <p:nvPr/>
        </p:nvSpPr>
        <p:spPr>
          <a:xfrm>
            <a:off x="548640" y="5321808"/>
            <a:ext cx="128016" cy="32004"/>
          </a:xfrm>
          <a:prstGeom prst="rect">
            <a:avLst/>
          </a:prstGeom>
          <a:solidFill>
            <a:srgbClr val="E3B23C"/>
          </a:solidFill>
          <a:ln w="12700">
            <a:solidFill>
              <a:srgbClr val="E3B23C"/>
            </a:solidFill>
            <a:prstDash val="solid"/>
          </a:ln>
        </p:spPr>
      </p:sp>
      <p:sp>
        <p:nvSpPr>
          <p:cNvPr id="25" name="Text 23"/>
          <p:cNvSpPr txBox="1"/>
          <p:nvPr/>
        </p:nvSpPr>
        <p:spPr>
          <a:xfrm>
            <a:off x="804672" y="5175504"/>
            <a:ext cx="10835640" cy="512064"/>
          </a:xfrm>
          <a:prstGeom prst="rect">
            <a:avLst/>
          </a:prstGeom>
          <a:noFill/>
          <a:ln/>
        </p:spPr>
        <p:txBody>
          <a:bodyPr wrap="square" lIns="0" tIns="0" rIns="0" bIns="0" rtlCol="0" anchor="t"/>
          <a:lstStyle/>
          <a:p>
            <a:pPr indent="0" marL="0">
              <a:buNone/>
            </a:pPr>
            <a:r>
              <a:rPr lang="en-US" sz="1350" b="1" dirty="0">
                <a:solidFill>
                  <a:srgbClr val="E8EAED"/>
                </a:solidFill>
                <a:latin typeface="Calibri" pitchFamily="34" charset="0"/>
                <a:ea typeface="Calibri" pitchFamily="34" charset="-122"/>
                <a:cs typeface="Calibri" pitchFamily="34" charset="-120"/>
              </a:rPr>
              <a:t>L'actif. </a:t>
            </a:r>
            <a:pPr indent="0" marL="0">
              <a:buNone/>
            </a:pPr>
            <a:r>
              <a:rPr lang="en-US" sz="1350" dirty="0">
                <a:solidFill>
                  <a:srgbClr val="ADB2B9"/>
                </a:solidFill>
                <a:latin typeface="Calibri" pitchFamily="34" charset="0"/>
                <a:ea typeface="Calibri" pitchFamily="34" charset="-122"/>
                <a:cs typeface="Calibri" pitchFamily="34" charset="-120"/>
              </a:rPr>
              <a:t>Une application Android et web en service, 869 tests automatisés, un audit de sécurité de 84 constats entièrement traité.</a:t>
            </a:r>
            <a:endParaRPr lang="en-US" sz="1350" dirty="0"/>
          </a:p>
        </p:txBody>
      </p:sp>
      <p:sp>
        <p:nvSpPr>
          <p:cNvPr id="26" name="Text 24"/>
          <p:cNvSpPr txBox="1"/>
          <p:nvPr/>
        </p:nvSpPr>
        <p:spPr>
          <a:xfrm>
            <a:off x="548640" y="5961888"/>
            <a:ext cx="11091672" cy="310896"/>
          </a:xfrm>
          <a:prstGeom prst="rect">
            <a:avLst/>
          </a:prstGeom>
          <a:noFill/>
          <a:ln/>
        </p:spPr>
        <p:txBody>
          <a:bodyPr wrap="square" lIns="0" tIns="0" rIns="0" bIns="0" rtlCol="0" anchor="ctr"/>
          <a:lstStyle/>
          <a:p>
            <a:pPr indent="0" marL="0">
              <a:buNone/>
            </a:pPr>
            <a:r>
              <a:rPr lang="en-US" sz="950" i="1" dirty="0">
                <a:solidFill>
                  <a:srgbClr val="868E99"/>
                </a:solidFill>
                <a:latin typeface="Calibri" pitchFamily="34" charset="0"/>
                <a:ea typeface="Calibri" pitchFamily="34" charset="-122"/>
                <a:cs typeface="Calibri" pitchFamily="34" charset="-120"/>
              </a:rPr>
              <a:t>Tous les chiffres de prévision sont des hypothèses de travail non mesurées — détail diapositive 13</a:t>
            </a:r>
            <a:endParaRPr lang="en-US" sz="950" dirty="0"/>
          </a:p>
        </p:txBody>
      </p:sp>
      <p:sp>
        <p:nvSpPr>
          <p:cNvPr id="27" name="Text 25"/>
          <p:cNvSpPr txBox="1"/>
          <p:nvPr/>
        </p:nvSpPr>
        <p:spPr>
          <a:xfrm>
            <a:off x="548640" y="6336792"/>
            <a:ext cx="8229600" cy="274320"/>
          </a:xfrm>
          <a:prstGeom prst="rect">
            <a:avLst/>
          </a:prstGeom>
          <a:noFill/>
          <a:ln/>
        </p:spPr>
        <p:txBody>
          <a:bodyPr wrap="square" lIns="0" tIns="0" rIns="0" bIns="0" rtlCol="0" anchor="ctr"/>
          <a:lstStyle/>
          <a:p>
            <a:pPr algn="l" indent="0" marL="0">
              <a:buNone/>
            </a:pPr>
            <a:r>
              <a:rPr lang="en-US" sz="900" dirty="0">
                <a:solidFill>
                  <a:srgbClr val="868E99"/>
                </a:solidFill>
                <a:latin typeface="Calibri" pitchFamily="34" charset="0"/>
                <a:ea typeface="Calibri" pitchFamily="34" charset="-122"/>
                <a:cs typeface="Calibri" pitchFamily="34" charset="-120"/>
              </a:rPr>
              <a:t>fitcarnet Pro · business plan · 21 septembre 2026</a:t>
            </a:r>
            <a:endParaRPr lang="en-US" sz="900" dirty="0"/>
          </a:p>
        </p:txBody>
      </p:sp>
      <p:sp>
        <p:nvSpPr>
          <p:cNvPr id="28" name="Text 26"/>
          <p:cNvSpPr txBox="1"/>
          <p:nvPr/>
        </p:nvSpPr>
        <p:spPr>
          <a:xfrm>
            <a:off x="8897112" y="6336792"/>
            <a:ext cx="2743200" cy="274320"/>
          </a:xfrm>
          <a:prstGeom prst="rect">
            <a:avLst/>
          </a:prstGeom>
          <a:noFill/>
          <a:ln/>
        </p:spPr>
        <p:txBody>
          <a:bodyPr wrap="square" lIns="0" tIns="0" rIns="0" bIns="0" rtlCol="0" anchor="ctr"/>
          <a:lstStyle/>
          <a:p>
            <a:pPr algn="r" indent="0" marL="0">
              <a:buNone/>
            </a:pPr>
            <a:r>
              <a:rPr lang="en-US" sz="900" dirty="0">
                <a:solidFill>
                  <a:srgbClr val="868E99"/>
                </a:solidFill>
                <a:latin typeface="Calibri" pitchFamily="34" charset="0"/>
                <a:ea typeface="Calibri" pitchFamily="34" charset="-122"/>
                <a:cs typeface="Calibri" pitchFamily="34" charset="-120"/>
              </a:rPr>
              <a:t>02 / 24</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4161A"/>
        </a:solidFill>
      </p:bgPr>
    </p:bg>
    <p:spTree>
      <p:nvGrpSpPr>
        <p:cNvPr id="1" name=""/>
        <p:cNvGrpSpPr/>
        <p:nvPr/>
      </p:nvGrpSpPr>
      <p:grpSpPr>
        <a:xfrm>
          <a:off x="0" y="0"/>
          <a:ext cx="0" cy="0"/>
          <a:chOff x="0" y="0"/>
          <a:chExt cx="0" cy="0"/>
        </a:xfrm>
      </p:grpSpPr>
      <p:sp>
        <p:nvSpPr>
          <p:cNvPr id="2" name="Text 0"/>
          <p:cNvSpPr txBox="1"/>
          <p:nvPr/>
        </p:nvSpPr>
        <p:spPr>
          <a:xfrm>
            <a:off x="548640" y="347472"/>
            <a:ext cx="11091672" cy="237744"/>
          </a:xfrm>
          <a:prstGeom prst="rect">
            <a:avLst/>
          </a:prstGeom>
          <a:noFill/>
          <a:ln/>
        </p:spPr>
        <p:txBody>
          <a:bodyPr wrap="square" lIns="0" tIns="0" rIns="0" bIns="0" rtlCol="0" anchor="ctr"/>
          <a:lstStyle/>
          <a:p>
            <a:pPr indent="0" marL="0">
              <a:buNone/>
            </a:pPr>
            <a:r>
              <a:rPr lang="en-US" sz="1050" b="1" spc="200" kern="0" dirty="0">
                <a:solidFill>
                  <a:srgbClr val="E3B23C"/>
                </a:solidFill>
                <a:latin typeface="Calibri" pitchFamily="34" charset="0"/>
                <a:ea typeface="Calibri" pitchFamily="34" charset="-122"/>
                <a:cs typeface="Calibri" pitchFamily="34" charset="-120"/>
              </a:rPr>
              <a:t>LE PROBLÈME</a:t>
            </a:r>
            <a:endParaRPr lang="en-US" sz="1050" dirty="0"/>
          </a:p>
        </p:txBody>
      </p:sp>
      <p:sp>
        <p:nvSpPr>
          <p:cNvPr id="3" name="Text 1"/>
          <p:cNvSpPr txBox="1"/>
          <p:nvPr/>
        </p:nvSpPr>
        <p:spPr>
          <a:xfrm>
            <a:off x="548640" y="603504"/>
            <a:ext cx="11091672" cy="566928"/>
          </a:xfrm>
          <a:prstGeom prst="rect">
            <a:avLst/>
          </a:prstGeom>
          <a:noFill/>
          <a:ln/>
        </p:spPr>
        <p:txBody>
          <a:bodyPr wrap="square" lIns="0" tIns="0" rIns="0" bIns="0" rtlCol="0" anchor="ctr"/>
          <a:lstStyle/>
          <a:p>
            <a:pPr indent="0" marL="0">
              <a:buNone/>
            </a:pPr>
            <a:r>
              <a:rPr lang="en-US" sz="3000" b="1" dirty="0">
                <a:solidFill>
                  <a:srgbClr val="E8EAED"/>
                </a:solidFill>
                <a:latin typeface="Arial Narrow" pitchFamily="34" charset="0"/>
                <a:ea typeface="Arial Narrow" pitchFamily="34" charset="-122"/>
                <a:cs typeface="Arial Narrow" pitchFamily="34" charset="-120"/>
              </a:rPr>
              <a:t>Un plan alimentaire que personne ne peut suivre ne sert à rien</a:t>
            </a:r>
            <a:endParaRPr lang="en-US" sz="3000" dirty="0"/>
          </a:p>
        </p:txBody>
      </p:sp>
      <p:sp>
        <p:nvSpPr>
          <p:cNvPr id="4" name="Shape 2"/>
          <p:cNvSpPr/>
          <p:nvPr/>
        </p:nvSpPr>
        <p:spPr>
          <a:xfrm>
            <a:off x="548640" y="1755648"/>
            <a:ext cx="3575304" cy="2331720"/>
          </a:xfrm>
          <a:prstGeom prst="roundRect">
            <a:avLst>
              <a:gd name="adj" fmla="val 2745"/>
            </a:avLst>
          </a:prstGeom>
          <a:solidFill>
            <a:srgbClr val="1D2026"/>
          </a:solidFill>
          <a:ln w="9525">
            <a:solidFill>
              <a:srgbClr val="2F343D"/>
            </a:solidFill>
            <a:prstDash val="solid"/>
          </a:ln>
        </p:spPr>
      </p:sp>
      <p:sp>
        <p:nvSpPr>
          <p:cNvPr id="5" name="Text 3"/>
          <p:cNvSpPr txBox="1"/>
          <p:nvPr/>
        </p:nvSpPr>
        <p:spPr>
          <a:xfrm>
            <a:off x="804672" y="1901952"/>
            <a:ext cx="914400" cy="365760"/>
          </a:xfrm>
          <a:prstGeom prst="rect">
            <a:avLst/>
          </a:prstGeom>
          <a:noFill/>
          <a:ln/>
        </p:spPr>
        <p:txBody>
          <a:bodyPr wrap="square" lIns="0" tIns="0" rIns="0" bIns="0" rtlCol="0" anchor="ctr"/>
          <a:lstStyle/>
          <a:p>
            <a:pPr indent="0" marL="0">
              <a:buNone/>
            </a:pPr>
            <a:r>
              <a:rPr lang="en-US" sz="2200" b="1" dirty="0">
                <a:solidFill>
                  <a:srgbClr val="E3B23C"/>
                </a:solidFill>
                <a:latin typeface="Arial Narrow" pitchFamily="34" charset="0"/>
                <a:ea typeface="Arial Narrow" pitchFamily="34" charset="-122"/>
                <a:cs typeface="Arial Narrow" pitchFamily="34" charset="-120"/>
              </a:rPr>
              <a:t>01</a:t>
            </a:r>
            <a:endParaRPr lang="en-US" sz="2200" dirty="0"/>
          </a:p>
        </p:txBody>
      </p:sp>
      <p:sp>
        <p:nvSpPr>
          <p:cNvPr id="6" name="Text 4"/>
          <p:cNvSpPr txBox="1"/>
          <p:nvPr/>
        </p:nvSpPr>
        <p:spPr>
          <a:xfrm>
            <a:off x="804672" y="2304288"/>
            <a:ext cx="3063240" cy="402336"/>
          </a:xfrm>
          <a:prstGeom prst="rect">
            <a:avLst/>
          </a:prstGeom>
          <a:noFill/>
          <a:ln/>
        </p:spPr>
        <p:txBody>
          <a:bodyPr wrap="square" lIns="0" tIns="0" rIns="0" bIns="0" rtlCol="0" anchor="ctr"/>
          <a:lstStyle/>
          <a:p>
            <a:pPr indent="0" marL="0">
              <a:buNone/>
            </a:pPr>
            <a:r>
              <a:rPr lang="en-US" sz="2000" b="1" dirty="0">
                <a:solidFill>
                  <a:srgbClr val="E8EAED"/>
                </a:solidFill>
                <a:latin typeface="Arial Narrow" pitchFamily="34" charset="0"/>
                <a:ea typeface="Arial Narrow" pitchFamily="34" charset="-122"/>
                <a:cs typeface="Arial Narrow" pitchFamily="34" charset="-120"/>
              </a:rPr>
              <a:t>Il ignore le frigo</a:t>
            </a:r>
            <a:endParaRPr lang="en-US" sz="2000" dirty="0"/>
          </a:p>
        </p:txBody>
      </p:sp>
      <p:sp>
        <p:nvSpPr>
          <p:cNvPr id="7" name="Text 5"/>
          <p:cNvSpPr txBox="1"/>
          <p:nvPr/>
        </p:nvSpPr>
        <p:spPr>
          <a:xfrm>
            <a:off x="804672" y="2761488"/>
            <a:ext cx="3063240" cy="1188720"/>
          </a:xfrm>
          <a:prstGeom prst="rect">
            <a:avLst/>
          </a:prstGeom>
          <a:noFill/>
          <a:ln/>
        </p:spPr>
        <p:txBody>
          <a:bodyPr wrap="square" lIns="0" tIns="0" rIns="0" bIns="0" rtlCol="0" anchor="t"/>
          <a:lstStyle/>
          <a:p>
            <a:pPr indent="0" marL="0">
              <a:lnSpc>
                <a:spcPts val="1800"/>
              </a:lnSpc>
              <a:buNone/>
            </a:pPr>
            <a:r>
              <a:rPr lang="en-US" sz="1200" dirty="0">
                <a:solidFill>
                  <a:srgbClr val="ADB2B9"/>
                </a:solidFill>
                <a:latin typeface="Calibri" pitchFamily="34" charset="0"/>
                <a:ea typeface="Calibri" pitchFamily="34" charset="-122"/>
                <a:cs typeface="Calibri" pitchFamily="34" charset="-120"/>
              </a:rPr>
              <a:t>Le plan prévoit du saumon et des patates douces ; le client a du poulet et du riz. Il improvise, les macros dérivent, le coach ne le voit pas.</a:t>
            </a:r>
            <a:endParaRPr lang="en-US" sz="1200" dirty="0"/>
          </a:p>
        </p:txBody>
      </p:sp>
      <p:sp>
        <p:nvSpPr>
          <p:cNvPr id="8" name="Shape 6"/>
          <p:cNvSpPr/>
          <p:nvPr/>
        </p:nvSpPr>
        <p:spPr>
          <a:xfrm>
            <a:off x="4306824" y="1755648"/>
            <a:ext cx="3575304" cy="2331720"/>
          </a:xfrm>
          <a:prstGeom prst="roundRect">
            <a:avLst>
              <a:gd name="adj" fmla="val 2745"/>
            </a:avLst>
          </a:prstGeom>
          <a:solidFill>
            <a:srgbClr val="1D2026"/>
          </a:solidFill>
          <a:ln w="9525">
            <a:solidFill>
              <a:srgbClr val="2F343D"/>
            </a:solidFill>
            <a:prstDash val="solid"/>
          </a:ln>
        </p:spPr>
      </p:sp>
      <p:sp>
        <p:nvSpPr>
          <p:cNvPr id="9" name="Text 7"/>
          <p:cNvSpPr txBox="1"/>
          <p:nvPr/>
        </p:nvSpPr>
        <p:spPr>
          <a:xfrm>
            <a:off x="4562856" y="1901952"/>
            <a:ext cx="914400" cy="365760"/>
          </a:xfrm>
          <a:prstGeom prst="rect">
            <a:avLst/>
          </a:prstGeom>
          <a:noFill/>
          <a:ln/>
        </p:spPr>
        <p:txBody>
          <a:bodyPr wrap="square" lIns="0" tIns="0" rIns="0" bIns="0" rtlCol="0" anchor="ctr"/>
          <a:lstStyle/>
          <a:p>
            <a:pPr indent="0" marL="0">
              <a:buNone/>
            </a:pPr>
            <a:r>
              <a:rPr lang="en-US" sz="2200" b="1" dirty="0">
                <a:solidFill>
                  <a:srgbClr val="E3B23C"/>
                </a:solidFill>
                <a:latin typeface="Arial Narrow" pitchFamily="34" charset="0"/>
                <a:ea typeface="Arial Narrow" pitchFamily="34" charset="-122"/>
                <a:cs typeface="Arial Narrow" pitchFamily="34" charset="-120"/>
              </a:rPr>
              <a:t>02</a:t>
            </a:r>
            <a:endParaRPr lang="en-US" sz="2200" dirty="0"/>
          </a:p>
        </p:txBody>
      </p:sp>
      <p:sp>
        <p:nvSpPr>
          <p:cNvPr id="10" name="Text 8"/>
          <p:cNvSpPr txBox="1"/>
          <p:nvPr/>
        </p:nvSpPr>
        <p:spPr>
          <a:xfrm>
            <a:off x="4562856" y="2304288"/>
            <a:ext cx="3063240" cy="402336"/>
          </a:xfrm>
          <a:prstGeom prst="rect">
            <a:avLst/>
          </a:prstGeom>
          <a:noFill/>
          <a:ln/>
        </p:spPr>
        <p:txBody>
          <a:bodyPr wrap="square" lIns="0" tIns="0" rIns="0" bIns="0" rtlCol="0" anchor="ctr"/>
          <a:lstStyle/>
          <a:p>
            <a:pPr indent="0" marL="0">
              <a:buNone/>
            </a:pPr>
            <a:r>
              <a:rPr lang="en-US" sz="2000" b="1" dirty="0">
                <a:solidFill>
                  <a:srgbClr val="E8EAED"/>
                </a:solidFill>
                <a:latin typeface="Arial Narrow" pitchFamily="34" charset="0"/>
                <a:ea typeface="Arial Narrow" pitchFamily="34" charset="-122"/>
                <a:cs typeface="Arial Narrow" pitchFamily="34" charset="-120"/>
              </a:rPr>
              <a:t>Les chiffres sont faux</a:t>
            </a:r>
            <a:endParaRPr lang="en-US" sz="2000" dirty="0"/>
          </a:p>
        </p:txBody>
      </p:sp>
      <p:sp>
        <p:nvSpPr>
          <p:cNvPr id="11" name="Text 9"/>
          <p:cNvSpPr txBox="1"/>
          <p:nvPr/>
        </p:nvSpPr>
        <p:spPr>
          <a:xfrm>
            <a:off x="4562856" y="2761488"/>
            <a:ext cx="3063240" cy="1188720"/>
          </a:xfrm>
          <a:prstGeom prst="rect">
            <a:avLst/>
          </a:prstGeom>
          <a:noFill/>
          <a:ln/>
        </p:spPr>
        <p:txBody>
          <a:bodyPr wrap="square" lIns="0" tIns="0" rIns="0" bIns="0" rtlCol="0" anchor="t"/>
          <a:lstStyle/>
          <a:p>
            <a:pPr indent="0" marL="0">
              <a:lnSpc>
                <a:spcPts val="1800"/>
              </a:lnSpc>
              <a:buNone/>
            </a:pPr>
            <a:r>
              <a:rPr lang="en-US" sz="1200" dirty="0">
                <a:solidFill>
                  <a:srgbClr val="ADB2B9"/>
                </a:solidFill>
                <a:latin typeface="Calibri" pitchFamily="34" charset="0"/>
                <a:ea typeface="Calibri" pitchFamily="34" charset="-122"/>
                <a:cs typeface="Calibri" pitchFamily="34" charset="-120"/>
              </a:rPr>
              <a:t>Le riz blanc sec vaut 350 kcal aux 100 g, le même riz cuit 155 (CIQUAL 2025). Confondre les deux, c'est se tromper d'un facteur 2,26 sur l'assiette.</a:t>
            </a:r>
            <a:endParaRPr lang="en-US" sz="1200" dirty="0"/>
          </a:p>
        </p:txBody>
      </p:sp>
      <p:sp>
        <p:nvSpPr>
          <p:cNvPr id="12" name="Shape 10"/>
          <p:cNvSpPr/>
          <p:nvPr/>
        </p:nvSpPr>
        <p:spPr>
          <a:xfrm>
            <a:off x="8065008" y="1755648"/>
            <a:ext cx="3575304" cy="2331720"/>
          </a:xfrm>
          <a:prstGeom prst="roundRect">
            <a:avLst>
              <a:gd name="adj" fmla="val 2745"/>
            </a:avLst>
          </a:prstGeom>
          <a:solidFill>
            <a:srgbClr val="1D2026"/>
          </a:solidFill>
          <a:ln w="9525">
            <a:solidFill>
              <a:srgbClr val="2F343D"/>
            </a:solidFill>
            <a:prstDash val="solid"/>
          </a:ln>
        </p:spPr>
      </p:sp>
      <p:sp>
        <p:nvSpPr>
          <p:cNvPr id="13" name="Text 11"/>
          <p:cNvSpPr txBox="1"/>
          <p:nvPr/>
        </p:nvSpPr>
        <p:spPr>
          <a:xfrm>
            <a:off x="8321040" y="1901952"/>
            <a:ext cx="914400" cy="365760"/>
          </a:xfrm>
          <a:prstGeom prst="rect">
            <a:avLst/>
          </a:prstGeom>
          <a:noFill/>
          <a:ln/>
        </p:spPr>
        <p:txBody>
          <a:bodyPr wrap="square" lIns="0" tIns="0" rIns="0" bIns="0" rtlCol="0" anchor="ctr"/>
          <a:lstStyle/>
          <a:p>
            <a:pPr indent="0" marL="0">
              <a:buNone/>
            </a:pPr>
            <a:r>
              <a:rPr lang="en-US" sz="2200" b="1" dirty="0">
                <a:solidFill>
                  <a:srgbClr val="E3B23C"/>
                </a:solidFill>
                <a:latin typeface="Arial Narrow" pitchFamily="34" charset="0"/>
                <a:ea typeface="Arial Narrow" pitchFamily="34" charset="-122"/>
                <a:cs typeface="Arial Narrow" pitchFamily="34" charset="-120"/>
              </a:rPr>
              <a:t>03</a:t>
            </a:r>
            <a:endParaRPr lang="en-US" sz="2200" dirty="0"/>
          </a:p>
        </p:txBody>
      </p:sp>
      <p:sp>
        <p:nvSpPr>
          <p:cNvPr id="14" name="Text 12"/>
          <p:cNvSpPr txBox="1"/>
          <p:nvPr/>
        </p:nvSpPr>
        <p:spPr>
          <a:xfrm>
            <a:off x="8321040" y="2304288"/>
            <a:ext cx="3063240" cy="402336"/>
          </a:xfrm>
          <a:prstGeom prst="rect">
            <a:avLst/>
          </a:prstGeom>
          <a:noFill/>
          <a:ln/>
        </p:spPr>
        <p:txBody>
          <a:bodyPr wrap="square" lIns="0" tIns="0" rIns="0" bIns="0" rtlCol="0" anchor="ctr"/>
          <a:lstStyle/>
          <a:p>
            <a:pPr indent="0" marL="0">
              <a:buNone/>
            </a:pPr>
            <a:r>
              <a:rPr lang="en-US" sz="2000" b="1" dirty="0">
                <a:solidFill>
                  <a:srgbClr val="E8EAED"/>
                </a:solidFill>
                <a:latin typeface="Arial Narrow" pitchFamily="34" charset="0"/>
                <a:ea typeface="Arial Narrow" pitchFamily="34" charset="-122"/>
                <a:cs typeface="Arial Narrow" pitchFamily="34" charset="-120"/>
              </a:rPr>
              <a:t>Les outils sont éparpillés</a:t>
            </a:r>
            <a:endParaRPr lang="en-US" sz="2000" dirty="0"/>
          </a:p>
        </p:txBody>
      </p:sp>
      <p:sp>
        <p:nvSpPr>
          <p:cNvPr id="15" name="Text 13"/>
          <p:cNvSpPr txBox="1"/>
          <p:nvPr/>
        </p:nvSpPr>
        <p:spPr>
          <a:xfrm>
            <a:off x="8321040" y="2761488"/>
            <a:ext cx="3063240" cy="1188720"/>
          </a:xfrm>
          <a:prstGeom prst="rect">
            <a:avLst/>
          </a:prstGeom>
          <a:noFill/>
          <a:ln/>
        </p:spPr>
        <p:txBody>
          <a:bodyPr wrap="square" lIns="0" tIns="0" rIns="0" bIns="0" rtlCol="0" anchor="t"/>
          <a:lstStyle/>
          <a:p>
            <a:pPr indent="0" marL="0">
              <a:lnSpc>
                <a:spcPts val="1800"/>
              </a:lnSpc>
              <a:buNone/>
            </a:pPr>
            <a:r>
              <a:rPr lang="en-US" sz="1200" dirty="0">
                <a:solidFill>
                  <a:srgbClr val="ADB2B9"/>
                </a:solidFill>
                <a:latin typeface="Calibri" pitchFamily="34" charset="0"/>
                <a:ea typeface="Calibri" pitchFamily="34" charset="-122"/>
                <a:cs typeface="Calibri" pitchFamily="34" charset="-120"/>
              </a:rPr>
              <a:t>Un tableur pour les programmes, une application de comptage pour les repas, une messagerie pour le suivi. Le professionnel recopie à la main.</a:t>
            </a:r>
            <a:endParaRPr lang="en-US" sz="1200" dirty="0"/>
          </a:p>
        </p:txBody>
      </p:sp>
      <p:sp>
        <p:nvSpPr>
          <p:cNvPr id="16" name="Shape 14"/>
          <p:cNvSpPr/>
          <p:nvPr/>
        </p:nvSpPr>
        <p:spPr>
          <a:xfrm>
            <a:off x="548640" y="4370832"/>
            <a:ext cx="11091672" cy="914400"/>
          </a:xfrm>
          <a:prstGeom prst="roundRect">
            <a:avLst>
              <a:gd name="adj" fmla="val 7000"/>
            </a:avLst>
          </a:prstGeom>
          <a:solidFill>
            <a:srgbClr val="23272E"/>
          </a:solidFill>
          <a:ln w="15875">
            <a:solidFill>
              <a:srgbClr val="E3B23C"/>
            </a:solidFill>
            <a:prstDash val="solid"/>
          </a:ln>
        </p:spPr>
      </p:sp>
      <p:sp>
        <p:nvSpPr>
          <p:cNvPr id="17" name="Text 15"/>
          <p:cNvSpPr txBox="1"/>
          <p:nvPr/>
        </p:nvSpPr>
        <p:spPr>
          <a:xfrm>
            <a:off x="877824" y="4370832"/>
            <a:ext cx="10433304" cy="914400"/>
          </a:xfrm>
          <a:prstGeom prst="rect">
            <a:avLst/>
          </a:prstGeom>
          <a:noFill/>
          <a:ln/>
        </p:spPr>
        <p:txBody>
          <a:bodyPr wrap="square" lIns="0" tIns="0" rIns="0" bIns="0" rtlCol="0" anchor="ctr"/>
          <a:lstStyle/>
          <a:p>
            <a:pPr indent="0" marL="0">
              <a:buNone/>
            </a:pPr>
            <a:r>
              <a:rPr lang="en-US" sz="1600" dirty="0">
                <a:solidFill>
                  <a:srgbClr val="ADB2B9"/>
                </a:solidFill>
                <a:latin typeface="Calibri" pitchFamily="34" charset="0"/>
                <a:ea typeface="Calibri" pitchFamily="34" charset="-122"/>
                <a:cs typeface="Calibri" pitchFamily="34" charset="-120"/>
              </a:rPr>
              <a:t>Le coach vend un résultat. Il a besoin que son client </a:t>
            </a:r>
            <a:pPr indent="0" marL="0">
              <a:buNone/>
            </a:pPr>
            <a:r>
              <a:rPr lang="en-US" sz="1600" b="1" dirty="0">
                <a:solidFill>
                  <a:srgbClr val="E8EAED"/>
                </a:solidFill>
                <a:latin typeface="Calibri" pitchFamily="34" charset="0"/>
                <a:ea typeface="Calibri" pitchFamily="34" charset="-122"/>
                <a:cs typeface="Calibri" pitchFamily="34" charset="-120"/>
              </a:rPr>
              <a:t>mange ce qui est prévu</a:t>
            </a:r>
            <a:pPr indent="0" marL="0">
              <a:buNone/>
            </a:pPr>
            <a:r>
              <a:rPr lang="en-US" sz="1600" dirty="0">
                <a:solidFill>
                  <a:srgbClr val="ADB2B9"/>
                </a:solidFill>
                <a:latin typeface="Calibri" pitchFamily="34" charset="0"/>
                <a:ea typeface="Calibri" pitchFamily="34" charset="-122"/>
                <a:cs typeface="Calibri" pitchFamily="34" charset="-120"/>
              </a:rPr>
              <a:t> — et de savoir </a:t>
            </a:r>
            <a:pPr indent="0" marL="0">
              <a:buNone/>
            </a:pPr>
            <a:r>
              <a:rPr lang="en-US" sz="1600" b="1" dirty="0">
                <a:solidFill>
                  <a:srgbClr val="E3B23C"/>
                </a:solidFill>
                <a:latin typeface="Calibri" pitchFamily="34" charset="0"/>
                <a:ea typeface="Calibri" pitchFamily="34" charset="-122"/>
                <a:cs typeface="Calibri" pitchFamily="34" charset="-120"/>
              </a:rPr>
              <a:t>quand ce n'est pas le cas</a:t>
            </a:r>
            <a:pPr indent="0" marL="0">
              <a:buNone/>
            </a:pPr>
            <a:r>
              <a:rPr lang="en-US" sz="1600" dirty="0">
                <a:solidFill>
                  <a:srgbClr val="ADB2B9"/>
                </a:solidFill>
                <a:latin typeface="Calibri" pitchFamily="34" charset="0"/>
                <a:ea typeface="Calibri" pitchFamily="34" charset="-122"/>
                <a:cs typeface="Calibri" pitchFamily="34" charset="-120"/>
              </a:rPr>
              <a:t>.</a:t>
            </a:r>
            <a:endParaRPr lang="en-US" sz="1600" dirty="0"/>
          </a:p>
        </p:txBody>
      </p:sp>
      <p:sp>
        <p:nvSpPr>
          <p:cNvPr id="18" name="Text 16"/>
          <p:cNvSpPr txBox="1"/>
          <p:nvPr/>
        </p:nvSpPr>
        <p:spPr>
          <a:xfrm>
            <a:off x="548640" y="5961888"/>
            <a:ext cx="11091672" cy="310896"/>
          </a:xfrm>
          <a:prstGeom prst="rect">
            <a:avLst/>
          </a:prstGeom>
          <a:noFill/>
          <a:ln/>
        </p:spPr>
        <p:txBody>
          <a:bodyPr wrap="square" lIns="0" tIns="0" rIns="0" bIns="0" rtlCol="0" anchor="ctr"/>
          <a:lstStyle/>
          <a:p>
            <a:pPr indent="0" marL="0">
              <a:buNone/>
            </a:pPr>
            <a:r>
              <a:rPr lang="en-US" sz="950" i="1" dirty="0">
                <a:solidFill>
                  <a:srgbClr val="868E99"/>
                </a:solidFill>
                <a:latin typeface="Calibri" pitchFamily="34" charset="0"/>
                <a:ea typeface="Calibri" pitchFamily="34" charset="-122"/>
                <a:cs typeface="Calibri" pitchFamily="34" charset="-120"/>
              </a:rPr>
              <a:t>Constats tirés de l'usage réel de l'application depuis sa création · valeurs CIQUAL 2025 (ANSES)</a:t>
            </a:r>
            <a:endParaRPr lang="en-US" sz="950" dirty="0"/>
          </a:p>
        </p:txBody>
      </p:sp>
      <p:sp>
        <p:nvSpPr>
          <p:cNvPr id="19" name="Text 17"/>
          <p:cNvSpPr txBox="1"/>
          <p:nvPr/>
        </p:nvSpPr>
        <p:spPr>
          <a:xfrm>
            <a:off x="548640" y="6336792"/>
            <a:ext cx="8229600" cy="274320"/>
          </a:xfrm>
          <a:prstGeom prst="rect">
            <a:avLst/>
          </a:prstGeom>
          <a:noFill/>
          <a:ln/>
        </p:spPr>
        <p:txBody>
          <a:bodyPr wrap="square" lIns="0" tIns="0" rIns="0" bIns="0" rtlCol="0" anchor="ctr"/>
          <a:lstStyle/>
          <a:p>
            <a:pPr algn="l" indent="0" marL="0">
              <a:buNone/>
            </a:pPr>
            <a:r>
              <a:rPr lang="en-US" sz="900" dirty="0">
                <a:solidFill>
                  <a:srgbClr val="868E99"/>
                </a:solidFill>
                <a:latin typeface="Calibri" pitchFamily="34" charset="0"/>
                <a:ea typeface="Calibri" pitchFamily="34" charset="-122"/>
                <a:cs typeface="Calibri" pitchFamily="34" charset="-120"/>
              </a:rPr>
              <a:t>fitcarnet Pro · business plan · 21 septembre 2026</a:t>
            </a:r>
            <a:endParaRPr lang="en-US" sz="900" dirty="0"/>
          </a:p>
        </p:txBody>
      </p:sp>
      <p:sp>
        <p:nvSpPr>
          <p:cNvPr id="20" name="Text 18"/>
          <p:cNvSpPr txBox="1"/>
          <p:nvPr/>
        </p:nvSpPr>
        <p:spPr>
          <a:xfrm>
            <a:off x="8897112" y="6336792"/>
            <a:ext cx="2743200" cy="274320"/>
          </a:xfrm>
          <a:prstGeom prst="rect">
            <a:avLst/>
          </a:prstGeom>
          <a:noFill/>
          <a:ln/>
        </p:spPr>
        <p:txBody>
          <a:bodyPr wrap="square" lIns="0" tIns="0" rIns="0" bIns="0" rtlCol="0" anchor="ctr"/>
          <a:lstStyle/>
          <a:p>
            <a:pPr algn="r" indent="0" marL="0">
              <a:buNone/>
            </a:pPr>
            <a:r>
              <a:rPr lang="en-US" sz="900" dirty="0">
                <a:solidFill>
                  <a:srgbClr val="868E99"/>
                </a:solidFill>
                <a:latin typeface="Calibri" pitchFamily="34" charset="0"/>
                <a:ea typeface="Calibri" pitchFamily="34" charset="-122"/>
                <a:cs typeface="Calibri" pitchFamily="34" charset="-120"/>
              </a:rPr>
              <a:t>03 / 24</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161A"/>
        </a:solidFill>
      </p:bgPr>
    </p:bg>
    <p:spTree>
      <p:nvGrpSpPr>
        <p:cNvPr id="1" name=""/>
        <p:cNvGrpSpPr/>
        <p:nvPr/>
      </p:nvGrpSpPr>
      <p:grpSpPr>
        <a:xfrm>
          <a:off x="0" y="0"/>
          <a:ext cx="0" cy="0"/>
          <a:chOff x="0" y="0"/>
          <a:chExt cx="0" cy="0"/>
        </a:xfrm>
      </p:grpSpPr>
      <p:sp>
        <p:nvSpPr>
          <p:cNvPr id="2" name="Text 0"/>
          <p:cNvSpPr txBox="1"/>
          <p:nvPr/>
        </p:nvSpPr>
        <p:spPr>
          <a:xfrm>
            <a:off x="548640" y="347472"/>
            <a:ext cx="11091672" cy="237744"/>
          </a:xfrm>
          <a:prstGeom prst="rect">
            <a:avLst/>
          </a:prstGeom>
          <a:noFill/>
          <a:ln/>
        </p:spPr>
        <p:txBody>
          <a:bodyPr wrap="square" lIns="0" tIns="0" rIns="0" bIns="0" rtlCol="0" anchor="ctr"/>
          <a:lstStyle/>
          <a:p>
            <a:pPr indent="0" marL="0">
              <a:buNone/>
            </a:pPr>
            <a:r>
              <a:rPr lang="en-US" sz="1050" b="1" spc="200" kern="0" dirty="0">
                <a:solidFill>
                  <a:srgbClr val="E3B23C"/>
                </a:solidFill>
                <a:latin typeface="Calibri" pitchFamily="34" charset="0"/>
                <a:ea typeface="Calibri" pitchFamily="34" charset="-122"/>
                <a:cs typeface="Calibri" pitchFamily="34" charset="-120"/>
              </a:rPr>
              <a:t>CLIENTS TYPES</a:t>
            </a:r>
            <a:endParaRPr lang="en-US" sz="1050" dirty="0"/>
          </a:p>
        </p:txBody>
      </p:sp>
      <p:sp>
        <p:nvSpPr>
          <p:cNvPr id="3" name="Text 1"/>
          <p:cNvSpPr txBox="1"/>
          <p:nvPr/>
        </p:nvSpPr>
        <p:spPr>
          <a:xfrm>
            <a:off x="548640" y="603504"/>
            <a:ext cx="11091672" cy="566928"/>
          </a:xfrm>
          <a:prstGeom prst="rect">
            <a:avLst/>
          </a:prstGeom>
          <a:noFill/>
          <a:ln/>
        </p:spPr>
        <p:txBody>
          <a:bodyPr wrap="square" lIns="0" tIns="0" rIns="0" bIns="0" rtlCol="0" anchor="ctr"/>
          <a:lstStyle/>
          <a:p>
            <a:pPr indent="0" marL="0">
              <a:buNone/>
            </a:pPr>
            <a:r>
              <a:rPr lang="en-US" sz="3000" b="1" dirty="0">
                <a:solidFill>
                  <a:srgbClr val="E8EAED"/>
                </a:solidFill>
                <a:latin typeface="Arial Narrow" pitchFamily="34" charset="0"/>
                <a:ea typeface="Arial Narrow" pitchFamily="34" charset="-122"/>
                <a:cs typeface="Arial Narrow" pitchFamily="34" charset="-120"/>
              </a:rPr>
              <a:t>Trois profils, un même besoin : que le client suive le plan</a:t>
            </a:r>
            <a:endParaRPr lang="en-US" sz="3000" dirty="0"/>
          </a:p>
        </p:txBody>
      </p:sp>
      <p:sp>
        <p:nvSpPr>
          <p:cNvPr id="4" name="Shape 2"/>
          <p:cNvSpPr/>
          <p:nvPr/>
        </p:nvSpPr>
        <p:spPr>
          <a:xfrm>
            <a:off x="548640" y="1755648"/>
            <a:ext cx="3575304" cy="2944368"/>
          </a:xfrm>
          <a:prstGeom prst="roundRect">
            <a:avLst>
              <a:gd name="adj" fmla="val 2174"/>
            </a:avLst>
          </a:prstGeom>
          <a:solidFill>
            <a:srgbClr val="1D2026"/>
          </a:solidFill>
          <a:ln w="15875">
            <a:solidFill>
              <a:srgbClr val="E3B23C"/>
            </a:solidFill>
            <a:prstDash val="solid"/>
          </a:ln>
        </p:spPr>
      </p:sp>
      <p:sp>
        <p:nvSpPr>
          <p:cNvPr id="5" name="Shape 3"/>
          <p:cNvSpPr/>
          <p:nvPr/>
        </p:nvSpPr>
        <p:spPr>
          <a:xfrm>
            <a:off x="804672" y="1920240"/>
            <a:ext cx="1600200" cy="237744"/>
          </a:xfrm>
          <a:prstGeom prst="roundRect">
            <a:avLst>
              <a:gd name="adj" fmla="val 50000"/>
            </a:avLst>
          </a:prstGeom>
          <a:solidFill>
            <a:srgbClr val="23272E"/>
          </a:solidFill>
          <a:ln w="12700">
            <a:solidFill>
              <a:srgbClr val="E3B23C"/>
            </a:solidFill>
            <a:prstDash val="solid"/>
          </a:ln>
        </p:spPr>
      </p:sp>
      <p:sp>
        <p:nvSpPr>
          <p:cNvPr id="6" name="Text 4"/>
          <p:cNvSpPr txBox="1"/>
          <p:nvPr/>
        </p:nvSpPr>
        <p:spPr>
          <a:xfrm>
            <a:off x="804672" y="1920240"/>
            <a:ext cx="1600200" cy="237744"/>
          </a:xfrm>
          <a:prstGeom prst="rect">
            <a:avLst/>
          </a:prstGeom>
          <a:noFill/>
          <a:ln/>
        </p:spPr>
        <p:txBody>
          <a:bodyPr wrap="square" lIns="0" tIns="0" rIns="0" bIns="0" rtlCol="0" anchor="ctr"/>
          <a:lstStyle/>
          <a:p>
            <a:pPr algn="ctr" indent="0" marL="0">
              <a:buNone/>
            </a:pPr>
            <a:r>
              <a:rPr lang="en-US" sz="850" b="1" dirty="0">
                <a:solidFill>
                  <a:srgbClr val="E3B23C"/>
                </a:solidFill>
                <a:latin typeface="Calibri" pitchFamily="34" charset="0"/>
                <a:ea typeface="Calibri" pitchFamily="34" charset="-122"/>
                <a:cs typeface="Calibri" pitchFamily="34" charset="-120"/>
              </a:rPr>
              <a:t>CŒUR DE CIBLE</a:t>
            </a:r>
            <a:endParaRPr lang="en-US" sz="850" dirty="0"/>
          </a:p>
        </p:txBody>
      </p:sp>
      <p:sp>
        <p:nvSpPr>
          <p:cNvPr id="7" name="Text 5"/>
          <p:cNvSpPr txBox="1"/>
          <p:nvPr/>
        </p:nvSpPr>
        <p:spPr>
          <a:xfrm>
            <a:off x="804672" y="2267712"/>
            <a:ext cx="3063240" cy="384048"/>
          </a:xfrm>
          <a:prstGeom prst="rect">
            <a:avLst/>
          </a:prstGeom>
          <a:noFill/>
          <a:ln/>
        </p:spPr>
        <p:txBody>
          <a:bodyPr wrap="square" lIns="0" tIns="0" rIns="0" bIns="0" rtlCol="0" anchor="ctr"/>
          <a:lstStyle/>
          <a:p>
            <a:pPr indent="0" marL="0">
              <a:buNone/>
            </a:pPr>
            <a:r>
              <a:rPr lang="en-US" sz="2200" b="1" dirty="0">
                <a:solidFill>
                  <a:srgbClr val="E8EAED"/>
                </a:solidFill>
                <a:latin typeface="Arial Narrow" pitchFamily="34" charset="0"/>
                <a:ea typeface="Arial Narrow" pitchFamily="34" charset="-122"/>
                <a:cs typeface="Arial Narrow" pitchFamily="34" charset="-120"/>
              </a:rPr>
              <a:t>Le coach indépendant</a:t>
            </a:r>
            <a:endParaRPr lang="en-US" sz="2200" dirty="0"/>
          </a:p>
        </p:txBody>
      </p:sp>
      <p:sp>
        <p:nvSpPr>
          <p:cNvPr id="8" name="Text 6"/>
          <p:cNvSpPr txBox="1"/>
          <p:nvPr/>
        </p:nvSpPr>
        <p:spPr>
          <a:xfrm>
            <a:off x="804672" y="2688336"/>
            <a:ext cx="3063240" cy="1005840"/>
          </a:xfrm>
          <a:prstGeom prst="rect">
            <a:avLst/>
          </a:prstGeom>
          <a:noFill/>
          <a:ln/>
        </p:spPr>
        <p:txBody>
          <a:bodyPr wrap="square" lIns="0" tIns="0" rIns="0" bIns="0" rtlCol="0" anchor="t"/>
          <a:lstStyle/>
          <a:p>
            <a:pPr indent="0" marL="0">
              <a:lnSpc>
                <a:spcPts val="1700"/>
              </a:lnSpc>
              <a:buNone/>
            </a:pPr>
            <a:r>
              <a:rPr lang="en-US" sz="1150" dirty="0">
                <a:solidFill>
                  <a:srgbClr val="ADB2B9"/>
                </a:solidFill>
                <a:latin typeface="Calibri" pitchFamily="34" charset="0"/>
                <a:ea typeface="Calibri" pitchFamily="34" charset="-122"/>
                <a:cs typeface="Calibri" pitchFamily="34" charset="-120"/>
              </a:rPr>
              <a:t>Musculation, recomposition corporelle, 10 à 40 clients suivis à distance. Il fait aujourd'hui ses plans dans un tableur.</a:t>
            </a:r>
            <a:endParaRPr lang="en-US" sz="1150" dirty="0"/>
          </a:p>
        </p:txBody>
      </p:sp>
      <p:sp>
        <p:nvSpPr>
          <p:cNvPr id="9" name="Text 7"/>
          <p:cNvSpPr txBox="1"/>
          <p:nvPr/>
        </p:nvSpPr>
        <p:spPr>
          <a:xfrm>
            <a:off x="804672" y="3712464"/>
            <a:ext cx="3063240" cy="566928"/>
          </a:xfrm>
          <a:prstGeom prst="rect">
            <a:avLst/>
          </a:prstGeom>
          <a:noFill/>
          <a:ln/>
        </p:spPr>
        <p:txBody>
          <a:bodyPr wrap="square" lIns="0" tIns="0" rIns="0" bIns="0" rtlCol="0" anchor="t"/>
          <a:lstStyle/>
          <a:p>
            <a:pPr indent="0" marL="0">
              <a:lnSpc>
                <a:spcPts val="1600"/>
              </a:lnSpc>
              <a:buNone/>
            </a:pPr>
            <a:r>
              <a:rPr lang="en-US" sz="1150" b="1" dirty="0">
                <a:solidFill>
                  <a:srgbClr val="868E99"/>
                </a:solidFill>
                <a:latin typeface="Calibri" pitchFamily="34" charset="0"/>
                <a:ea typeface="Calibri" pitchFamily="34" charset="-122"/>
                <a:cs typeface="Calibri" pitchFamily="34" charset="-120"/>
              </a:rPr>
              <a:t>Il achète  </a:t>
            </a:r>
            <a:pPr indent="0" marL="0">
              <a:lnSpc>
                <a:spcPts val="1600"/>
              </a:lnSpc>
              <a:buNone/>
            </a:pPr>
            <a:r>
              <a:rPr lang="en-US" sz="1150" dirty="0">
                <a:solidFill>
                  <a:srgbClr val="E8EAED"/>
                </a:solidFill>
                <a:latin typeface="Calibri" pitchFamily="34" charset="0"/>
                <a:ea typeface="Calibri" pitchFamily="34" charset="-122"/>
                <a:cs typeface="Calibri" pitchFamily="34" charset="-120"/>
              </a:rPr>
              <a:t>du temps gagné et des clients qui obtiennent des résultats.</a:t>
            </a:r>
            <a:endParaRPr lang="en-US" sz="1150" dirty="0"/>
          </a:p>
        </p:txBody>
      </p:sp>
      <p:sp>
        <p:nvSpPr>
          <p:cNvPr id="10" name="Text 8"/>
          <p:cNvSpPr txBox="1"/>
          <p:nvPr/>
        </p:nvSpPr>
        <p:spPr>
          <a:xfrm>
            <a:off x="804672" y="4315968"/>
            <a:ext cx="3063240" cy="274320"/>
          </a:xfrm>
          <a:prstGeom prst="rect">
            <a:avLst/>
          </a:prstGeom>
          <a:noFill/>
          <a:ln/>
        </p:spPr>
        <p:txBody>
          <a:bodyPr wrap="square" lIns="0" tIns="0" rIns="0" bIns="0" rtlCol="0" anchor="ctr"/>
          <a:lstStyle/>
          <a:p>
            <a:pPr indent="0" marL="0">
              <a:buNone/>
            </a:pPr>
            <a:r>
              <a:rPr lang="en-US" sz="1150" b="1" dirty="0">
                <a:solidFill>
                  <a:srgbClr val="868E99"/>
                </a:solidFill>
                <a:latin typeface="Calibri" pitchFamily="34" charset="0"/>
                <a:ea typeface="Calibri" pitchFamily="34" charset="-122"/>
                <a:cs typeface="Calibri" pitchFamily="34" charset="-120"/>
              </a:rPr>
              <a:t>Formule  </a:t>
            </a:r>
            <a:pPr indent="0" marL="0">
              <a:buNone/>
            </a:pPr>
            <a:r>
              <a:rPr lang="en-US" sz="1150" b="1" dirty="0">
                <a:solidFill>
                  <a:srgbClr val="E3B23C"/>
                </a:solidFill>
                <a:latin typeface="Calibri" pitchFamily="34" charset="0"/>
                <a:ea typeface="Calibri" pitchFamily="34" charset="-122"/>
                <a:cs typeface="Calibri" pitchFamily="34" charset="-120"/>
              </a:rPr>
              <a:t>Solo ou Pro</a:t>
            </a:r>
            <a:endParaRPr lang="en-US" sz="1150" dirty="0"/>
          </a:p>
        </p:txBody>
      </p:sp>
      <p:sp>
        <p:nvSpPr>
          <p:cNvPr id="11" name="Shape 9"/>
          <p:cNvSpPr/>
          <p:nvPr/>
        </p:nvSpPr>
        <p:spPr>
          <a:xfrm>
            <a:off x="4306824" y="1755648"/>
            <a:ext cx="3575304" cy="2944368"/>
          </a:xfrm>
          <a:prstGeom prst="roundRect">
            <a:avLst>
              <a:gd name="adj" fmla="val 2174"/>
            </a:avLst>
          </a:prstGeom>
          <a:solidFill>
            <a:srgbClr val="1D2026"/>
          </a:solidFill>
          <a:ln w="9525">
            <a:solidFill>
              <a:srgbClr val="2F343D"/>
            </a:solidFill>
            <a:prstDash val="solid"/>
          </a:ln>
        </p:spPr>
      </p:sp>
      <p:sp>
        <p:nvSpPr>
          <p:cNvPr id="12" name="Shape 10"/>
          <p:cNvSpPr/>
          <p:nvPr/>
        </p:nvSpPr>
        <p:spPr>
          <a:xfrm>
            <a:off x="4562856" y="1920240"/>
            <a:ext cx="1600200" cy="237744"/>
          </a:xfrm>
          <a:prstGeom prst="roundRect">
            <a:avLst>
              <a:gd name="adj" fmla="val 50000"/>
            </a:avLst>
          </a:prstGeom>
          <a:solidFill>
            <a:srgbClr val="23272E"/>
          </a:solidFill>
          <a:ln w="12700">
            <a:solidFill>
              <a:srgbClr val="7BA7DD"/>
            </a:solidFill>
            <a:prstDash val="solid"/>
          </a:ln>
        </p:spPr>
      </p:sp>
      <p:sp>
        <p:nvSpPr>
          <p:cNvPr id="13" name="Text 11"/>
          <p:cNvSpPr txBox="1"/>
          <p:nvPr/>
        </p:nvSpPr>
        <p:spPr>
          <a:xfrm>
            <a:off x="4562856" y="1920240"/>
            <a:ext cx="1600200" cy="237744"/>
          </a:xfrm>
          <a:prstGeom prst="rect">
            <a:avLst/>
          </a:prstGeom>
          <a:noFill/>
          <a:ln/>
        </p:spPr>
        <p:txBody>
          <a:bodyPr wrap="square" lIns="0" tIns="0" rIns="0" bIns="0" rtlCol="0" anchor="ctr"/>
          <a:lstStyle/>
          <a:p>
            <a:pPr algn="ctr" indent="0" marL="0">
              <a:buNone/>
            </a:pPr>
            <a:r>
              <a:rPr lang="en-US" sz="850" b="1" dirty="0">
                <a:solidFill>
                  <a:srgbClr val="7BA7DD"/>
                </a:solidFill>
                <a:latin typeface="Calibri" pitchFamily="34" charset="0"/>
                <a:ea typeface="Calibri" pitchFamily="34" charset="-122"/>
                <a:cs typeface="Calibri" pitchFamily="34" charset="-120"/>
              </a:rPr>
              <a:t>DEUXIÈME CIBLE</a:t>
            </a:r>
            <a:endParaRPr lang="en-US" sz="850" dirty="0"/>
          </a:p>
        </p:txBody>
      </p:sp>
      <p:sp>
        <p:nvSpPr>
          <p:cNvPr id="14" name="Text 12"/>
          <p:cNvSpPr txBox="1"/>
          <p:nvPr/>
        </p:nvSpPr>
        <p:spPr>
          <a:xfrm>
            <a:off x="4562856" y="2267712"/>
            <a:ext cx="3063240" cy="384048"/>
          </a:xfrm>
          <a:prstGeom prst="rect">
            <a:avLst/>
          </a:prstGeom>
          <a:noFill/>
          <a:ln/>
        </p:spPr>
        <p:txBody>
          <a:bodyPr wrap="square" lIns="0" tIns="0" rIns="0" bIns="0" rtlCol="0" anchor="ctr"/>
          <a:lstStyle/>
          <a:p>
            <a:pPr indent="0" marL="0">
              <a:buNone/>
            </a:pPr>
            <a:r>
              <a:rPr lang="en-US" sz="2200" b="1" dirty="0">
                <a:solidFill>
                  <a:srgbClr val="E8EAED"/>
                </a:solidFill>
                <a:latin typeface="Arial Narrow" pitchFamily="34" charset="0"/>
                <a:ea typeface="Arial Narrow" pitchFamily="34" charset="-122"/>
                <a:cs typeface="Arial Narrow" pitchFamily="34" charset="-120"/>
              </a:rPr>
              <a:t>Le diététicien du sport</a:t>
            </a:r>
            <a:endParaRPr lang="en-US" sz="2200" dirty="0"/>
          </a:p>
        </p:txBody>
      </p:sp>
      <p:sp>
        <p:nvSpPr>
          <p:cNvPr id="15" name="Text 13"/>
          <p:cNvSpPr txBox="1"/>
          <p:nvPr/>
        </p:nvSpPr>
        <p:spPr>
          <a:xfrm>
            <a:off x="4562856" y="2688336"/>
            <a:ext cx="3063240" cy="1005840"/>
          </a:xfrm>
          <a:prstGeom prst="rect">
            <a:avLst/>
          </a:prstGeom>
          <a:noFill/>
          <a:ln/>
        </p:spPr>
        <p:txBody>
          <a:bodyPr wrap="square" lIns="0" tIns="0" rIns="0" bIns="0" rtlCol="0" anchor="t"/>
          <a:lstStyle/>
          <a:p>
            <a:pPr indent="0" marL="0">
              <a:lnSpc>
                <a:spcPts val="1700"/>
              </a:lnSpc>
              <a:buNone/>
            </a:pPr>
            <a:r>
              <a:rPr lang="en-US" sz="1150" dirty="0">
                <a:solidFill>
                  <a:srgbClr val="ADB2B9"/>
                </a:solidFill>
                <a:latin typeface="Calibri" pitchFamily="34" charset="0"/>
                <a:ea typeface="Calibri" pitchFamily="34" charset="-122"/>
                <a:cs typeface="Calibri" pitchFamily="34" charset="-120"/>
              </a:rPr>
              <a:t>Consultations en cabinet ou à distance, exige des valeurs nutritionnelles de référence et une méthode défendable.</a:t>
            </a:r>
            <a:endParaRPr lang="en-US" sz="1150" dirty="0"/>
          </a:p>
        </p:txBody>
      </p:sp>
      <p:sp>
        <p:nvSpPr>
          <p:cNvPr id="16" name="Text 14"/>
          <p:cNvSpPr txBox="1"/>
          <p:nvPr/>
        </p:nvSpPr>
        <p:spPr>
          <a:xfrm>
            <a:off x="4562856" y="3712464"/>
            <a:ext cx="3063240" cy="566928"/>
          </a:xfrm>
          <a:prstGeom prst="rect">
            <a:avLst/>
          </a:prstGeom>
          <a:noFill/>
          <a:ln/>
        </p:spPr>
        <p:txBody>
          <a:bodyPr wrap="square" lIns="0" tIns="0" rIns="0" bIns="0" rtlCol="0" anchor="t"/>
          <a:lstStyle/>
          <a:p>
            <a:pPr indent="0" marL="0">
              <a:lnSpc>
                <a:spcPts val="1600"/>
              </a:lnSpc>
              <a:buNone/>
            </a:pPr>
            <a:r>
              <a:rPr lang="en-US" sz="1150" b="1" dirty="0">
                <a:solidFill>
                  <a:srgbClr val="868E99"/>
                </a:solidFill>
                <a:latin typeface="Calibri" pitchFamily="34" charset="0"/>
                <a:ea typeface="Calibri" pitchFamily="34" charset="-122"/>
                <a:cs typeface="Calibri" pitchFamily="34" charset="-120"/>
              </a:rPr>
              <a:t>Il achète  </a:t>
            </a:r>
            <a:pPr indent="0" marL="0">
              <a:lnSpc>
                <a:spcPts val="1600"/>
              </a:lnSpc>
              <a:buNone/>
            </a:pPr>
            <a:r>
              <a:rPr lang="en-US" sz="1150" dirty="0">
                <a:solidFill>
                  <a:srgbClr val="E8EAED"/>
                </a:solidFill>
                <a:latin typeface="Calibri" pitchFamily="34" charset="0"/>
                <a:ea typeface="Calibri" pitchFamily="34" charset="-122"/>
                <a:cs typeface="Calibri" pitchFamily="34" charset="-120"/>
              </a:rPr>
              <a:t>la rigueur CIQUAL et la convention européenne.</a:t>
            </a:r>
            <a:endParaRPr lang="en-US" sz="1150" dirty="0"/>
          </a:p>
        </p:txBody>
      </p:sp>
      <p:sp>
        <p:nvSpPr>
          <p:cNvPr id="17" name="Text 15"/>
          <p:cNvSpPr txBox="1"/>
          <p:nvPr/>
        </p:nvSpPr>
        <p:spPr>
          <a:xfrm>
            <a:off x="4562856" y="4315968"/>
            <a:ext cx="3063240" cy="274320"/>
          </a:xfrm>
          <a:prstGeom prst="rect">
            <a:avLst/>
          </a:prstGeom>
          <a:noFill/>
          <a:ln/>
        </p:spPr>
        <p:txBody>
          <a:bodyPr wrap="square" lIns="0" tIns="0" rIns="0" bIns="0" rtlCol="0" anchor="ctr"/>
          <a:lstStyle/>
          <a:p>
            <a:pPr indent="0" marL="0">
              <a:buNone/>
            </a:pPr>
            <a:r>
              <a:rPr lang="en-US" sz="1150" b="1" dirty="0">
                <a:solidFill>
                  <a:srgbClr val="868E99"/>
                </a:solidFill>
                <a:latin typeface="Calibri" pitchFamily="34" charset="0"/>
                <a:ea typeface="Calibri" pitchFamily="34" charset="-122"/>
                <a:cs typeface="Calibri" pitchFamily="34" charset="-120"/>
              </a:rPr>
              <a:t>Formule  </a:t>
            </a:r>
            <a:pPr indent="0" marL="0">
              <a:buNone/>
            </a:pPr>
            <a:r>
              <a:rPr lang="en-US" sz="1150" b="1" dirty="0">
                <a:solidFill>
                  <a:srgbClr val="E3B23C"/>
                </a:solidFill>
                <a:latin typeface="Calibri" pitchFamily="34" charset="0"/>
                <a:ea typeface="Calibri" pitchFamily="34" charset="-122"/>
                <a:cs typeface="Calibri" pitchFamily="34" charset="-120"/>
              </a:rPr>
              <a:t>Pro</a:t>
            </a:r>
            <a:endParaRPr lang="en-US" sz="1150" dirty="0"/>
          </a:p>
        </p:txBody>
      </p:sp>
      <p:sp>
        <p:nvSpPr>
          <p:cNvPr id="18" name="Shape 16"/>
          <p:cNvSpPr/>
          <p:nvPr/>
        </p:nvSpPr>
        <p:spPr>
          <a:xfrm>
            <a:off x="8065008" y="1755648"/>
            <a:ext cx="3575304" cy="2944368"/>
          </a:xfrm>
          <a:prstGeom prst="roundRect">
            <a:avLst>
              <a:gd name="adj" fmla="val 2174"/>
            </a:avLst>
          </a:prstGeom>
          <a:solidFill>
            <a:srgbClr val="1D2026"/>
          </a:solidFill>
          <a:ln w="9525">
            <a:solidFill>
              <a:srgbClr val="2F343D"/>
            </a:solidFill>
            <a:prstDash val="solid"/>
          </a:ln>
        </p:spPr>
      </p:sp>
      <p:sp>
        <p:nvSpPr>
          <p:cNvPr id="19" name="Shape 17"/>
          <p:cNvSpPr/>
          <p:nvPr/>
        </p:nvSpPr>
        <p:spPr>
          <a:xfrm>
            <a:off x="8321040" y="1920240"/>
            <a:ext cx="1600200" cy="237744"/>
          </a:xfrm>
          <a:prstGeom prst="roundRect">
            <a:avLst>
              <a:gd name="adj" fmla="val 50000"/>
            </a:avLst>
          </a:prstGeom>
          <a:solidFill>
            <a:srgbClr val="23272E"/>
          </a:solidFill>
          <a:ln w="12700">
            <a:solidFill>
              <a:srgbClr val="868E99"/>
            </a:solidFill>
            <a:prstDash val="solid"/>
          </a:ln>
        </p:spPr>
      </p:sp>
      <p:sp>
        <p:nvSpPr>
          <p:cNvPr id="20" name="Text 18"/>
          <p:cNvSpPr txBox="1"/>
          <p:nvPr/>
        </p:nvSpPr>
        <p:spPr>
          <a:xfrm>
            <a:off x="8321040" y="1920240"/>
            <a:ext cx="1600200" cy="237744"/>
          </a:xfrm>
          <a:prstGeom prst="rect">
            <a:avLst/>
          </a:prstGeom>
          <a:noFill/>
          <a:ln/>
        </p:spPr>
        <p:txBody>
          <a:bodyPr wrap="square" lIns="0" tIns="0" rIns="0" bIns="0" rtlCol="0" anchor="ctr"/>
          <a:lstStyle/>
          <a:p>
            <a:pPr algn="ctr" indent="0" marL="0">
              <a:buNone/>
            </a:pPr>
            <a:r>
              <a:rPr lang="en-US" sz="850" b="1" dirty="0">
                <a:solidFill>
                  <a:srgbClr val="868E99"/>
                </a:solidFill>
                <a:latin typeface="Calibri" pitchFamily="34" charset="0"/>
                <a:ea typeface="Calibri" pitchFamily="34" charset="-122"/>
                <a:cs typeface="Calibri" pitchFamily="34" charset="-120"/>
              </a:rPr>
              <a:t>ANNÉE 2 ET SUIVANTES</a:t>
            </a:r>
            <a:endParaRPr lang="en-US" sz="850" dirty="0"/>
          </a:p>
        </p:txBody>
      </p:sp>
      <p:sp>
        <p:nvSpPr>
          <p:cNvPr id="21" name="Text 19"/>
          <p:cNvSpPr txBox="1"/>
          <p:nvPr/>
        </p:nvSpPr>
        <p:spPr>
          <a:xfrm>
            <a:off x="8321040" y="2267712"/>
            <a:ext cx="3063240" cy="384048"/>
          </a:xfrm>
          <a:prstGeom prst="rect">
            <a:avLst/>
          </a:prstGeom>
          <a:noFill/>
          <a:ln/>
        </p:spPr>
        <p:txBody>
          <a:bodyPr wrap="square" lIns="0" tIns="0" rIns="0" bIns="0" rtlCol="0" anchor="ctr"/>
          <a:lstStyle/>
          <a:p>
            <a:pPr indent="0" marL="0">
              <a:buNone/>
            </a:pPr>
            <a:r>
              <a:rPr lang="en-US" sz="2200" b="1" dirty="0">
                <a:solidFill>
                  <a:srgbClr val="E8EAED"/>
                </a:solidFill>
                <a:latin typeface="Arial Narrow" pitchFamily="34" charset="0"/>
                <a:ea typeface="Arial Narrow" pitchFamily="34" charset="-122"/>
                <a:cs typeface="Arial Narrow" pitchFamily="34" charset="-120"/>
              </a:rPr>
              <a:t>Le petit studio</a:t>
            </a:r>
            <a:endParaRPr lang="en-US" sz="2200" dirty="0"/>
          </a:p>
        </p:txBody>
      </p:sp>
      <p:sp>
        <p:nvSpPr>
          <p:cNvPr id="22" name="Text 20"/>
          <p:cNvSpPr txBox="1"/>
          <p:nvPr/>
        </p:nvSpPr>
        <p:spPr>
          <a:xfrm>
            <a:off x="8321040" y="2688336"/>
            <a:ext cx="3063240" cy="1005840"/>
          </a:xfrm>
          <a:prstGeom prst="rect">
            <a:avLst/>
          </a:prstGeom>
          <a:noFill/>
          <a:ln/>
        </p:spPr>
        <p:txBody>
          <a:bodyPr wrap="square" lIns="0" tIns="0" rIns="0" bIns="0" rtlCol="0" anchor="t"/>
          <a:lstStyle/>
          <a:p>
            <a:pPr indent="0" marL="0">
              <a:lnSpc>
                <a:spcPts val="1700"/>
              </a:lnSpc>
              <a:buNone/>
            </a:pPr>
            <a:r>
              <a:rPr lang="en-US" sz="1150" dirty="0">
                <a:solidFill>
                  <a:srgbClr val="ADB2B9"/>
                </a:solidFill>
                <a:latin typeface="Calibri" pitchFamily="34" charset="0"/>
                <a:ea typeface="Calibri" pitchFamily="34" charset="-122"/>
                <a:cs typeface="Calibri" pitchFamily="34" charset="-120"/>
              </a:rPr>
              <a:t>Deux à cinq coachs, une clientèle partagée, un besoin d'outil commun et de vue d'ensemble.</a:t>
            </a:r>
            <a:endParaRPr lang="en-US" sz="1150" dirty="0"/>
          </a:p>
        </p:txBody>
      </p:sp>
      <p:sp>
        <p:nvSpPr>
          <p:cNvPr id="23" name="Text 21"/>
          <p:cNvSpPr txBox="1"/>
          <p:nvPr/>
        </p:nvSpPr>
        <p:spPr>
          <a:xfrm>
            <a:off x="8321040" y="3712464"/>
            <a:ext cx="3063240" cy="566928"/>
          </a:xfrm>
          <a:prstGeom prst="rect">
            <a:avLst/>
          </a:prstGeom>
          <a:noFill/>
          <a:ln/>
        </p:spPr>
        <p:txBody>
          <a:bodyPr wrap="square" lIns="0" tIns="0" rIns="0" bIns="0" rtlCol="0" anchor="t"/>
          <a:lstStyle/>
          <a:p>
            <a:pPr indent="0" marL="0">
              <a:lnSpc>
                <a:spcPts val="1600"/>
              </a:lnSpc>
              <a:buNone/>
            </a:pPr>
            <a:r>
              <a:rPr lang="en-US" sz="1150" b="1" dirty="0">
                <a:solidFill>
                  <a:srgbClr val="868E99"/>
                </a:solidFill>
                <a:latin typeface="Calibri" pitchFamily="34" charset="0"/>
                <a:ea typeface="Calibri" pitchFamily="34" charset="-122"/>
                <a:cs typeface="Calibri" pitchFamily="34" charset="-120"/>
              </a:rPr>
              <a:t>Il achète  </a:t>
            </a:r>
            <a:pPr indent="0" marL="0">
              <a:lnSpc>
                <a:spcPts val="1600"/>
              </a:lnSpc>
              <a:buNone/>
            </a:pPr>
            <a:r>
              <a:rPr lang="en-US" sz="1150" dirty="0">
                <a:solidFill>
                  <a:srgbClr val="E8EAED"/>
                </a:solidFill>
                <a:latin typeface="Calibri" pitchFamily="34" charset="0"/>
                <a:ea typeface="Calibri" pitchFamily="34" charset="-122"/>
                <a:cs typeface="Calibri" pitchFamily="34" charset="-120"/>
              </a:rPr>
              <a:t>un outil unique pour l'équipe.</a:t>
            </a:r>
            <a:endParaRPr lang="en-US" sz="1150" dirty="0"/>
          </a:p>
        </p:txBody>
      </p:sp>
      <p:sp>
        <p:nvSpPr>
          <p:cNvPr id="24" name="Text 22"/>
          <p:cNvSpPr txBox="1"/>
          <p:nvPr/>
        </p:nvSpPr>
        <p:spPr>
          <a:xfrm>
            <a:off x="8321040" y="4315968"/>
            <a:ext cx="3063240" cy="274320"/>
          </a:xfrm>
          <a:prstGeom prst="rect">
            <a:avLst/>
          </a:prstGeom>
          <a:noFill/>
          <a:ln/>
        </p:spPr>
        <p:txBody>
          <a:bodyPr wrap="square" lIns="0" tIns="0" rIns="0" bIns="0" rtlCol="0" anchor="ctr"/>
          <a:lstStyle/>
          <a:p>
            <a:pPr indent="0" marL="0">
              <a:buNone/>
            </a:pPr>
            <a:r>
              <a:rPr lang="en-US" sz="1150" b="1" dirty="0">
                <a:solidFill>
                  <a:srgbClr val="868E99"/>
                </a:solidFill>
                <a:latin typeface="Calibri" pitchFamily="34" charset="0"/>
                <a:ea typeface="Calibri" pitchFamily="34" charset="-122"/>
                <a:cs typeface="Calibri" pitchFamily="34" charset="-120"/>
              </a:rPr>
              <a:t>Formule  </a:t>
            </a:r>
            <a:pPr indent="0" marL="0">
              <a:buNone/>
            </a:pPr>
            <a:r>
              <a:rPr lang="en-US" sz="1150" b="1" dirty="0">
                <a:solidFill>
                  <a:srgbClr val="E3B23C"/>
                </a:solidFill>
                <a:latin typeface="Calibri" pitchFamily="34" charset="0"/>
                <a:ea typeface="Calibri" pitchFamily="34" charset="-122"/>
                <a:cs typeface="Calibri" pitchFamily="34" charset="-120"/>
              </a:rPr>
              <a:t>Studio</a:t>
            </a:r>
            <a:endParaRPr lang="en-US" sz="1150" dirty="0"/>
          </a:p>
        </p:txBody>
      </p:sp>
      <p:sp>
        <p:nvSpPr>
          <p:cNvPr id="25" name="Shape 23"/>
          <p:cNvSpPr/>
          <p:nvPr/>
        </p:nvSpPr>
        <p:spPr>
          <a:xfrm>
            <a:off x="548640" y="4956048"/>
            <a:ext cx="11091672" cy="749808"/>
          </a:xfrm>
          <a:prstGeom prst="roundRect">
            <a:avLst>
              <a:gd name="adj" fmla="val 8537"/>
            </a:avLst>
          </a:prstGeom>
          <a:solidFill>
            <a:srgbClr val="23272E"/>
          </a:solidFill>
          <a:ln w="9525">
            <a:solidFill>
              <a:srgbClr val="2F343D"/>
            </a:solidFill>
            <a:prstDash val="solid"/>
          </a:ln>
        </p:spPr>
      </p:sp>
      <p:sp>
        <p:nvSpPr>
          <p:cNvPr id="26" name="Text 24"/>
          <p:cNvSpPr txBox="1"/>
          <p:nvPr/>
        </p:nvSpPr>
        <p:spPr>
          <a:xfrm>
            <a:off x="877824" y="4956048"/>
            <a:ext cx="10433304" cy="749808"/>
          </a:xfrm>
          <a:prstGeom prst="rect">
            <a:avLst/>
          </a:prstGeom>
          <a:noFill/>
          <a:ln/>
        </p:spPr>
        <p:txBody>
          <a:bodyPr wrap="square" lIns="0" tIns="0" rIns="0" bIns="0" rtlCol="0" anchor="ctr"/>
          <a:lstStyle/>
          <a:p>
            <a:pPr indent="0" marL="0">
              <a:buNone/>
            </a:pPr>
            <a:r>
              <a:rPr lang="en-US" sz="1300" dirty="0">
                <a:solidFill>
                  <a:srgbClr val="ADB2B9"/>
                </a:solidFill>
                <a:latin typeface="Calibri" pitchFamily="34" charset="0"/>
                <a:ea typeface="Calibri" pitchFamily="34" charset="-122"/>
                <a:cs typeface="Calibri" pitchFamily="34" charset="-120"/>
              </a:rPr>
              <a:t>Le client final n'est pas l'acheteur, mais c'est lui qui utilise l'application tous les jours : c'est l'expérience du client qui fera rester le professionnel.</a:t>
            </a:r>
            <a:endParaRPr lang="en-US" sz="1300" dirty="0"/>
          </a:p>
        </p:txBody>
      </p:sp>
      <p:sp>
        <p:nvSpPr>
          <p:cNvPr id="27" name="Text 25"/>
          <p:cNvSpPr txBox="1"/>
          <p:nvPr/>
        </p:nvSpPr>
        <p:spPr>
          <a:xfrm>
            <a:off x="548640" y="5961888"/>
            <a:ext cx="11091672" cy="310896"/>
          </a:xfrm>
          <a:prstGeom prst="rect">
            <a:avLst/>
          </a:prstGeom>
          <a:noFill/>
          <a:ln/>
        </p:spPr>
        <p:txBody>
          <a:bodyPr wrap="square" lIns="0" tIns="0" rIns="0" bIns="0" rtlCol="0" anchor="ctr"/>
          <a:lstStyle/>
          <a:p>
            <a:pPr indent="0" marL="0">
              <a:buNone/>
            </a:pPr>
            <a:r>
              <a:rPr lang="en-US" sz="950" i="1" dirty="0">
                <a:solidFill>
                  <a:srgbClr val="868E99"/>
                </a:solidFill>
                <a:latin typeface="Calibri" pitchFamily="34" charset="0"/>
                <a:ea typeface="Calibri" pitchFamily="34" charset="-122"/>
                <a:cs typeface="Calibri" pitchFamily="34" charset="-120"/>
              </a:rPr>
              <a:t>Profils à confirmer lors des dix entretiens du mois 1</a:t>
            </a:r>
            <a:endParaRPr lang="en-US" sz="950" dirty="0"/>
          </a:p>
        </p:txBody>
      </p:sp>
      <p:sp>
        <p:nvSpPr>
          <p:cNvPr id="28" name="Text 26"/>
          <p:cNvSpPr txBox="1"/>
          <p:nvPr/>
        </p:nvSpPr>
        <p:spPr>
          <a:xfrm>
            <a:off x="548640" y="6336792"/>
            <a:ext cx="8229600" cy="274320"/>
          </a:xfrm>
          <a:prstGeom prst="rect">
            <a:avLst/>
          </a:prstGeom>
          <a:noFill/>
          <a:ln/>
        </p:spPr>
        <p:txBody>
          <a:bodyPr wrap="square" lIns="0" tIns="0" rIns="0" bIns="0" rtlCol="0" anchor="ctr"/>
          <a:lstStyle/>
          <a:p>
            <a:pPr algn="l" indent="0" marL="0">
              <a:buNone/>
            </a:pPr>
            <a:r>
              <a:rPr lang="en-US" sz="900" dirty="0">
                <a:solidFill>
                  <a:srgbClr val="868E99"/>
                </a:solidFill>
                <a:latin typeface="Calibri" pitchFamily="34" charset="0"/>
                <a:ea typeface="Calibri" pitchFamily="34" charset="-122"/>
                <a:cs typeface="Calibri" pitchFamily="34" charset="-120"/>
              </a:rPr>
              <a:t>fitcarnet Pro · business plan · 21 septembre 2026</a:t>
            </a:r>
            <a:endParaRPr lang="en-US" sz="900" dirty="0"/>
          </a:p>
        </p:txBody>
      </p:sp>
      <p:sp>
        <p:nvSpPr>
          <p:cNvPr id="29" name="Text 27"/>
          <p:cNvSpPr txBox="1"/>
          <p:nvPr/>
        </p:nvSpPr>
        <p:spPr>
          <a:xfrm>
            <a:off x="8897112" y="6336792"/>
            <a:ext cx="2743200" cy="274320"/>
          </a:xfrm>
          <a:prstGeom prst="rect">
            <a:avLst/>
          </a:prstGeom>
          <a:noFill/>
          <a:ln/>
        </p:spPr>
        <p:txBody>
          <a:bodyPr wrap="square" lIns="0" tIns="0" rIns="0" bIns="0" rtlCol="0" anchor="ctr"/>
          <a:lstStyle/>
          <a:p>
            <a:pPr algn="r" indent="0" marL="0">
              <a:buNone/>
            </a:pPr>
            <a:r>
              <a:rPr lang="en-US" sz="900" dirty="0">
                <a:solidFill>
                  <a:srgbClr val="868E99"/>
                </a:solidFill>
                <a:latin typeface="Calibri" pitchFamily="34" charset="0"/>
                <a:ea typeface="Calibri" pitchFamily="34" charset="-122"/>
                <a:cs typeface="Calibri" pitchFamily="34" charset="-120"/>
              </a:rPr>
              <a:t>04 / 24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161A"/>
        </a:solidFill>
      </p:bgPr>
    </p:bg>
    <p:spTree>
      <p:nvGrpSpPr>
        <p:cNvPr id="1" name=""/>
        <p:cNvGrpSpPr/>
        <p:nvPr/>
      </p:nvGrpSpPr>
      <p:grpSpPr>
        <a:xfrm>
          <a:off x="0" y="0"/>
          <a:ext cx="0" cy="0"/>
          <a:chOff x="0" y="0"/>
          <a:chExt cx="0" cy="0"/>
        </a:xfrm>
      </p:grpSpPr>
      <p:sp>
        <p:nvSpPr>
          <p:cNvPr id="2" name="Text 0"/>
          <p:cNvSpPr txBox="1"/>
          <p:nvPr/>
        </p:nvSpPr>
        <p:spPr>
          <a:xfrm>
            <a:off x="548640" y="347472"/>
            <a:ext cx="11091672" cy="237744"/>
          </a:xfrm>
          <a:prstGeom prst="rect">
            <a:avLst/>
          </a:prstGeom>
          <a:noFill/>
          <a:ln/>
        </p:spPr>
        <p:txBody>
          <a:bodyPr wrap="square" lIns="0" tIns="0" rIns="0" bIns="0" rtlCol="0" anchor="ctr"/>
          <a:lstStyle/>
          <a:p>
            <a:pPr indent="0" marL="0">
              <a:buNone/>
            </a:pPr>
            <a:r>
              <a:rPr lang="en-US" sz="1050" b="1" spc="200" kern="0" dirty="0">
                <a:solidFill>
                  <a:srgbClr val="E3B23C"/>
                </a:solidFill>
                <a:latin typeface="Calibri" pitchFamily="34" charset="0"/>
                <a:ea typeface="Calibri" pitchFamily="34" charset="-122"/>
                <a:cs typeface="Calibri" pitchFamily="34" charset="-120"/>
              </a:rPr>
              <a:t>LA SOLUTION</a:t>
            </a:r>
            <a:endParaRPr lang="en-US" sz="1050" dirty="0"/>
          </a:p>
        </p:txBody>
      </p:sp>
      <p:sp>
        <p:nvSpPr>
          <p:cNvPr id="3" name="Text 1"/>
          <p:cNvSpPr txBox="1"/>
          <p:nvPr/>
        </p:nvSpPr>
        <p:spPr>
          <a:xfrm>
            <a:off x="548640" y="603504"/>
            <a:ext cx="11091672" cy="566928"/>
          </a:xfrm>
          <a:prstGeom prst="rect">
            <a:avLst/>
          </a:prstGeom>
          <a:noFill/>
          <a:ln/>
        </p:spPr>
        <p:txBody>
          <a:bodyPr wrap="square" lIns="0" tIns="0" rIns="0" bIns="0" rtlCol="0" anchor="ctr"/>
          <a:lstStyle/>
          <a:p>
            <a:pPr indent="0" marL="0">
              <a:buNone/>
            </a:pPr>
            <a:r>
              <a:rPr lang="en-US" sz="3000" b="1" dirty="0">
                <a:solidFill>
                  <a:srgbClr val="E8EAED"/>
                </a:solidFill>
                <a:latin typeface="Arial Narrow" pitchFamily="34" charset="0"/>
                <a:ea typeface="Arial Narrow" pitchFamily="34" charset="-122"/>
                <a:cs typeface="Arial Narrow" pitchFamily="34" charset="-120"/>
              </a:rPr>
              <a:t>Des cibles, un stock, des grammages à peser</a:t>
            </a:r>
            <a:endParaRPr lang="en-US" sz="3000" dirty="0"/>
          </a:p>
        </p:txBody>
      </p:sp>
      <p:sp>
        <p:nvSpPr>
          <p:cNvPr id="4" name="Shape 2"/>
          <p:cNvSpPr/>
          <p:nvPr/>
        </p:nvSpPr>
        <p:spPr>
          <a:xfrm>
            <a:off x="548640" y="1901952"/>
            <a:ext cx="128016" cy="32004"/>
          </a:xfrm>
          <a:prstGeom prst="rect">
            <a:avLst/>
          </a:prstGeom>
          <a:solidFill>
            <a:srgbClr val="E3B23C"/>
          </a:solidFill>
          <a:ln w="12700">
            <a:solidFill>
              <a:srgbClr val="E3B23C"/>
            </a:solidFill>
            <a:prstDash val="solid"/>
          </a:ln>
        </p:spPr>
      </p:sp>
      <p:sp>
        <p:nvSpPr>
          <p:cNvPr id="5" name="Text 3"/>
          <p:cNvSpPr txBox="1"/>
          <p:nvPr/>
        </p:nvSpPr>
        <p:spPr>
          <a:xfrm>
            <a:off x="804672" y="1755648"/>
            <a:ext cx="5687568" cy="749808"/>
          </a:xfrm>
          <a:prstGeom prst="rect">
            <a:avLst/>
          </a:prstGeom>
          <a:noFill/>
          <a:ln/>
        </p:spPr>
        <p:txBody>
          <a:bodyPr wrap="square" lIns="0" tIns="0" rIns="0" bIns="0" rtlCol="0" anchor="t"/>
          <a:lstStyle/>
          <a:p>
            <a:pPr indent="0" marL="0">
              <a:buNone/>
            </a:pPr>
            <a:r>
              <a:rPr lang="en-US" sz="1350" b="1" dirty="0">
                <a:solidFill>
                  <a:srgbClr val="E8EAED"/>
                </a:solidFill>
                <a:latin typeface="Calibri" pitchFamily="34" charset="0"/>
                <a:ea typeface="Calibri" pitchFamily="34" charset="-122"/>
                <a:cs typeface="Calibri" pitchFamily="34" charset="-120"/>
              </a:rPr>
              <a:t>Calculateur de repas. </a:t>
            </a:r>
            <a:pPr indent="0" marL="0">
              <a:buNone/>
            </a:pPr>
            <a:r>
              <a:rPr lang="en-US" sz="1350" dirty="0">
                <a:solidFill>
                  <a:srgbClr val="ADB2B9"/>
                </a:solidFill>
                <a:latin typeface="Calibri" pitchFamily="34" charset="0"/>
                <a:ea typeface="Calibri" pitchFamily="34" charset="-122"/>
                <a:cs typeface="Calibri" pitchFamily="34" charset="-120"/>
              </a:rPr>
              <a:t>Le coach fixe les cibles par repas ; l'application rend les quantités que le client peut réellement cuisiner, et explique tout écart à la cible.</a:t>
            </a:r>
            <a:endParaRPr lang="en-US" sz="1350" dirty="0"/>
          </a:p>
        </p:txBody>
      </p:sp>
      <p:sp>
        <p:nvSpPr>
          <p:cNvPr id="6" name="Shape 4"/>
          <p:cNvSpPr/>
          <p:nvPr/>
        </p:nvSpPr>
        <p:spPr>
          <a:xfrm>
            <a:off x="548640" y="2651760"/>
            <a:ext cx="128016" cy="32004"/>
          </a:xfrm>
          <a:prstGeom prst="rect">
            <a:avLst/>
          </a:prstGeom>
          <a:solidFill>
            <a:srgbClr val="E3B23C"/>
          </a:solidFill>
          <a:ln w="12700">
            <a:solidFill>
              <a:srgbClr val="E3B23C"/>
            </a:solidFill>
            <a:prstDash val="solid"/>
          </a:ln>
        </p:spPr>
      </p:sp>
      <p:sp>
        <p:nvSpPr>
          <p:cNvPr id="7" name="Text 5"/>
          <p:cNvSpPr txBox="1"/>
          <p:nvPr/>
        </p:nvSpPr>
        <p:spPr>
          <a:xfrm>
            <a:off x="804672" y="2505456"/>
            <a:ext cx="5687568" cy="749808"/>
          </a:xfrm>
          <a:prstGeom prst="rect">
            <a:avLst/>
          </a:prstGeom>
          <a:noFill/>
          <a:ln/>
        </p:spPr>
        <p:txBody>
          <a:bodyPr wrap="square" lIns="0" tIns="0" rIns="0" bIns="0" rtlCol="0" anchor="t"/>
          <a:lstStyle/>
          <a:p>
            <a:pPr indent="0" marL="0">
              <a:buNone/>
            </a:pPr>
            <a:r>
              <a:rPr lang="en-US" sz="1350" b="1" dirty="0">
                <a:solidFill>
                  <a:srgbClr val="E8EAED"/>
                </a:solidFill>
                <a:latin typeface="Calibri" pitchFamily="34" charset="0"/>
                <a:ea typeface="Calibri" pitchFamily="34" charset="-122"/>
                <a:cs typeface="Calibri" pitchFamily="34" charset="-120"/>
              </a:rPr>
              <a:t>Batch cooking. </a:t>
            </a:r>
            <a:pPr indent="0" marL="0">
              <a:buNone/>
            </a:pPr>
            <a:r>
              <a:rPr lang="en-US" sz="1350" dirty="0">
                <a:solidFill>
                  <a:srgbClr val="ADB2B9"/>
                </a:solidFill>
                <a:latin typeface="Calibri" pitchFamily="34" charset="0"/>
                <a:ea typeface="Calibri" pitchFamily="34" charset="-122"/>
                <a:cs typeface="Calibri" pitchFamily="34" charset="-120"/>
              </a:rPr>
              <a:t>Plusieurs jours d'un coup : fournées par façon de cuire, répartition en boîtes, liste de courses.</a:t>
            </a:r>
            <a:endParaRPr lang="en-US" sz="1350" dirty="0"/>
          </a:p>
        </p:txBody>
      </p:sp>
      <p:sp>
        <p:nvSpPr>
          <p:cNvPr id="8" name="Shape 6"/>
          <p:cNvSpPr/>
          <p:nvPr/>
        </p:nvSpPr>
        <p:spPr>
          <a:xfrm>
            <a:off x="548640" y="3401568"/>
            <a:ext cx="128016" cy="32004"/>
          </a:xfrm>
          <a:prstGeom prst="rect">
            <a:avLst/>
          </a:prstGeom>
          <a:solidFill>
            <a:srgbClr val="E3B23C"/>
          </a:solidFill>
          <a:ln w="12700">
            <a:solidFill>
              <a:srgbClr val="E3B23C"/>
            </a:solidFill>
            <a:prstDash val="solid"/>
          </a:ln>
        </p:spPr>
      </p:sp>
      <p:sp>
        <p:nvSpPr>
          <p:cNvPr id="9" name="Text 7"/>
          <p:cNvSpPr txBox="1"/>
          <p:nvPr/>
        </p:nvSpPr>
        <p:spPr>
          <a:xfrm>
            <a:off x="804672" y="3255264"/>
            <a:ext cx="5687568" cy="749808"/>
          </a:xfrm>
          <a:prstGeom prst="rect">
            <a:avLst/>
          </a:prstGeom>
          <a:noFill/>
          <a:ln/>
        </p:spPr>
        <p:txBody>
          <a:bodyPr wrap="square" lIns="0" tIns="0" rIns="0" bIns="0" rtlCol="0" anchor="t"/>
          <a:lstStyle/>
          <a:p>
            <a:pPr indent="0" marL="0">
              <a:buNone/>
            </a:pPr>
            <a:r>
              <a:rPr lang="en-US" sz="1350" b="1" dirty="0">
                <a:solidFill>
                  <a:srgbClr val="E8EAED"/>
                </a:solidFill>
                <a:latin typeface="Calibri" pitchFamily="34" charset="0"/>
                <a:ea typeface="Calibri" pitchFamily="34" charset="-122"/>
                <a:cs typeface="Calibri" pitchFamily="34" charset="-120"/>
              </a:rPr>
              <a:t>Frigo et inventaire. </a:t>
            </a:r>
            <a:pPr indent="0" marL="0">
              <a:buNone/>
            </a:pPr>
            <a:r>
              <a:rPr lang="en-US" sz="1350" dirty="0">
                <a:solidFill>
                  <a:srgbClr val="ADB2B9"/>
                </a:solidFill>
                <a:latin typeface="Calibri" pitchFamily="34" charset="0"/>
                <a:ea typeface="Calibri" pitchFamily="34" charset="-122"/>
                <a:cs typeface="Calibri" pitchFamily="34" charset="-120"/>
              </a:rPr>
              <a:t>Le stock du client, tenu dans l'application ou synchronisé avec Grocy.</a:t>
            </a:r>
            <a:endParaRPr lang="en-US" sz="1350" dirty="0"/>
          </a:p>
        </p:txBody>
      </p:sp>
      <p:sp>
        <p:nvSpPr>
          <p:cNvPr id="10" name="Shape 8"/>
          <p:cNvSpPr/>
          <p:nvPr/>
        </p:nvSpPr>
        <p:spPr>
          <a:xfrm>
            <a:off x="548640" y="4151376"/>
            <a:ext cx="128016" cy="32004"/>
          </a:xfrm>
          <a:prstGeom prst="rect">
            <a:avLst/>
          </a:prstGeom>
          <a:solidFill>
            <a:srgbClr val="E3B23C"/>
          </a:solidFill>
          <a:ln w="12700">
            <a:solidFill>
              <a:srgbClr val="E3B23C"/>
            </a:solidFill>
            <a:prstDash val="solid"/>
          </a:ln>
        </p:spPr>
      </p:sp>
      <p:sp>
        <p:nvSpPr>
          <p:cNvPr id="11" name="Text 9"/>
          <p:cNvSpPr txBox="1"/>
          <p:nvPr/>
        </p:nvSpPr>
        <p:spPr>
          <a:xfrm>
            <a:off x="804672" y="4005072"/>
            <a:ext cx="5687568" cy="749808"/>
          </a:xfrm>
          <a:prstGeom prst="rect">
            <a:avLst/>
          </a:prstGeom>
          <a:noFill/>
          <a:ln/>
        </p:spPr>
        <p:txBody>
          <a:bodyPr wrap="square" lIns="0" tIns="0" rIns="0" bIns="0" rtlCol="0" anchor="t"/>
          <a:lstStyle/>
          <a:p>
            <a:pPr indent="0" marL="0">
              <a:buNone/>
            </a:pPr>
            <a:r>
              <a:rPr lang="en-US" sz="1350" b="1" dirty="0">
                <a:solidFill>
                  <a:srgbClr val="E8EAED"/>
                </a:solidFill>
                <a:latin typeface="Calibri" pitchFamily="34" charset="0"/>
                <a:ea typeface="Calibri" pitchFamily="34" charset="-122"/>
                <a:cs typeface="Calibri" pitchFamily="34" charset="-120"/>
              </a:rPr>
              <a:t>Séances et progression. </a:t>
            </a:r>
            <a:pPr indent="0" marL="0">
              <a:buNone/>
            </a:pPr>
            <a:r>
              <a:rPr lang="en-US" sz="1350" dirty="0">
                <a:solidFill>
                  <a:srgbClr val="ADB2B9"/>
                </a:solidFill>
                <a:latin typeface="Calibri" pitchFamily="34" charset="0"/>
                <a:ea typeface="Calibri" pitchFamily="34" charset="-122"/>
                <a:cs typeface="Calibri" pitchFamily="34" charset="-120"/>
              </a:rPr>
              <a:t>Modèles Push/Pull/Legs, séries prévues et réalisées, 1RM estimé, courbes de progression.</a:t>
            </a:r>
            <a:endParaRPr lang="en-US" sz="1350" dirty="0"/>
          </a:p>
        </p:txBody>
      </p:sp>
      <p:sp>
        <p:nvSpPr>
          <p:cNvPr id="12" name="Shape 10"/>
          <p:cNvSpPr/>
          <p:nvPr/>
        </p:nvSpPr>
        <p:spPr>
          <a:xfrm>
            <a:off x="548640" y="4901184"/>
            <a:ext cx="128016" cy="32004"/>
          </a:xfrm>
          <a:prstGeom prst="rect">
            <a:avLst/>
          </a:prstGeom>
          <a:solidFill>
            <a:srgbClr val="E3B23C"/>
          </a:solidFill>
          <a:ln w="12700">
            <a:solidFill>
              <a:srgbClr val="E3B23C"/>
            </a:solidFill>
            <a:prstDash val="solid"/>
          </a:ln>
        </p:spPr>
      </p:sp>
      <p:sp>
        <p:nvSpPr>
          <p:cNvPr id="13" name="Text 11"/>
          <p:cNvSpPr txBox="1"/>
          <p:nvPr/>
        </p:nvSpPr>
        <p:spPr>
          <a:xfrm>
            <a:off x="804672" y="4754880"/>
            <a:ext cx="5687568" cy="749808"/>
          </a:xfrm>
          <a:prstGeom prst="rect">
            <a:avLst/>
          </a:prstGeom>
          <a:noFill/>
          <a:ln/>
        </p:spPr>
        <p:txBody>
          <a:bodyPr wrap="square" lIns="0" tIns="0" rIns="0" bIns="0" rtlCol="0" anchor="t"/>
          <a:lstStyle/>
          <a:p>
            <a:pPr indent="0" marL="0">
              <a:buNone/>
            </a:pPr>
            <a:r>
              <a:rPr lang="en-US" sz="1350" b="1" dirty="0">
                <a:solidFill>
                  <a:srgbClr val="E8EAED"/>
                </a:solidFill>
                <a:latin typeface="Calibri" pitchFamily="34" charset="0"/>
                <a:ea typeface="Calibri" pitchFamily="34" charset="-122"/>
                <a:cs typeface="Calibri" pitchFamily="34" charset="-120"/>
              </a:rPr>
              <a:t>Des garde-fous. </a:t>
            </a:r>
            <a:pPr indent="0" marL="0">
              <a:buNone/>
            </a:pPr>
            <a:r>
              <a:rPr lang="en-US" sz="1350" dirty="0">
                <a:solidFill>
                  <a:srgbClr val="ADB2B9"/>
                </a:solidFill>
                <a:latin typeface="Calibri" pitchFamily="34" charset="0"/>
                <a:ea typeface="Calibri" pitchFamily="34" charset="-122"/>
                <a:cs typeface="Calibri" pitchFamily="34" charset="-120"/>
              </a:rPr>
              <a:t>Un chiffre douteux n'est jamais affiché comme certain : l'application refuse plutôt qu'elle n'invente.</a:t>
            </a:r>
            <a:endParaRPr lang="en-US" sz="1350" dirty="0"/>
          </a:p>
        </p:txBody>
      </p:sp>
      <p:pic>
        <p:nvPicPr>
          <p:cNvPr id="14" name="Image 0" descr="/home/micka/perso/fitcarnet/presentation/captures/07-repas-compose.jpg">    </p:cNvPr>
          <p:cNvPicPr>
            <a:picLocks noChangeAspect="1"/>
          </p:cNvPicPr>
          <p:nvPr/>
        </p:nvPicPr>
        <p:blipFill>
          <a:blip r:embed="rId1"/>
          <a:stretch>
            <a:fillRect/>
          </a:stretch>
        </p:blipFill>
        <p:spPr>
          <a:xfrm>
            <a:off x="6720840" y="1783080"/>
            <a:ext cx="2377440" cy="1490472"/>
          </a:xfrm>
          <a:prstGeom prst="rect">
            <a:avLst/>
          </a:prstGeom>
        </p:spPr>
      </p:pic>
      <p:pic>
        <p:nvPicPr>
          <p:cNvPr id="15" name="Image 1" descr="/home/micka/perso/fitcarnet/presentation/captures/04-frigo-stock.jpg">    </p:cNvPr>
          <p:cNvPicPr>
            <a:picLocks noChangeAspect="1"/>
          </p:cNvPicPr>
          <p:nvPr/>
        </p:nvPicPr>
        <p:blipFill>
          <a:blip r:embed="rId2"/>
          <a:stretch>
            <a:fillRect/>
          </a:stretch>
        </p:blipFill>
        <p:spPr>
          <a:xfrm>
            <a:off x="9262872" y="1783080"/>
            <a:ext cx="2377440" cy="1490472"/>
          </a:xfrm>
          <a:prstGeom prst="rect">
            <a:avLst/>
          </a:prstGeom>
        </p:spPr>
      </p:pic>
      <p:pic>
        <p:nvPicPr>
          <p:cNvPr id="16" name="Image 2" descr="/home/micka/perso/fitcarnet/presentation/captures/11-batch-cooking.jpg">    </p:cNvPr>
          <p:cNvPicPr>
            <a:picLocks noChangeAspect="1"/>
          </p:cNvPicPr>
          <p:nvPr/>
        </p:nvPicPr>
        <p:blipFill>
          <a:blip r:embed="rId3"/>
          <a:stretch>
            <a:fillRect/>
          </a:stretch>
        </p:blipFill>
        <p:spPr>
          <a:xfrm>
            <a:off x="6720840" y="3438144"/>
            <a:ext cx="2377440" cy="1490472"/>
          </a:xfrm>
          <a:prstGeom prst="rect">
            <a:avLst/>
          </a:prstGeom>
        </p:spPr>
      </p:pic>
      <p:pic>
        <p:nvPicPr>
          <p:cNvPr id="17" name="Image 3" descr="/home/micka/perso/fitcarnet/presentation/captures/14-garde-fou-donnees.jpg">    </p:cNvPr>
          <p:cNvPicPr>
            <a:picLocks noChangeAspect="1"/>
          </p:cNvPicPr>
          <p:nvPr/>
        </p:nvPicPr>
        <p:blipFill>
          <a:blip r:embed="rId4"/>
          <a:stretch>
            <a:fillRect/>
          </a:stretch>
        </p:blipFill>
        <p:spPr>
          <a:xfrm>
            <a:off x="9262872" y="3438144"/>
            <a:ext cx="2377440" cy="1490472"/>
          </a:xfrm>
          <a:prstGeom prst="rect">
            <a:avLst/>
          </a:prstGeom>
        </p:spPr>
      </p:pic>
      <p:sp>
        <p:nvSpPr>
          <p:cNvPr id="18" name="Text 12"/>
          <p:cNvSpPr txBox="1"/>
          <p:nvPr/>
        </p:nvSpPr>
        <p:spPr>
          <a:xfrm>
            <a:off x="6720840" y="5001768"/>
            <a:ext cx="4919472" cy="274320"/>
          </a:xfrm>
          <a:prstGeom prst="rect">
            <a:avLst/>
          </a:prstGeom>
          <a:noFill/>
          <a:ln/>
        </p:spPr>
        <p:txBody>
          <a:bodyPr wrap="square" lIns="0" tIns="0" rIns="0" bIns="0" rtlCol="0" anchor="ctr"/>
          <a:lstStyle/>
          <a:p>
            <a:pPr indent="0" marL="0">
              <a:buNone/>
            </a:pPr>
            <a:r>
              <a:rPr lang="en-US" sz="950" i="1" dirty="0">
                <a:solidFill>
                  <a:srgbClr val="868E99"/>
                </a:solidFill>
                <a:latin typeface="Calibri" pitchFamily="34" charset="0"/>
                <a:ea typeface="Calibri" pitchFamily="34" charset="-122"/>
                <a:cs typeface="Calibri" pitchFamily="34" charset="-120"/>
              </a:rPr>
              <a:t>Repas composé · Frigo · Batch cooking · Garde-fou sur les données</a:t>
            </a:r>
            <a:endParaRPr lang="en-US" sz="950" dirty="0"/>
          </a:p>
        </p:txBody>
      </p:sp>
      <p:sp>
        <p:nvSpPr>
          <p:cNvPr id="19" name="Text 13"/>
          <p:cNvSpPr txBox="1"/>
          <p:nvPr/>
        </p:nvSpPr>
        <p:spPr>
          <a:xfrm>
            <a:off x="548640" y="5961888"/>
            <a:ext cx="11091672" cy="310896"/>
          </a:xfrm>
          <a:prstGeom prst="rect">
            <a:avLst/>
          </a:prstGeom>
          <a:noFill/>
          <a:ln/>
        </p:spPr>
        <p:txBody>
          <a:bodyPr wrap="square" lIns="0" tIns="0" rIns="0" bIns="0" rtlCol="0" anchor="ctr"/>
          <a:lstStyle/>
          <a:p>
            <a:pPr indent="0" marL="0">
              <a:buNone/>
            </a:pPr>
            <a:r>
              <a:rPr lang="en-US" sz="950" i="1" dirty="0">
                <a:solidFill>
                  <a:srgbClr val="868E99"/>
                </a:solidFill>
                <a:latin typeface="Calibri" pitchFamily="34" charset="0"/>
                <a:ea typeface="Calibri" pitchFamily="34" charset="-122"/>
                <a:cs typeface="Calibri" pitchFamily="34" charset="-120"/>
              </a:rPr>
              <a:t>Captures de l'application en service — Android et web</a:t>
            </a:r>
            <a:endParaRPr lang="en-US" sz="950" dirty="0"/>
          </a:p>
        </p:txBody>
      </p:sp>
      <p:sp>
        <p:nvSpPr>
          <p:cNvPr id="20" name="Text 14"/>
          <p:cNvSpPr txBox="1"/>
          <p:nvPr/>
        </p:nvSpPr>
        <p:spPr>
          <a:xfrm>
            <a:off x="548640" y="6336792"/>
            <a:ext cx="8229600" cy="274320"/>
          </a:xfrm>
          <a:prstGeom prst="rect">
            <a:avLst/>
          </a:prstGeom>
          <a:noFill/>
          <a:ln/>
        </p:spPr>
        <p:txBody>
          <a:bodyPr wrap="square" lIns="0" tIns="0" rIns="0" bIns="0" rtlCol="0" anchor="ctr"/>
          <a:lstStyle/>
          <a:p>
            <a:pPr algn="l" indent="0" marL="0">
              <a:buNone/>
            </a:pPr>
            <a:r>
              <a:rPr lang="en-US" sz="900" dirty="0">
                <a:solidFill>
                  <a:srgbClr val="868E99"/>
                </a:solidFill>
                <a:latin typeface="Calibri" pitchFamily="34" charset="0"/>
                <a:ea typeface="Calibri" pitchFamily="34" charset="-122"/>
                <a:cs typeface="Calibri" pitchFamily="34" charset="-120"/>
              </a:rPr>
              <a:t>fitcarnet Pro · business plan · 21 septembre 2026</a:t>
            </a:r>
            <a:endParaRPr lang="en-US" sz="900" dirty="0"/>
          </a:p>
        </p:txBody>
      </p:sp>
      <p:sp>
        <p:nvSpPr>
          <p:cNvPr id="21" name="Text 15"/>
          <p:cNvSpPr txBox="1"/>
          <p:nvPr/>
        </p:nvSpPr>
        <p:spPr>
          <a:xfrm>
            <a:off x="8897112" y="6336792"/>
            <a:ext cx="2743200" cy="274320"/>
          </a:xfrm>
          <a:prstGeom prst="rect">
            <a:avLst/>
          </a:prstGeom>
          <a:noFill/>
          <a:ln/>
        </p:spPr>
        <p:txBody>
          <a:bodyPr wrap="square" lIns="0" tIns="0" rIns="0" bIns="0" rtlCol="0" anchor="ctr"/>
          <a:lstStyle/>
          <a:p>
            <a:pPr algn="r" indent="0" marL="0">
              <a:buNone/>
            </a:pPr>
            <a:r>
              <a:rPr lang="en-US" sz="900" dirty="0">
                <a:solidFill>
                  <a:srgbClr val="868E99"/>
                </a:solidFill>
                <a:latin typeface="Calibri" pitchFamily="34" charset="0"/>
                <a:ea typeface="Calibri" pitchFamily="34" charset="-122"/>
                <a:cs typeface="Calibri" pitchFamily="34" charset="-120"/>
              </a:rPr>
              <a:t>05 / 24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4161A"/>
        </a:solidFill>
      </p:bgPr>
    </p:bg>
    <p:spTree>
      <p:nvGrpSpPr>
        <p:cNvPr id="1" name=""/>
        <p:cNvGrpSpPr/>
        <p:nvPr/>
      </p:nvGrpSpPr>
      <p:grpSpPr>
        <a:xfrm>
          <a:off x="0" y="0"/>
          <a:ext cx="0" cy="0"/>
          <a:chOff x="0" y="0"/>
          <a:chExt cx="0" cy="0"/>
        </a:xfrm>
      </p:grpSpPr>
      <p:sp>
        <p:nvSpPr>
          <p:cNvPr id="2" name="Text 0"/>
          <p:cNvSpPr txBox="1"/>
          <p:nvPr/>
        </p:nvSpPr>
        <p:spPr>
          <a:xfrm>
            <a:off x="548640" y="347472"/>
            <a:ext cx="11091672" cy="237744"/>
          </a:xfrm>
          <a:prstGeom prst="rect">
            <a:avLst/>
          </a:prstGeom>
          <a:noFill/>
          <a:ln/>
        </p:spPr>
        <p:txBody>
          <a:bodyPr wrap="square" lIns="0" tIns="0" rIns="0" bIns="0" rtlCol="0" anchor="ctr"/>
          <a:lstStyle/>
          <a:p>
            <a:pPr indent="0" marL="0">
              <a:buNone/>
            </a:pPr>
            <a:r>
              <a:rPr lang="en-US" sz="1050" b="1" spc="200" kern="0" dirty="0">
                <a:solidFill>
                  <a:srgbClr val="E3B23C"/>
                </a:solidFill>
                <a:latin typeface="Calibri" pitchFamily="34" charset="0"/>
                <a:ea typeface="Calibri" pitchFamily="34" charset="-122"/>
                <a:cs typeface="Calibri" pitchFamily="34" charset="-120"/>
              </a:rPr>
              <a:t>LE PRODUIT</a:t>
            </a:r>
            <a:endParaRPr lang="en-US" sz="1050" dirty="0"/>
          </a:p>
        </p:txBody>
      </p:sp>
      <p:sp>
        <p:nvSpPr>
          <p:cNvPr id="3" name="Text 1"/>
          <p:cNvSpPr txBox="1"/>
          <p:nvPr/>
        </p:nvSpPr>
        <p:spPr>
          <a:xfrm>
            <a:off x="548640" y="603504"/>
            <a:ext cx="11091672" cy="566928"/>
          </a:xfrm>
          <a:prstGeom prst="rect">
            <a:avLst/>
          </a:prstGeom>
          <a:noFill/>
          <a:ln/>
        </p:spPr>
        <p:txBody>
          <a:bodyPr wrap="square" lIns="0" tIns="0" rIns="0" bIns="0" rtlCol="0" anchor="ctr"/>
          <a:lstStyle/>
          <a:p>
            <a:pPr indent="0" marL="0">
              <a:buNone/>
            </a:pPr>
            <a:r>
              <a:rPr lang="en-US" sz="3000" b="1" dirty="0">
                <a:solidFill>
                  <a:srgbClr val="E8EAED"/>
                </a:solidFill>
                <a:latin typeface="Arial Narrow" pitchFamily="34" charset="0"/>
                <a:ea typeface="Arial Narrow" pitchFamily="34" charset="-122"/>
                <a:cs typeface="Arial Narrow" pitchFamily="34" charset="-120"/>
              </a:rPr>
              <a:t>Ce n'est pas une maquette : l'application tourne tous les jours</a:t>
            </a:r>
            <a:endParaRPr lang="en-US" sz="3000" dirty="0"/>
          </a:p>
        </p:txBody>
      </p:sp>
      <p:sp>
        <p:nvSpPr>
          <p:cNvPr id="4" name="Text 2"/>
          <p:cNvSpPr txBox="1"/>
          <p:nvPr/>
        </p:nvSpPr>
        <p:spPr>
          <a:xfrm>
            <a:off x="548640" y="1188720"/>
            <a:ext cx="11091672" cy="310896"/>
          </a:xfrm>
          <a:prstGeom prst="rect">
            <a:avLst/>
          </a:prstGeom>
          <a:noFill/>
          <a:ln/>
        </p:spPr>
        <p:txBody>
          <a:bodyPr wrap="square" lIns="0" tIns="0" rIns="0" bIns="0" rtlCol="0" anchor="ctr"/>
          <a:lstStyle/>
          <a:p>
            <a:pPr indent="0" marL="0">
              <a:buNone/>
            </a:pPr>
            <a:r>
              <a:rPr lang="en-US" sz="1450" dirty="0">
                <a:solidFill>
                  <a:srgbClr val="ADB2B9"/>
                </a:solidFill>
                <a:latin typeface="Calibri" pitchFamily="34" charset="0"/>
                <a:ea typeface="Calibri" pitchFamily="34" charset="-122"/>
                <a:cs typeface="Calibri" pitchFamily="34" charset="-120"/>
              </a:rPr>
              <a:t>Android et web · Symfony 7 · API Platform · PostgreSQL 16 · Expo SDK 54</a:t>
            </a:r>
            <a:endParaRPr lang="en-US" sz="1450" dirty="0"/>
          </a:p>
        </p:txBody>
      </p:sp>
      <p:pic>
        <p:nvPicPr>
          <p:cNvPr id="5" name="Image 0" descr="/home/micka/perso/fitcarnet/presentation/captures/07-repas-compose.jpg">    </p:cNvPr>
          <p:cNvPicPr>
            <a:picLocks noChangeAspect="1"/>
          </p:cNvPicPr>
          <p:nvPr/>
        </p:nvPicPr>
        <p:blipFill>
          <a:blip r:embed="rId1"/>
          <a:stretch>
            <a:fillRect/>
          </a:stretch>
        </p:blipFill>
        <p:spPr>
          <a:xfrm>
            <a:off x="548640" y="1783080"/>
            <a:ext cx="5413248" cy="1847088"/>
          </a:xfrm>
          <a:prstGeom prst="rect">
            <a:avLst/>
          </a:prstGeom>
        </p:spPr>
      </p:pic>
      <p:sp>
        <p:nvSpPr>
          <p:cNvPr id="6" name="Text 3"/>
          <p:cNvSpPr txBox="1"/>
          <p:nvPr/>
        </p:nvSpPr>
        <p:spPr>
          <a:xfrm>
            <a:off x="548640" y="3657600"/>
            <a:ext cx="5413248" cy="274320"/>
          </a:xfrm>
          <a:prstGeom prst="rect">
            <a:avLst/>
          </a:prstGeom>
          <a:noFill/>
          <a:ln/>
        </p:spPr>
        <p:txBody>
          <a:bodyPr wrap="square" lIns="0" tIns="0" rIns="0" bIns="0" rtlCol="0" anchor="ctr"/>
          <a:lstStyle/>
          <a:p>
            <a:pPr indent="0" marL="0">
              <a:buNone/>
            </a:pPr>
            <a:r>
              <a:rPr lang="en-US" sz="1050" dirty="0">
                <a:solidFill>
                  <a:srgbClr val="ADB2B9"/>
                </a:solidFill>
                <a:latin typeface="Calibri" pitchFamily="34" charset="0"/>
                <a:ea typeface="Calibri" pitchFamily="34" charset="-122"/>
                <a:cs typeface="Calibri" pitchFamily="34" charset="-120"/>
              </a:rPr>
              <a:t>Le calculateur rend des grammages à peser, et explique chaque écart à la cible</a:t>
            </a:r>
            <a:endParaRPr lang="en-US" sz="1050" dirty="0"/>
          </a:p>
        </p:txBody>
      </p:sp>
      <p:pic>
        <p:nvPicPr>
          <p:cNvPr id="7" name="Image 1" descr="/home/micka/perso/fitcarnet/presentation/captures/11-batch-cooking.jpg">    </p:cNvPr>
          <p:cNvPicPr>
            <a:picLocks noChangeAspect="1"/>
          </p:cNvPicPr>
          <p:nvPr/>
        </p:nvPicPr>
        <p:blipFill>
          <a:blip r:embed="rId2"/>
          <a:stretch>
            <a:fillRect/>
          </a:stretch>
        </p:blipFill>
        <p:spPr>
          <a:xfrm>
            <a:off x="6227064" y="1783080"/>
            <a:ext cx="5413248" cy="1847088"/>
          </a:xfrm>
          <a:prstGeom prst="rect">
            <a:avLst/>
          </a:prstGeom>
        </p:spPr>
      </p:pic>
      <p:sp>
        <p:nvSpPr>
          <p:cNvPr id="8" name="Text 4"/>
          <p:cNvSpPr txBox="1"/>
          <p:nvPr/>
        </p:nvSpPr>
        <p:spPr>
          <a:xfrm>
            <a:off x="6227064" y="3657600"/>
            <a:ext cx="5413248" cy="274320"/>
          </a:xfrm>
          <a:prstGeom prst="rect">
            <a:avLst/>
          </a:prstGeom>
          <a:noFill/>
          <a:ln/>
        </p:spPr>
        <p:txBody>
          <a:bodyPr wrap="square" lIns="0" tIns="0" rIns="0" bIns="0" rtlCol="0" anchor="ctr"/>
          <a:lstStyle/>
          <a:p>
            <a:pPr indent="0" marL="0">
              <a:buNone/>
            </a:pPr>
            <a:r>
              <a:rPr lang="en-US" sz="1050" dirty="0">
                <a:solidFill>
                  <a:srgbClr val="ADB2B9"/>
                </a:solidFill>
                <a:latin typeface="Calibri" pitchFamily="34" charset="0"/>
                <a:ea typeface="Calibri" pitchFamily="34" charset="-122"/>
                <a:cs typeface="Calibri" pitchFamily="34" charset="-120"/>
              </a:rPr>
              <a:t>Le batch cooking groupe les fournées par façon de cuire et répartit en boîtes</a:t>
            </a:r>
            <a:endParaRPr lang="en-US" sz="1050" dirty="0"/>
          </a:p>
        </p:txBody>
      </p:sp>
      <p:pic>
        <p:nvPicPr>
          <p:cNvPr id="9" name="Image 2" descr="/home/micka/perso/fitcarnet/presentation/captures/18-seance-detail-1rm.jpg">    </p:cNvPr>
          <p:cNvPicPr>
            <a:picLocks noChangeAspect="1"/>
          </p:cNvPicPr>
          <p:nvPr/>
        </p:nvPicPr>
        <p:blipFill>
          <a:blip r:embed="rId3"/>
          <a:stretch>
            <a:fillRect/>
          </a:stretch>
        </p:blipFill>
        <p:spPr>
          <a:xfrm>
            <a:off x="548640" y="3995928"/>
            <a:ext cx="5413248" cy="1847088"/>
          </a:xfrm>
          <a:prstGeom prst="rect">
            <a:avLst/>
          </a:prstGeom>
        </p:spPr>
      </p:pic>
      <p:sp>
        <p:nvSpPr>
          <p:cNvPr id="10" name="Text 5"/>
          <p:cNvSpPr txBox="1"/>
          <p:nvPr/>
        </p:nvSpPr>
        <p:spPr>
          <a:xfrm>
            <a:off x="548640" y="5870448"/>
            <a:ext cx="5413248" cy="274320"/>
          </a:xfrm>
          <a:prstGeom prst="rect">
            <a:avLst/>
          </a:prstGeom>
          <a:noFill/>
          <a:ln/>
        </p:spPr>
        <p:txBody>
          <a:bodyPr wrap="square" lIns="0" tIns="0" rIns="0" bIns="0" rtlCol="0" anchor="ctr"/>
          <a:lstStyle/>
          <a:p>
            <a:pPr indent="0" marL="0">
              <a:buNone/>
            </a:pPr>
            <a:r>
              <a:rPr lang="en-US" sz="1050" dirty="0">
                <a:solidFill>
                  <a:srgbClr val="ADB2B9"/>
                </a:solidFill>
                <a:latin typeface="Calibri" pitchFamily="34" charset="0"/>
                <a:ea typeface="Calibri" pitchFamily="34" charset="-122"/>
                <a:cs typeface="Calibri" pitchFamily="34" charset="-120"/>
              </a:rPr>
              <a:t>La séance : séries prévues et réalisées, 1RM estimé, progression</a:t>
            </a:r>
            <a:endParaRPr lang="en-US" sz="1050" dirty="0"/>
          </a:p>
        </p:txBody>
      </p:sp>
      <p:pic>
        <p:nvPicPr>
          <p:cNvPr id="11" name="Image 3" descr="/home/micka/perso/fitcarnet/presentation/captures/14-garde-fou-donnees.jpg">    </p:cNvPr>
          <p:cNvPicPr>
            <a:picLocks noChangeAspect="1"/>
          </p:cNvPicPr>
          <p:nvPr/>
        </p:nvPicPr>
        <p:blipFill>
          <a:blip r:embed="rId4"/>
          <a:stretch>
            <a:fillRect/>
          </a:stretch>
        </p:blipFill>
        <p:spPr>
          <a:xfrm>
            <a:off x="6227064" y="3995928"/>
            <a:ext cx="5413248" cy="1847088"/>
          </a:xfrm>
          <a:prstGeom prst="rect">
            <a:avLst/>
          </a:prstGeom>
        </p:spPr>
      </p:pic>
      <p:sp>
        <p:nvSpPr>
          <p:cNvPr id="12" name="Text 6"/>
          <p:cNvSpPr txBox="1"/>
          <p:nvPr/>
        </p:nvSpPr>
        <p:spPr>
          <a:xfrm>
            <a:off x="6227064" y="5870448"/>
            <a:ext cx="5413248" cy="274320"/>
          </a:xfrm>
          <a:prstGeom prst="rect">
            <a:avLst/>
          </a:prstGeom>
          <a:noFill/>
          <a:ln/>
        </p:spPr>
        <p:txBody>
          <a:bodyPr wrap="square" lIns="0" tIns="0" rIns="0" bIns="0" rtlCol="0" anchor="ctr"/>
          <a:lstStyle/>
          <a:p>
            <a:pPr indent="0" marL="0">
              <a:buNone/>
            </a:pPr>
            <a:r>
              <a:rPr lang="en-US" sz="1050" dirty="0">
                <a:solidFill>
                  <a:srgbClr val="ADB2B9"/>
                </a:solidFill>
                <a:latin typeface="Calibri" pitchFamily="34" charset="0"/>
                <a:ea typeface="Calibri" pitchFamily="34" charset="-122"/>
                <a:cs typeface="Calibri" pitchFamily="34" charset="-120"/>
              </a:rPr>
              <a:t>Le garde-fou : un chiffre douteux est signalé, jamais affiché comme certain</a:t>
            </a:r>
            <a:endParaRPr lang="en-US" sz="1050" dirty="0"/>
          </a:p>
        </p:txBody>
      </p:sp>
      <p:sp>
        <p:nvSpPr>
          <p:cNvPr id="13" name="Text 7"/>
          <p:cNvSpPr txBox="1"/>
          <p:nvPr/>
        </p:nvSpPr>
        <p:spPr>
          <a:xfrm>
            <a:off x="548640" y="6336792"/>
            <a:ext cx="8229600" cy="274320"/>
          </a:xfrm>
          <a:prstGeom prst="rect">
            <a:avLst/>
          </a:prstGeom>
          <a:noFill/>
          <a:ln/>
        </p:spPr>
        <p:txBody>
          <a:bodyPr wrap="square" lIns="0" tIns="0" rIns="0" bIns="0" rtlCol="0" anchor="ctr"/>
          <a:lstStyle/>
          <a:p>
            <a:pPr algn="l" indent="0" marL="0">
              <a:buNone/>
            </a:pPr>
            <a:r>
              <a:rPr lang="en-US" sz="900" dirty="0">
                <a:solidFill>
                  <a:srgbClr val="868E99"/>
                </a:solidFill>
                <a:latin typeface="Calibri" pitchFamily="34" charset="0"/>
                <a:ea typeface="Calibri" pitchFamily="34" charset="-122"/>
                <a:cs typeface="Calibri" pitchFamily="34" charset="-120"/>
              </a:rPr>
              <a:t>fitcarnet Pro · business plan · 21 septembre 2026</a:t>
            </a:r>
            <a:endParaRPr lang="en-US" sz="900" dirty="0"/>
          </a:p>
        </p:txBody>
      </p:sp>
      <p:sp>
        <p:nvSpPr>
          <p:cNvPr id="14" name="Text 8"/>
          <p:cNvSpPr txBox="1"/>
          <p:nvPr/>
        </p:nvSpPr>
        <p:spPr>
          <a:xfrm>
            <a:off x="8897112" y="6336792"/>
            <a:ext cx="2743200" cy="274320"/>
          </a:xfrm>
          <a:prstGeom prst="rect">
            <a:avLst/>
          </a:prstGeom>
          <a:noFill/>
          <a:ln/>
        </p:spPr>
        <p:txBody>
          <a:bodyPr wrap="square" lIns="0" tIns="0" rIns="0" bIns="0" rtlCol="0" anchor="ctr"/>
          <a:lstStyle/>
          <a:p>
            <a:pPr algn="r" indent="0" marL="0">
              <a:buNone/>
            </a:pPr>
            <a:r>
              <a:rPr lang="en-US" sz="900" dirty="0">
                <a:solidFill>
                  <a:srgbClr val="868E99"/>
                </a:solidFill>
                <a:latin typeface="Calibri" pitchFamily="34" charset="0"/>
                <a:ea typeface="Calibri" pitchFamily="34" charset="-122"/>
                <a:cs typeface="Calibri" pitchFamily="34" charset="-120"/>
              </a:rPr>
              <a:t>06 / 24</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161A"/>
        </a:solidFill>
      </p:bgPr>
    </p:bg>
    <p:spTree>
      <p:nvGrpSpPr>
        <p:cNvPr id="1" name=""/>
        <p:cNvGrpSpPr/>
        <p:nvPr/>
      </p:nvGrpSpPr>
      <p:grpSpPr>
        <a:xfrm>
          <a:off x="0" y="0"/>
          <a:ext cx="0" cy="0"/>
          <a:chOff x="0" y="0"/>
          <a:chExt cx="0" cy="0"/>
        </a:xfrm>
      </p:grpSpPr>
      <p:sp>
        <p:nvSpPr>
          <p:cNvPr id="2" name="Text 0"/>
          <p:cNvSpPr txBox="1"/>
          <p:nvPr/>
        </p:nvSpPr>
        <p:spPr>
          <a:xfrm>
            <a:off x="548640" y="347472"/>
            <a:ext cx="11091672" cy="237744"/>
          </a:xfrm>
          <a:prstGeom prst="rect">
            <a:avLst/>
          </a:prstGeom>
          <a:noFill/>
          <a:ln/>
        </p:spPr>
        <p:txBody>
          <a:bodyPr wrap="square" lIns="0" tIns="0" rIns="0" bIns="0" rtlCol="0" anchor="ctr"/>
          <a:lstStyle/>
          <a:p>
            <a:pPr indent="0" marL="0">
              <a:buNone/>
            </a:pPr>
            <a:r>
              <a:rPr lang="en-US" sz="1050" b="1" spc="200" kern="0" dirty="0">
                <a:solidFill>
                  <a:srgbClr val="E3B23C"/>
                </a:solidFill>
                <a:latin typeface="Calibri" pitchFamily="34" charset="0"/>
                <a:ea typeface="Calibri" pitchFamily="34" charset="-122"/>
                <a:cs typeface="Calibri" pitchFamily="34" charset="-120"/>
              </a:rPr>
              <a:t>POINT DE DÉPART</a:t>
            </a:r>
            <a:endParaRPr lang="en-US" sz="1050" dirty="0"/>
          </a:p>
        </p:txBody>
      </p:sp>
      <p:sp>
        <p:nvSpPr>
          <p:cNvPr id="3" name="Text 1"/>
          <p:cNvSpPr txBox="1"/>
          <p:nvPr/>
        </p:nvSpPr>
        <p:spPr>
          <a:xfrm>
            <a:off x="548640" y="603504"/>
            <a:ext cx="11091672" cy="566928"/>
          </a:xfrm>
          <a:prstGeom prst="rect">
            <a:avLst/>
          </a:prstGeom>
          <a:noFill/>
          <a:ln/>
        </p:spPr>
        <p:txBody>
          <a:bodyPr wrap="square" lIns="0" tIns="0" rIns="0" bIns="0" rtlCol="0" anchor="ctr"/>
          <a:lstStyle/>
          <a:p>
            <a:pPr indent="0" marL="0">
              <a:buNone/>
            </a:pPr>
            <a:r>
              <a:rPr lang="en-US" sz="3000" b="1" dirty="0">
                <a:solidFill>
                  <a:srgbClr val="E8EAED"/>
                </a:solidFill>
                <a:latin typeface="Arial Narrow" pitchFamily="34" charset="0"/>
                <a:ea typeface="Arial Narrow" pitchFamily="34" charset="-122"/>
                <a:cs typeface="Arial Narrow" pitchFamily="34" charset="-120"/>
              </a:rPr>
              <a:t>L'essentiel du produit est déjà construit — et éprouvé</a:t>
            </a:r>
            <a:endParaRPr lang="en-US" sz="3000" dirty="0"/>
          </a:p>
        </p:txBody>
      </p:sp>
      <p:sp>
        <p:nvSpPr>
          <p:cNvPr id="4" name="Shape 2"/>
          <p:cNvSpPr/>
          <p:nvPr/>
        </p:nvSpPr>
        <p:spPr>
          <a:xfrm>
            <a:off x="548640" y="1645920"/>
            <a:ext cx="2670048" cy="1024128"/>
          </a:xfrm>
          <a:prstGeom prst="roundRect">
            <a:avLst>
              <a:gd name="adj" fmla="val 6250"/>
            </a:avLst>
          </a:prstGeom>
          <a:solidFill>
            <a:srgbClr val="1D2026"/>
          </a:solidFill>
          <a:ln w="9525">
            <a:solidFill>
              <a:srgbClr val="2F343D"/>
            </a:solidFill>
            <a:prstDash val="solid"/>
          </a:ln>
        </p:spPr>
      </p:sp>
      <p:sp>
        <p:nvSpPr>
          <p:cNvPr id="5" name="Text 3"/>
          <p:cNvSpPr txBox="1"/>
          <p:nvPr/>
        </p:nvSpPr>
        <p:spPr>
          <a:xfrm>
            <a:off x="768096" y="1719072"/>
            <a:ext cx="2231136" cy="566928"/>
          </a:xfrm>
          <a:prstGeom prst="rect">
            <a:avLst/>
          </a:prstGeom>
          <a:noFill/>
          <a:ln/>
        </p:spPr>
        <p:txBody>
          <a:bodyPr wrap="square" lIns="0" tIns="0" rIns="0" bIns="0" rtlCol="0" anchor="b"/>
          <a:lstStyle/>
          <a:p>
            <a:pPr indent="0" marL="0">
              <a:buNone/>
            </a:pPr>
            <a:r>
              <a:rPr lang="en-US" sz="3400" b="1" dirty="0">
                <a:solidFill>
                  <a:srgbClr val="E3B23C"/>
                </a:solidFill>
                <a:latin typeface="Arial Narrow" pitchFamily="34" charset="0"/>
                <a:ea typeface="Arial Narrow" pitchFamily="34" charset="-122"/>
                <a:cs typeface="Arial Narrow" pitchFamily="34" charset="-120"/>
              </a:rPr>
              <a:t>617</a:t>
            </a:r>
            <a:endParaRPr lang="en-US" sz="3400" dirty="0"/>
          </a:p>
        </p:txBody>
      </p:sp>
      <p:sp>
        <p:nvSpPr>
          <p:cNvPr id="6" name="Text 4"/>
          <p:cNvSpPr txBox="1"/>
          <p:nvPr/>
        </p:nvSpPr>
        <p:spPr>
          <a:xfrm>
            <a:off x="768096" y="2304288"/>
            <a:ext cx="2231136" cy="420624"/>
          </a:xfrm>
          <a:prstGeom prst="rect">
            <a:avLst/>
          </a:prstGeom>
          <a:noFill/>
          <a:ln/>
        </p:spPr>
        <p:txBody>
          <a:bodyPr wrap="square" lIns="0" tIns="0" rIns="0" bIns="0" rtlCol="0" anchor="t"/>
          <a:lstStyle/>
          <a:p>
            <a:pPr indent="0" marL="0">
              <a:buNone/>
            </a:pPr>
            <a:r>
              <a:rPr lang="en-US" sz="1050" dirty="0">
                <a:solidFill>
                  <a:srgbClr val="868E99"/>
                </a:solidFill>
                <a:latin typeface="Calibri" pitchFamily="34" charset="0"/>
                <a:ea typeface="Calibri" pitchFamily="34" charset="-122"/>
                <a:cs typeface="Calibri" pitchFamily="34" charset="-120"/>
              </a:rPr>
              <a:t>tests front</a:t>
            </a:r>
            <a:endParaRPr lang="en-US" sz="1050" dirty="0"/>
          </a:p>
        </p:txBody>
      </p:sp>
      <p:sp>
        <p:nvSpPr>
          <p:cNvPr id="7" name="Shape 5"/>
          <p:cNvSpPr/>
          <p:nvPr/>
        </p:nvSpPr>
        <p:spPr>
          <a:xfrm>
            <a:off x="3355848" y="1645920"/>
            <a:ext cx="2670048" cy="1024128"/>
          </a:xfrm>
          <a:prstGeom prst="roundRect">
            <a:avLst>
              <a:gd name="adj" fmla="val 6250"/>
            </a:avLst>
          </a:prstGeom>
          <a:solidFill>
            <a:srgbClr val="1D2026"/>
          </a:solidFill>
          <a:ln w="9525">
            <a:solidFill>
              <a:srgbClr val="2F343D"/>
            </a:solidFill>
            <a:prstDash val="solid"/>
          </a:ln>
        </p:spPr>
      </p:sp>
      <p:sp>
        <p:nvSpPr>
          <p:cNvPr id="8" name="Text 6"/>
          <p:cNvSpPr txBox="1"/>
          <p:nvPr/>
        </p:nvSpPr>
        <p:spPr>
          <a:xfrm>
            <a:off x="3575304" y="1719072"/>
            <a:ext cx="2231136" cy="566928"/>
          </a:xfrm>
          <a:prstGeom prst="rect">
            <a:avLst/>
          </a:prstGeom>
          <a:noFill/>
          <a:ln/>
        </p:spPr>
        <p:txBody>
          <a:bodyPr wrap="square" lIns="0" tIns="0" rIns="0" bIns="0" rtlCol="0" anchor="b"/>
          <a:lstStyle/>
          <a:p>
            <a:pPr indent="0" marL="0">
              <a:buNone/>
            </a:pPr>
            <a:r>
              <a:rPr lang="en-US" sz="3400" b="1" dirty="0">
                <a:solidFill>
                  <a:srgbClr val="E3B23C"/>
                </a:solidFill>
                <a:latin typeface="Arial Narrow" pitchFamily="34" charset="0"/>
                <a:ea typeface="Arial Narrow" pitchFamily="34" charset="-122"/>
                <a:cs typeface="Arial Narrow" pitchFamily="34" charset="-120"/>
              </a:rPr>
              <a:t>252</a:t>
            </a:r>
            <a:endParaRPr lang="en-US" sz="3400" dirty="0"/>
          </a:p>
        </p:txBody>
      </p:sp>
      <p:sp>
        <p:nvSpPr>
          <p:cNvPr id="9" name="Text 7"/>
          <p:cNvSpPr txBox="1"/>
          <p:nvPr/>
        </p:nvSpPr>
        <p:spPr>
          <a:xfrm>
            <a:off x="3575304" y="2304288"/>
            <a:ext cx="2231136" cy="420624"/>
          </a:xfrm>
          <a:prstGeom prst="rect">
            <a:avLst/>
          </a:prstGeom>
          <a:noFill/>
          <a:ln/>
        </p:spPr>
        <p:txBody>
          <a:bodyPr wrap="square" lIns="0" tIns="0" rIns="0" bIns="0" rtlCol="0" anchor="t"/>
          <a:lstStyle/>
          <a:p>
            <a:pPr indent="0" marL="0">
              <a:buNone/>
            </a:pPr>
            <a:r>
              <a:rPr lang="en-US" sz="1050" dirty="0">
                <a:solidFill>
                  <a:srgbClr val="868E99"/>
                </a:solidFill>
                <a:latin typeface="Calibri" pitchFamily="34" charset="0"/>
                <a:ea typeface="Calibri" pitchFamily="34" charset="-122"/>
                <a:cs typeface="Calibri" pitchFamily="34" charset="-120"/>
              </a:rPr>
              <a:t>tests API</a:t>
            </a:r>
            <a:endParaRPr lang="en-US" sz="1050" dirty="0"/>
          </a:p>
        </p:txBody>
      </p:sp>
      <p:sp>
        <p:nvSpPr>
          <p:cNvPr id="10" name="Shape 8"/>
          <p:cNvSpPr/>
          <p:nvPr/>
        </p:nvSpPr>
        <p:spPr>
          <a:xfrm>
            <a:off x="6163056" y="1645920"/>
            <a:ext cx="2670048" cy="1024128"/>
          </a:xfrm>
          <a:prstGeom prst="roundRect">
            <a:avLst>
              <a:gd name="adj" fmla="val 6250"/>
            </a:avLst>
          </a:prstGeom>
          <a:solidFill>
            <a:srgbClr val="1D2026"/>
          </a:solidFill>
          <a:ln w="9525">
            <a:solidFill>
              <a:srgbClr val="2F343D"/>
            </a:solidFill>
            <a:prstDash val="solid"/>
          </a:ln>
        </p:spPr>
      </p:sp>
      <p:sp>
        <p:nvSpPr>
          <p:cNvPr id="11" name="Text 9"/>
          <p:cNvSpPr txBox="1"/>
          <p:nvPr/>
        </p:nvSpPr>
        <p:spPr>
          <a:xfrm>
            <a:off x="6382512" y="1719072"/>
            <a:ext cx="2231136" cy="566928"/>
          </a:xfrm>
          <a:prstGeom prst="rect">
            <a:avLst/>
          </a:prstGeom>
          <a:noFill/>
          <a:ln/>
        </p:spPr>
        <p:txBody>
          <a:bodyPr wrap="square" lIns="0" tIns="0" rIns="0" bIns="0" rtlCol="0" anchor="b"/>
          <a:lstStyle/>
          <a:p>
            <a:pPr indent="0" marL="0">
              <a:buNone/>
            </a:pPr>
            <a:r>
              <a:rPr lang="en-US" sz="3400" b="1" dirty="0">
                <a:solidFill>
                  <a:srgbClr val="E3B23C"/>
                </a:solidFill>
                <a:latin typeface="Arial Narrow" pitchFamily="34" charset="0"/>
                <a:ea typeface="Arial Narrow" pitchFamily="34" charset="-122"/>
                <a:cs typeface="Arial Narrow" pitchFamily="34" charset="-120"/>
              </a:rPr>
              <a:t>84 / 84</a:t>
            </a:r>
            <a:endParaRPr lang="en-US" sz="3400" dirty="0"/>
          </a:p>
        </p:txBody>
      </p:sp>
      <p:sp>
        <p:nvSpPr>
          <p:cNvPr id="12" name="Text 10"/>
          <p:cNvSpPr txBox="1"/>
          <p:nvPr/>
        </p:nvSpPr>
        <p:spPr>
          <a:xfrm>
            <a:off x="6382512" y="2304288"/>
            <a:ext cx="2231136" cy="420624"/>
          </a:xfrm>
          <a:prstGeom prst="rect">
            <a:avLst/>
          </a:prstGeom>
          <a:noFill/>
          <a:ln/>
        </p:spPr>
        <p:txBody>
          <a:bodyPr wrap="square" lIns="0" tIns="0" rIns="0" bIns="0" rtlCol="0" anchor="t"/>
          <a:lstStyle/>
          <a:p>
            <a:pPr indent="0" marL="0">
              <a:buNone/>
            </a:pPr>
            <a:r>
              <a:rPr lang="en-US" sz="1050" dirty="0">
                <a:solidFill>
                  <a:srgbClr val="868E99"/>
                </a:solidFill>
                <a:latin typeface="Calibri" pitchFamily="34" charset="0"/>
                <a:ea typeface="Calibri" pitchFamily="34" charset="-122"/>
                <a:cs typeface="Calibri" pitchFamily="34" charset="-120"/>
              </a:rPr>
              <a:t>constats d'audit traités</a:t>
            </a:r>
            <a:endParaRPr lang="en-US" sz="1050" dirty="0"/>
          </a:p>
        </p:txBody>
      </p:sp>
      <p:sp>
        <p:nvSpPr>
          <p:cNvPr id="13" name="Shape 11"/>
          <p:cNvSpPr/>
          <p:nvPr/>
        </p:nvSpPr>
        <p:spPr>
          <a:xfrm>
            <a:off x="8970264" y="1645920"/>
            <a:ext cx="2670048" cy="1024128"/>
          </a:xfrm>
          <a:prstGeom prst="roundRect">
            <a:avLst>
              <a:gd name="adj" fmla="val 6250"/>
            </a:avLst>
          </a:prstGeom>
          <a:solidFill>
            <a:srgbClr val="1D2026"/>
          </a:solidFill>
          <a:ln w="9525">
            <a:solidFill>
              <a:srgbClr val="2F343D"/>
            </a:solidFill>
            <a:prstDash val="solid"/>
          </a:ln>
        </p:spPr>
      </p:sp>
      <p:sp>
        <p:nvSpPr>
          <p:cNvPr id="14" name="Text 12"/>
          <p:cNvSpPr txBox="1"/>
          <p:nvPr/>
        </p:nvSpPr>
        <p:spPr>
          <a:xfrm>
            <a:off x="9189720" y="1719072"/>
            <a:ext cx="2231136" cy="566928"/>
          </a:xfrm>
          <a:prstGeom prst="rect">
            <a:avLst/>
          </a:prstGeom>
          <a:noFill/>
          <a:ln/>
        </p:spPr>
        <p:txBody>
          <a:bodyPr wrap="square" lIns="0" tIns="0" rIns="0" bIns="0" rtlCol="0" anchor="b"/>
          <a:lstStyle/>
          <a:p>
            <a:pPr indent="0" marL="0">
              <a:buNone/>
            </a:pPr>
            <a:r>
              <a:rPr lang="en-US" sz="3400" b="1" dirty="0">
                <a:solidFill>
                  <a:srgbClr val="E3B23C"/>
                </a:solidFill>
                <a:latin typeface="Arial Narrow" pitchFamily="34" charset="0"/>
                <a:ea typeface="Arial Narrow" pitchFamily="34" charset="-122"/>
                <a:cs typeface="Arial Narrow" pitchFamily="34" charset="-120"/>
              </a:rPr>
              <a:t>≈ 1 338</a:t>
            </a:r>
            <a:endParaRPr lang="en-US" sz="3400" dirty="0"/>
          </a:p>
        </p:txBody>
      </p:sp>
      <p:sp>
        <p:nvSpPr>
          <p:cNvPr id="15" name="Text 13"/>
          <p:cNvSpPr txBox="1"/>
          <p:nvPr/>
        </p:nvSpPr>
        <p:spPr>
          <a:xfrm>
            <a:off x="9189720" y="2304288"/>
            <a:ext cx="2231136" cy="420624"/>
          </a:xfrm>
          <a:prstGeom prst="rect">
            <a:avLst/>
          </a:prstGeom>
          <a:noFill/>
          <a:ln/>
        </p:spPr>
        <p:txBody>
          <a:bodyPr wrap="square" lIns="0" tIns="0" rIns="0" bIns="0" rtlCol="0" anchor="t"/>
          <a:lstStyle/>
          <a:p>
            <a:pPr indent="0" marL="0">
              <a:buNone/>
            </a:pPr>
            <a:r>
              <a:rPr lang="en-US" sz="1050" dirty="0">
                <a:solidFill>
                  <a:srgbClr val="868E99"/>
                </a:solidFill>
                <a:latin typeface="Calibri" pitchFamily="34" charset="0"/>
                <a:ea typeface="Calibri" pitchFamily="34" charset="-122"/>
                <a:cs typeface="Calibri" pitchFamily="34" charset="-120"/>
              </a:rPr>
              <a:t>exercices au catalogue</a:t>
            </a:r>
            <a:endParaRPr lang="en-US" sz="1050" dirty="0"/>
          </a:p>
        </p:txBody>
      </p:sp>
      <p:sp>
        <p:nvSpPr>
          <p:cNvPr id="16" name="Text 14"/>
          <p:cNvSpPr txBox="1"/>
          <p:nvPr/>
        </p:nvSpPr>
        <p:spPr>
          <a:xfrm>
            <a:off x="548640" y="2871216"/>
            <a:ext cx="3931920" cy="256032"/>
          </a:xfrm>
          <a:prstGeom prst="rect">
            <a:avLst/>
          </a:prstGeom>
          <a:noFill/>
          <a:ln/>
        </p:spPr>
        <p:txBody>
          <a:bodyPr wrap="square" lIns="0" tIns="0" rIns="0" bIns="0" rtlCol="0" anchor="ctr"/>
          <a:lstStyle/>
          <a:p>
            <a:pPr algn="l" indent="0" marL="0">
              <a:buNone/>
            </a:pPr>
            <a:r>
              <a:rPr lang="en-US" sz="850" b="1" spc="100" kern="0" dirty="0">
                <a:solidFill>
                  <a:srgbClr val="868E99"/>
                </a:solidFill>
                <a:latin typeface="Calibri" pitchFamily="34" charset="0"/>
                <a:ea typeface="Calibri" pitchFamily="34" charset="-122"/>
                <a:cs typeface="Calibri" pitchFamily="34" charset="-120"/>
              </a:rPr>
              <a:t>BRIQUE DE L'OFFRE PROFESSIONNELLE</a:t>
            </a:r>
            <a:endParaRPr lang="en-US" sz="850" dirty="0"/>
          </a:p>
        </p:txBody>
      </p:sp>
      <p:sp>
        <p:nvSpPr>
          <p:cNvPr id="17" name="Text 15"/>
          <p:cNvSpPr txBox="1"/>
          <p:nvPr/>
        </p:nvSpPr>
        <p:spPr>
          <a:xfrm>
            <a:off x="4480560" y="2871216"/>
            <a:ext cx="2103120" cy="256032"/>
          </a:xfrm>
          <a:prstGeom prst="rect">
            <a:avLst/>
          </a:prstGeom>
          <a:noFill/>
          <a:ln/>
        </p:spPr>
        <p:txBody>
          <a:bodyPr wrap="square" lIns="0" tIns="0" rIns="0" bIns="0" rtlCol="0" anchor="ctr"/>
          <a:lstStyle/>
          <a:p>
            <a:pPr algn="l" indent="0" marL="0">
              <a:buNone/>
            </a:pPr>
            <a:r>
              <a:rPr lang="en-US" sz="850" b="1" spc="100" kern="0" dirty="0">
                <a:solidFill>
                  <a:srgbClr val="868E99"/>
                </a:solidFill>
                <a:latin typeface="Calibri" pitchFamily="34" charset="0"/>
                <a:ea typeface="Calibri" pitchFamily="34" charset="-122"/>
                <a:cs typeface="Calibri" pitchFamily="34" charset="-120"/>
              </a:rPr>
              <a:t>ÉTAT</a:t>
            </a:r>
            <a:endParaRPr lang="en-US" sz="850" dirty="0"/>
          </a:p>
        </p:txBody>
      </p:sp>
      <p:sp>
        <p:nvSpPr>
          <p:cNvPr id="18" name="Text 16"/>
          <p:cNvSpPr txBox="1"/>
          <p:nvPr/>
        </p:nvSpPr>
        <p:spPr>
          <a:xfrm>
            <a:off x="6583680" y="2871216"/>
            <a:ext cx="5056632" cy="256032"/>
          </a:xfrm>
          <a:prstGeom prst="rect">
            <a:avLst/>
          </a:prstGeom>
          <a:noFill/>
          <a:ln/>
        </p:spPr>
        <p:txBody>
          <a:bodyPr wrap="square" lIns="0" tIns="0" rIns="0" bIns="0" rtlCol="0" anchor="ctr"/>
          <a:lstStyle/>
          <a:p>
            <a:pPr algn="l" indent="0" marL="0">
              <a:buNone/>
            </a:pPr>
            <a:r>
              <a:rPr lang="en-US" sz="850" b="1" spc="100" kern="0" dirty="0">
                <a:solidFill>
                  <a:srgbClr val="868E99"/>
                </a:solidFill>
                <a:latin typeface="Calibri" pitchFamily="34" charset="0"/>
                <a:ea typeface="Calibri" pitchFamily="34" charset="-122"/>
                <a:cs typeface="Calibri" pitchFamily="34" charset="-120"/>
              </a:rPr>
              <a:t>CE QUI RESTE</a:t>
            </a:r>
            <a:endParaRPr lang="en-US" sz="850" dirty="0"/>
          </a:p>
        </p:txBody>
      </p:sp>
      <p:sp>
        <p:nvSpPr>
          <p:cNvPr id="19" name="Text 17"/>
          <p:cNvSpPr txBox="1"/>
          <p:nvPr/>
        </p:nvSpPr>
        <p:spPr>
          <a:xfrm>
            <a:off x="548640" y="3145536"/>
            <a:ext cx="3931920" cy="384048"/>
          </a:xfrm>
          <a:prstGeom prst="rect">
            <a:avLst/>
          </a:prstGeom>
          <a:noFill/>
          <a:ln/>
        </p:spPr>
        <p:txBody>
          <a:bodyPr wrap="square" lIns="0" tIns="0" rIns="0" bIns="0" rtlCol="0" anchor="ctr"/>
          <a:lstStyle/>
          <a:p>
            <a:pPr algn="l" indent="0" marL="0">
              <a:buNone/>
            </a:pPr>
            <a:r>
              <a:rPr lang="en-US" sz="1150" dirty="0">
                <a:solidFill>
                  <a:srgbClr val="E8EAED"/>
                </a:solidFill>
                <a:latin typeface="Calibri" pitchFamily="34" charset="0"/>
                <a:ea typeface="Calibri" pitchFamily="34" charset="-122"/>
                <a:cs typeface="Calibri" pitchFamily="34" charset="-120"/>
              </a:rPr>
              <a:t>Comptes multiples, accès par invitation</a:t>
            </a:r>
            <a:endParaRPr lang="en-US" sz="1150" dirty="0"/>
          </a:p>
        </p:txBody>
      </p:sp>
      <p:sp>
        <p:nvSpPr>
          <p:cNvPr id="20" name="Text 18"/>
          <p:cNvSpPr txBox="1"/>
          <p:nvPr/>
        </p:nvSpPr>
        <p:spPr>
          <a:xfrm>
            <a:off x="4480560" y="3145536"/>
            <a:ext cx="2103120" cy="384048"/>
          </a:xfrm>
          <a:prstGeom prst="rect">
            <a:avLst/>
          </a:prstGeom>
          <a:noFill/>
          <a:ln/>
        </p:spPr>
        <p:txBody>
          <a:bodyPr wrap="square" lIns="0" tIns="0" rIns="0" bIns="0" rtlCol="0" anchor="ctr"/>
          <a:lstStyle/>
          <a:p>
            <a:pPr algn="l" indent="0" marL="0">
              <a:buNone/>
            </a:pPr>
            <a:r>
              <a:rPr lang="en-US" sz="1150" b="1" dirty="0">
                <a:solidFill>
                  <a:srgbClr val="5EC080"/>
                </a:solidFill>
                <a:latin typeface="Calibri" pitchFamily="34" charset="0"/>
                <a:ea typeface="Calibri" pitchFamily="34" charset="-122"/>
                <a:cs typeface="Calibri" pitchFamily="34" charset="-120"/>
              </a:rPr>
              <a:t>en service</a:t>
            </a:r>
            <a:endParaRPr lang="en-US" sz="1150" dirty="0"/>
          </a:p>
        </p:txBody>
      </p:sp>
      <p:sp>
        <p:nvSpPr>
          <p:cNvPr id="21" name="Text 19"/>
          <p:cNvSpPr txBox="1"/>
          <p:nvPr/>
        </p:nvSpPr>
        <p:spPr>
          <a:xfrm>
            <a:off x="6583680" y="3145536"/>
            <a:ext cx="5056632" cy="384048"/>
          </a:xfrm>
          <a:prstGeom prst="rect">
            <a:avLst/>
          </a:prstGeom>
          <a:noFill/>
          <a:ln/>
        </p:spPr>
        <p:txBody>
          <a:bodyPr wrap="square" lIns="0" tIns="0" rIns="0" bIns="0" rtlCol="0" anchor="ctr"/>
          <a:lstStyle/>
          <a:p>
            <a:pPr algn="l" indent="0" marL="0">
              <a:buNone/>
            </a:pPr>
            <a:r>
              <a:rPr lang="en-US" sz="1150" dirty="0">
                <a:solidFill>
                  <a:srgbClr val="ADB2B9"/>
                </a:solidFill>
                <a:latin typeface="Calibri" pitchFamily="34" charset="0"/>
                <a:ea typeface="Calibri" pitchFamily="34" charset="-122"/>
                <a:cs typeface="Calibri" pitchFamily="34" charset="-120"/>
              </a:rPr>
              <a:t>Inscription du professionnel en libre-service</a:t>
            </a:r>
            <a:endParaRPr lang="en-US" sz="1150" dirty="0"/>
          </a:p>
        </p:txBody>
      </p:sp>
      <p:sp>
        <p:nvSpPr>
          <p:cNvPr id="22" name="Shape 20"/>
          <p:cNvSpPr/>
          <p:nvPr/>
        </p:nvSpPr>
        <p:spPr>
          <a:xfrm>
            <a:off x="475488" y="3529584"/>
            <a:ext cx="11237976" cy="384048"/>
          </a:xfrm>
          <a:prstGeom prst="rect">
            <a:avLst/>
          </a:prstGeom>
          <a:solidFill>
            <a:srgbClr val="1D2026"/>
          </a:solidFill>
          <a:ln w="12700">
            <a:solidFill>
              <a:srgbClr val="1D2026"/>
            </a:solidFill>
            <a:prstDash val="solid"/>
          </a:ln>
        </p:spPr>
      </p:sp>
      <p:sp>
        <p:nvSpPr>
          <p:cNvPr id="23" name="Text 21"/>
          <p:cNvSpPr txBox="1"/>
          <p:nvPr/>
        </p:nvSpPr>
        <p:spPr>
          <a:xfrm>
            <a:off x="548640" y="3529584"/>
            <a:ext cx="3931920" cy="384048"/>
          </a:xfrm>
          <a:prstGeom prst="rect">
            <a:avLst/>
          </a:prstGeom>
          <a:noFill/>
          <a:ln/>
        </p:spPr>
        <p:txBody>
          <a:bodyPr wrap="square" lIns="0" tIns="0" rIns="0" bIns="0" rtlCol="0" anchor="ctr"/>
          <a:lstStyle/>
          <a:p>
            <a:pPr algn="l" indent="0" marL="0">
              <a:buNone/>
            </a:pPr>
            <a:r>
              <a:rPr lang="en-US" sz="1150" dirty="0">
                <a:solidFill>
                  <a:srgbClr val="E8EAED"/>
                </a:solidFill>
                <a:latin typeface="Calibri" pitchFamily="34" charset="0"/>
                <a:ea typeface="Calibri" pitchFamily="34" charset="-122"/>
                <a:cs typeface="Calibri" pitchFamily="34" charset="-120"/>
              </a:rPr>
              <a:t>Isolation des données entre comptes</a:t>
            </a:r>
            <a:endParaRPr lang="en-US" sz="1150" dirty="0"/>
          </a:p>
        </p:txBody>
      </p:sp>
      <p:sp>
        <p:nvSpPr>
          <p:cNvPr id="24" name="Text 22"/>
          <p:cNvSpPr txBox="1"/>
          <p:nvPr/>
        </p:nvSpPr>
        <p:spPr>
          <a:xfrm>
            <a:off x="4480560" y="3529584"/>
            <a:ext cx="2103120" cy="384048"/>
          </a:xfrm>
          <a:prstGeom prst="rect">
            <a:avLst/>
          </a:prstGeom>
          <a:noFill/>
          <a:ln/>
        </p:spPr>
        <p:txBody>
          <a:bodyPr wrap="square" lIns="0" tIns="0" rIns="0" bIns="0" rtlCol="0" anchor="ctr"/>
          <a:lstStyle/>
          <a:p>
            <a:pPr algn="l" indent="0" marL="0">
              <a:buNone/>
            </a:pPr>
            <a:r>
              <a:rPr lang="en-US" sz="1150" b="1" dirty="0">
                <a:solidFill>
                  <a:srgbClr val="5EC080"/>
                </a:solidFill>
                <a:latin typeface="Calibri" pitchFamily="34" charset="0"/>
                <a:ea typeface="Calibri" pitchFamily="34" charset="-122"/>
                <a:cs typeface="Calibri" pitchFamily="34" charset="-120"/>
              </a:rPr>
              <a:t>en service · 18 tests</a:t>
            </a:r>
            <a:endParaRPr lang="en-US" sz="1150" dirty="0"/>
          </a:p>
        </p:txBody>
      </p:sp>
      <p:sp>
        <p:nvSpPr>
          <p:cNvPr id="25" name="Text 23"/>
          <p:cNvSpPr txBox="1"/>
          <p:nvPr/>
        </p:nvSpPr>
        <p:spPr>
          <a:xfrm>
            <a:off x="6583680" y="3529584"/>
            <a:ext cx="5056632" cy="384048"/>
          </a:xfrm>
          <a:prstGeom prst="rect">
            <a:avLst/>
          </a:prstGeom>
          <a:noFill/>
          <a:ln/>
        </p:spPr>
        <p:txBody>
          <a:bodyPr wrap="square" lIns="0" tIns="0" rIns="0" bIns="0" rtlCol="0" anchor="ctr"/>
          <a:lstStyle/>
          <a:p>
            <a:pPr algn="l" indent="0" marL="0">
              <a:buNone/>
            </a:pPr>
            <a:r>
              <a:rPr lang="en-US" sz="1150" dirty="0">
                <a:solidFill>
                  <a:srgbClr val="ADB2B9"/>
                </a:solidFill>
                <a:latin typeface="Calibri" pitchFamily="34" charset="0"/>
                <a:ea typeface="Calibri" pitchFamily="34" charset="-122"/>
                <a:cs typeface="Calibri" pitchFamily="34" charset="-120"/>
              </a:rPr>
              <a:t>—</a:t>
            </a:r>
            <a:endParaRPr lang="en-US" sz="1150" dirty="0"/>
          </a:p>
        </p:txBody>
      </p:sp>
      <p:sp>
        <p:nvSpPr>
          <p:cNvPr id="26" name="Text 24"/>
          <p:cNvSpPr txBox="1"/>
          <p:nvPr/>
        </p:nvSpPr>
        <p:spPr>
          <a:xfrm>
            <a:off x="548640" y="3913632"/>
            <a:ext cx="3931920" cy="384048"/>
          </a:xfrm>
          <a:prstGeom prst="rect">
            <a:avLst/>
          </a:prstGeom>
          <a:noFill/>
          <a:ln/>
        </p:spPr>
        <p:txBody>
          <a:bodyPr wrap="square" lIns="0" tIns="0" rIns="0" bIns="0" rtlCol="0" anchor="ctr"/>
          <a:lstStyle/>
          <a:p>
            <a:pPr algn="l" indent="0" marL="0">
              <a:buNone/>
            </a:pPr>
            <a:r>
              <a:rPr lang="en-US" sz="1150" dirty="0">
                <a:solidFill>
                  <a:srgbClr val="E8EAED"/>
                </a:solidFill>
                <a:latin typeface="Calibri" pitchFamily="34" charset="0"/>
                <a:ea typeface="Calibri" pitchFamily="34" charset="-122"/>
                <a:cs typeface="Calibri" pitchFamily="34" charset="-120"/>
              </a:rPr>
              <a:t>Objectifs par repas, modèles de séances</a:t>
            </a:r>
            <a:endParaRPr lang="en-US" sz="1150" dirty="0"/>
          </a:p>
        </p:txBody>
      </p:sp>
      <p:sp>
        <p:nvSpPr>
          <p:cNvPr id="27" name="Text 25"/>
          <p:cNvSpPr txBox="1"/>
          <p:nvPr/>
        </p:nvSpPr>
        <p:spPr>
          <a:xfrm>
            <a:off x="4480560" y="3913632"/>
            <a:ext cx="2103120" cy="384048"/>
          </a:xfrm>
          <a:prstGeom prst="rect">
            <a:avLst/>
          </a:prstGeom>
          <a:noFill/>
          <a:ln/>
        </p:spPr>
        <p:txBody>
          <a:bodyPr wrap="square" lIns="0" tIns="0" rIns="0" bIns="0" rtlCol="0" anchor="ctr"/>
          <a:lstStyle/>
          <a:p>
            <a:pPr algn="l" indent="0" marL="0">
              <a:buNone/>
            </a:pPr>
            <a:r>
              <a:rPr lang="en-US" sz="1150" b="1" dirty="0">
                <a:solidFill>
                  <a:srgbClr val="5EC080"/>
                </a:solidFill>
                <a:latin typeface="Calibri" pitchFamily="34" charset="0"/>
                <a:ea typeface="Calibri" pitchFamily="34" charset="-122"/>
                <a:cs typeface="Calibri" pitchFamily="34" charset="-120"/>
              </a:rPr>
              <a:t>en service</a:t>
            </a:r>
            <a:endParaRPr lang="en-US" sz="1150" dirty="0"/>
          </a:p>
        </p:txBody>
      </p:sp>
      <p:sp>
        <p:nvSpPr>
          <p:cNvPr id="28" name="Text 26"/>
          <p:cNvSpPr txBox="1"/>
          <p:nvPr/>
        </p:nvSpPr>
        <p:spPr>
          <a:xfrm>
            <a:off x="6583680" y="3913632"/>
            <a:ext cx="5056632" cy="384048"/>
          </a:xfrm>
          <a:prstGeom prst="rect">
            <a:avLst/>
          </a:prstGeom>
          <a:noFill/>
          <a:ln/>
        </p:spPr>
        <p:txBody>
          <a:bodyPr wrap="square" lIns="0" tIns="0" rIns="0" bIns="0" rtlCol="0" anchor="ctr"/>
          <a:lstStyle/>
          <a:p>
            <a:pPr algn="l" indent="0" marL="0">
              <a:buNone/>
            </a:pPr>
            <a:r>
              <a:rPr lang="en-US" sz="1150" dirty="0">
                <a:solidFill>
                  <a:srgbClr val="ADB2B9"/>
                </a:solidFill>
                <a:latin typeface="Calibri" pitchFamily="34" charset="0"/>
                <a:ea typeface="Calibri" pitchFamily="34" charset="-122"/>
                <a:cs typeface="Calibri" pitchFamily="34" charset="-120"/>
              </a:rPr>
              <a:t>Les faire poser par le coach pour son client</a:t>
            </a:r>
            <a:endParaRPr lang="en-US" sz="1150" dirty="0"/>
          </a:p>
        </p:txBody>
      </p:sp>
      <p:sp>
        <p:nvSpPr>
          <p:cNvPr id="29" name="Shape 27"/>
          <p:cNvSpPr/>
          <p:nvPr/>
        </p:nvSpPr>
        <p:spPr>
          <a:xfrm>
            <a:off x="475488" y="4297680"/>
            <a:ext cx="11237976" cy="384048"/>
          </a:xfrm>
          <a:prstGeom prst="roundRect">
            <a:avLst>
              <a:gd name="adj" fmla="val 11905"/>
            </a:avLst>
          </a:prstGeom>
          <a:solidFill>
            <a:srgbClr val="23272E"/>
          </a:solidFill>
          <a:ln w="12700">
            <a:solidFill>
              <a:srgbClr val="E3B23C"/>
            </a:solidFill>
            <a:prstDash val="solid"/>
          </a:ln>
        </p:spPr>
      </p:sp>
      <p:sp>
        <p:nvSpPr>
          <p:cNvPr id="30" name="Text 28"/>
          <p:cNvSpPr txBox="1"/>
          <p:nvPr/>
        </p:nvSpPr>
        <p:spPr>
          <a:xfrm>
            <a:off x="548640" y="4297680"/>
            <a:ext cx="3931920" cy="384048"/>
          </a:xfrm>
          <a:prstGeom prst="rect">
            <a:avLst/>
          </a:prstGeom>
          <a:noFill/>
          <a:ln/>
        </p:spPr>
        <p:txBody>
          <a:bodyPr wrap="square" lIns="0" tIns="0" rIns="0" bIns="0" rtlCol="0" anchor="ctr"/>
          <a:lstStyle/>
          <a:p>
            <a:pPr algn="l" indent="0" marL="0">
              <a:buNone/>
            </a:pPr>
            <a:r>
              <a:rPr lang="en-US" sz="1150" b="1" dirty="0">
                <a:solidFill>
                  <a:srgbClr val="E8EAED"/>
                </a:solidFill>
                <a:latin typeface="Calibri" pitchFamily="34" charset="0"/>
                <a:ea typeface="Calibri" pitchFamily="34" charset="-122"/>
                <a:cs typeface="Calibri" pitchFamily="34" charset="-120"/>
              </a:rPr>
              <a:t>Partage coach ↔ client</a:t>
            </a:r>
            <a:endParaRPr lang="en-US" sz="1150" dirty="0"/>
          </a:p>
        </p:txBody>
      </p:sp>
      <p:sp>
        <p:nvSpPr>
          <p:cNvPr id="31" name="Text 29"/>
          <p:cNvSpPr txBox="1"/>
          <p:nvPr/>
        </p:nvSpPr>
        <p:spPr>
          <a:xfrm>
            <a:off x="4480560" y="4297680"/>
            <a:ext cx="2103120" cy="384048"/>
          </a:xfrm>
          <a:prstGeom prst="rect">
            <a:avLst/>
          </a:prstGeom>
          <a:noFill/>
          <a:ln/>
        </p:spPr>
        <p:txBody>
          <a:bodyPr wrap="square" lIns="0" tIns="0" rIns="0" bIns="0" rtlCol="0" anchor="ctr"/>
          <a:lstStyle/>
          <a:p>
            <a:pPr algn="l" indent="0" marL="0">
              <a:buNone/>
            </a:pPr>
            <a:r>
              <a:rPr lang="en-US" sz="1150" b="1" dirty="0">
                <a:solidFill>
                  <a:srgbClr val="E3B23C"/>
                </a:solidFill>
                <a:latin typeface="Calibri" pitchFamily="34" charset="0"/>
                <a:ea typeface="Calibri" pitchFamily="34" charset="-122"/>
                <a:cs typeface="Calibri" pitchFamily="34" charset="-120"/>
              </a:rPr>
              <a:t>à construire</a:t>
            </a:r>
            <a:endParaRPr lang="en-US" sz="1150" dirty="0"/>
          </a:p>
        </p:txBody>
      </p:sp>
      <p:sp>
        <p:nvSpPr>
          <p:cNvPr id="32" name="Text 30"/>
          <p:cNvSpPr txBox="1"/>
          <p:nvPr/>
        </p:nvSpPr>
        <p:spPr>
          <a:xfrm>
            <a:off x="6583680" y="4297680"/>
            <a:ext cx="5056632" cy="384048"/>
          </a:xfrm>
          <a:prstGeom prst="rect">
            <a:avLst/>
          </a:prstGeom>
          <a:noFill/>
          <a:ln/>
        </p:spPr>
        <p:txBody>
          <a:bodyPr wrap="square" lIns="0" tIns="0" rIns="0" bIns="0" rtlCol="0" anchor="ctr"/>
          <a:lstStyle/>
          <a:p>
            <a:pPr algn="l" indent="0" marL="0">
              <a:buNone/>
            </a:pPr>
            <a:r>
              <a:rPr lang="en-US" sz="1150" b="1" dirty="0">
                <a:solidFill>
                  <a:srgbClr val="ADB2B9"/>
                </a:solidFill>
                <a:latin typeface="Calibri" pitchFamily="34" charset="0"/>
                <a:ea typeface="Calibri" pitchFamily="34" charset="-122"/>
                <a:cs typeface="Calibri" pitchFamily="34" charset="-120"/>
              </a:rPr>
              <a:t>Consenti, révocable, tracé — le chantier principal</a:t>
            </a:r>
            <a:endParaRPr lang="en-US" sz="1150" dirty="0"/>
          </a:p>
        </p:txBody>
      </p:sp>
      <p:sp>
        <p:nvSpPr>
          <p:cNvPr id="33" name="Text 31"/>
          <p:cNvSpPr txBox="1"/>
          <p:nvPr/>
        </p:nvSpPr>
        <p:spPr>
          <a:xfrm>
            <a:off x="548640" y="4681728"/>
            <a:ext cx="3931920" cy="384048"/>
          </a:xfrm>
          <a:prstGeom prst="rect">
            <a:avLst/>
          </a:prstGeom>
          <a:noFill/>
          <a:ln/>
        </p:spPr>
        <p:txBody>
          <a:bodyPr wrap="square" lIns="0" tIns="0" rIns="0" bIns="0" rtlCol="0" anchor="ctr"/>
          <a:lstStyle/>
          <a:p>
            <a:pPr algn="l" indent="0" marL="0">
              <a:buNone/>
            </a:pPr>
            <a:r>
              <a:rPr lang="en-US" sz="1150" dirty="0">
                <a:solidFill>
                  <a:srgbClr val="E8EAED"/>
                </a:solidFill>
                <a:latin typeface="Calibri" pitchFamily="34" charset="0"/>
                <a:ea typeface="Calibri" pitchFamily="34" charset="-122"/>
                <a:cs typeface="Calibri" pitchFamily="34" charset="-120"/>
              </a:rPr>
              <a:t>Tableau de bord du coach</a:t>
            </a:r>
            <a:endParaRPr lang="en-US" sz="1150" dirty="0"/>
          </a:p>
        </p:txBody>
      </p:sp>
      <p:sp>
        <p:nvSpPr>
          <p:cNvPr id="34" name="Text 32"/>
          <p:cNvSpPr txBox="1"/>
          <p:nvPr/>
        </p:nvSpPr>
        <p:spPr>
          <a:xfrm>
            <a:off x="4480560" y="4681728"/>
            <a:ext cx="2103120" cy="384048"/>
          </a:xfrm>
          <a:prstGeom prst="rect">
            <a:avLst/>
          </a:prstGeom>
          <a:noFill/>
          <a:ln/>
        </p:spPr>
        <p:txBody>
          <a:bodyPr wrap="square" lIns="0" tIns="0" rIns="0" bIns="0" rtlCol="0" anchor="ctr"/>
          <a:lstStyle/>
          <a:p>
            <a:pPr algn="l" indent="0" marL="0">
              <a:buNone/>
            </a:pPr>
            <a:r>
              <a:rPr lang="en-US" sz="1150" b="1" dirty="0">
                <a:solidFill>
                  <a:srgbClr val="E3B23C"/>
                </a:solidFill>
                <a:latin typeface="Calibri" pitchFamily="34" charset="0"/>
                <a:ea typeface="Calibri" pitchFamily="34" charset="-122"/>
                <a:cs typeface="Calibri" pitchFamily="34" charset="-120"/>
              </a:rPr>
              <a:t>à construire</a:t>
            </a:r>
            <a:endParaRPr lang="en-US" sz="1150" dirty="0"/>
          </a:p>
        </p:txBody>
      </p:sp>
      <p:sp>
        <p:nvSpPr>
          <p:cNvPr id="35" name="Text 33"/>
          <p:cNvSpPr txBox="1"/>
          <p:nvPr/>
        </p:nvSpPr>
        <p:spPr>
          <a:xfrm>
            <a:off x="6583680" y="4681728"/>
            <a:ext cx="5056632" cy="384048"/>
          </a:xfrm>
          <a:prstGeom prst="rect">
            <a:avLst/>
          </a:prstGeom>
          <a:noFill/>
          <a:ln/>
        </p:spPr>
        <p:txBody>
          <a:bodyPr wrap="square" lIns="0" tIns="0" rIns="0" bIns="0" rtlCol="0" anchor="ctr"/>
          <a:lstStyle/>
          <a:p>
            <a:pPr algn="l" indent="0" marL="0">
              <a:buNone/>
            </a:pPr>
            <a:r>
              <a:rPr lang="en-US" sz="1150" dirty="0">
                <a:solidFill>
                  <a:srgbClr val="ADB2B9"/>
                </a:solidFill>
                <a:latin typeface="Calibri" pitchFamily="34" charset="0"/>
                <a:ea typeface="Calibri" pitchFamily="34" charset="-122"/>
                <a:cs typeface="Calibri" pitchFamily="34" charset="-120"/>
              </a:rPr>
              <a:t>Vue d'ensemble des clients, alertes d'écart</a:t>
            </a:r>
            <a:endParaRPr lang="en-US" sz="1150" dirty="0"/>
          </a:p>
        </p:txBody>
      </p:sp>
      <p:sp>
        <p:nvSpPr>
          <p:cNvPr id="36" name="Shape 34"/>
          <p:cNvSpPr/>
          <p:nvPr/>
        </p:nvSpPr>
        <p:spPr>
          <a:xfrm>
            <a:off x="475488" y="5065776"/>
            <a:ext cx="11237976" cy="384048"/>
          </a:xfrm>
          <a:prstGeom prst="rect">
            <a:avLst/>
          </a:prstGeom>
          <a:solidFill>
            <a:srgbClr val="1D2026"/>
          </a:solidFill>
          <a:ln w="12700">
            <a:solidFill>
              <a:srgbClr val="1D2026"/>
            </a:solidFill>
            <a:prstDash val="solid"/>
          </a:ln>
        </p:spPr>
      </p:sp>
      <p:sp>
        <p:nvSpPr>
          <p:cNvPr id="37" name="Text 35"/>
          <p:cNvSpPr txBox="1"/>
          <p:nvPr/>
        </p:nvSpPr>
        <p:spPr>
          <a:xfrm>
            <a:off x="548640" y="5065776"/>
            <a:ext cx="3931920" cy="384048"/>
          </a:xfrm>
          <a:prstGeom prst="rect">
            <a:avLst/>
          </a:prstGeom>
          <a:noFill/>
          <a:ln/>
        </p:spPr>
        <p:txBody>
          <a:bodyPr wrap="square" lIns="0" tIns="0" rIns="0" bIns="0" rtlCol="0" anchor="ctr"/>
          <a:lstStyle/>
          <a:p>
            <a:pPr algn="l" indent="0" marL="0">
              <a:buNone/>
            </a:pPr>
            <a:r>
              <a:rPr lang="en-US" sz="1150" dirty="0">
                <a:solidFill>
                  <a:srgbClr val="E8EAED"/>
                </a:solidFill>
                <a:latin typeface="Calibri" pitchFamily="34" charset="0"/>
                <a:ea typeface="Calibri" pitchFamily="34" charset="-122"/>
                <a:cs typeface="Calibri" pitchFamily="34" charset="-120"/>
              </a:rPr>
              <a:t>Paiement, hébergement professionnel</a:t>
            </a:r>
            <a:endParaRPr lang="en-US" sz="1150" dirty="0"/>
          </a:p>
        </p:txBody>
      </p:sp>
      <p:sp>
        <p:nvSpPr>
          <p:cNvPr id="38" name="Text 36"/>
          <p:cNvSpPr txBox="1"/>
          <p:nvPr/>
        </p:nvSpPr>
        <p:spPr>
          <a:xfrm>
            <a:off x="4480560" y="5065776"/>
            <a:ext cx="2103120" cy="384048"/>
          </a:xfrm>
          <a:prstGeom prst="rect">
            <a:avLst/>
          </a:prstGeom>
          <a:noFill/>
          <a:ln/>
        </p:spPr>
        <p:txBody>
          <a:bodyPr wrap="square" lIns="0" tIns="0" rIns="0" bIns="0" rtlCol="0" anchor="ctr"/>
          <a:lstStyle/>
          <a:p>
            <a:pPr algn="l" indent="0" marL="0">
              <a:buNone/>
            </a:pPr>
            <a:r>
              <a:rPr lang="en-US" sz="1150" b="1" dirty="0">
                <a:solidFill>
                  <a:srgbClr val="7BA7DD"/>
                </a:solidFill>
                <a:latin typeface="Calibri" pitchFamily="34" charset="0"/>
                <a:ea typeface="Calibri" pitchFamily="34" charset="-122"/>
                <a:cs typeface="Calibri" pitchFamily="34" charset="-120"/>
              </a:rPr>
              <a:t>à brancher</a:t>
            </a:r>
            <a:endParaRPr lang="en-US" sz="1150" dirty="0"/>
          </a:p>
        </p:txBody>
      </p:sp>
      <p:sp>
        <p:nvSpPr>
          <p:cNvPr id="39" name="Text 37"/>
          <p:cNvSpPr txBox="1"/>
          <p:nvPr/>
        </p:nvSpPr>
        <p:spPr>
          <a:xfrm>
            <a:off x="6583680" y="5065776"/>
            <a:ext cx="5056632" cy="384048"/>
          </a:xfrm>
          <a:prstGeom prst="rect">
            <a:avLst/>
          </a:prstGeom>
          <a:noFill/>
          <a:ln/>
        </p:spPr>
        <p:txBody>
          <a:bodyPr wrap="square" lIns="0" tIns="0" rIns="0" bIns="0" rtlCol="0" anchor="ctr"/>
          <a:lstStyle/>
          <a:p>
            <a:pPr algn="l" indent="0" marL="0">
              <a:buNone/>
            </a:pPr>
            <a:r>
              <a:rPr lang="en-US" sz="1150" dirty="0">
                <a:solidFill>
                  <a:srgbClr val="ADB2B9"/>
                </a:solidFill>
                <a:latin typeface="Calibri" pitchFamily="34" charset="0"/>
                <a:ea typeface="Calibri" pitchFamily="34" charset="-122"/>
                <a:cs typeface="Calibri" pitchFamily="34" charset="-120"/>
              </a:rPr>
              <a:t>Stripe ; quitter le NAS pour un hébergeur français</a:t>
            </a:r>
            <a:endParaRPr lang="en-US" sz="1150" dirty="0"/>
          </a:p>
        </p:txBody>
      </p:sp>
      <p:sp>
        <p:nvSpPr>
          <p:cNvPr id="40" name="Text 38"/>
          <p:cNvSpPr txBox="1"/>
          <p:nvPr/>
        </p:nvSpPr>
        <p:spPr>
          <a:xfrm>
            <a:off x="548640" y="5449824"/>
            <a:ext cx="3931920" cy="384048"/>
          </a:xfrm>
          <a:prstGeom prst="rect">
            <a:avLst/>
          </a:prstGeom>
          <a:noFill/>
          <a:ln/>
        </p:spPr>
        <p:txBody>
          <a:bodyPr wrap="square" lIns="0" tIns="0" rIns="0" bIns="0" rtlCol="0" anchor="ctr"/>
          <a:lstStyle/>
          <a:p>
            <a:pPr algn="l" indent="0" marL="0">
              <a:buNone/>
            </a:pPr>
            <a:r>
              <a:rPr lang="en-US" sz="1150" dirty="0">
                <a:solidFill>
                  <a:srgbClr val="E8EAED"/>
                </a:solidFill>
                <a:latin typeface="Calibri" pitchFamily="34" charset="0"/>
                <a:ea typeface="Calibri" pitchFamily="34" charset="-122"/>
                <a:cs typeface="Calibri" pitchFamily="34" charset="-120"/>
              </a:rPr>
              <a:t>iOS</a:t>
            </a:r>
            <a:endParaRPr lang="en-US" sz="1150" dirty="0"/>
          </a:p>
        </p:txBody>
      </p:sp>
      <p:sp>
        <p:nvSpPr>
          <p:cNvPr id="41" name="Text 39"/>
          <p:cNvSpPr txBox="1"/>
          <p:nvPr/>
        </p:nvSpPr>
        <p:spPr>
          <a:xfrm>
            <a:off x="4480560" y="5449824"/>
            <a:ext cx="2103120" cy="384048"/>
          </a:xfrm>
          <a:prstGeom prst="rect">
            <a:avLst/>
          </a:prstGeom>
          <a:noFill/>
          <a:ln/>
        </p:spPr>
        <p:txBody>
          <a:bodyPr wrap="square" lIns="0" tIns="0" rIns="0" bIns="0" rtlCol="0" anchor="ctr"/>
          <a:lstStyle/>
          <a:p>
            <a:pPr algn="l" indent="0" marL="0">
              <a:buNone/>
            </a:pPr>
            <a:r>
              <a:rPr lang="en-US" sz="1150" b="1" dirty="0">
                <a:solidFill>
                  <a:srgbClr val="7BA7DD"/>
                </a:solidFill>
                <a:latin typeface="Calibri" pitchFamily="34" charset="0"/>
                <a:ea typeface="Calibri" pitchFamily="34" charset="-122"/>
                <a:cs typeface="Calibri" pitchFamily="34" charset="-120"/>
              </a:rPr>
              <a:t>à publier</a:t>
            </a:r>
            <a:endParaRPr lang="en-US" sz="1150" dirty="0"/>
          </a:p>
        </p:txBody>
      </p:sp>
      <p:sp>
        <p:nvSpPr>
          <p:cNvPr id="42" name="Text 40"/>
          <p:cNvSpPr txBox="1"/>
          <p:nvPr/>
        </p:nvSpPr>
        <p:spPr>
          <a:xfrm>
            <a:off x="6583680" y="5449824"/>
            <a:ext cx="5056632" cy="384048"/>
          </a:xfrm>
          <a:prstGeom prst="rect">
            <a:avLst/>
          </a:prstGeom>
          <a:noFill/>
          <a:ln/>
        </p:spPr>
        <p:txBody>
          <a:bodyPr wrap="square" lIns="0" tIns="0" rIns="0" bIns="0" rtlCol="0" anchor="ctr"/>
          <a:lstStyle/>
          <a:p>
            <a:pPr algn="l" indent="0" marL="0">
              <a:buNone/>
            </a:pPr>
            <a:r>
              <a:rPr lang="en-US" sz="1150" dirty="0">
                <a:solidFill>
                  <a:srgbClr val="ADB2B9"/>
                </a:solidFill>
                <a:latin typeface="Calibri" pitchFamily="34" charset="0"/>
                <a:ea typeface="Calibri" pitchFamily="34" charset="-122"/>
                <a:cs typeface="Calibri" pitchFamily="34" charset="-120"/>
              </a:rPr>
              <a:t>Expo le permet ; compte Apple et App Store</a:t>
            </a:r>
            <a:endParaRPr lang="en-US" sz="1150" dirty="0"/>
          </a:p>
        </p:txBody>
      </p:sp>
      <p:sp>
        <p:nvSpPr>
          <p:cNvPr id="43" name="Text 41"/>
          <p:cNvSpPr txBox="1"/>
          <p:nvPr/>
        </p:nvSpPr>
        <p:spPr>
          <a:xfrm>
            <a:off x="548640" y="5961888"/>
            <a:ext cx="11091672" cy="310896"/>
          </a:xfrm>
          <a:prstGeom prst="rect">
            <a:avLst/>
          </a:prstGeom>
          <a:noFill/>
          <a:ln/>
        </p:spPr>
        <p:txBody>
          <a:bodyPr wrap="square" lIns="0" tIns="0" rIns="0" bIns="0" rtlCol="0" anchor="ctr"/>
          <a:lstStyle/>
          <a:p>
            <a:pPr indent="0" marL="0">
              <a:buNone/>
            </a:pPr>
            <a:r>
              <a:rPr lang="en-US" sz="950" i="1" dirty="0">
                <a:solidFill>
                  <a:srgbClr val="868E99"/>
                </a:solidFill>
                <a:latin typeface="Calibri" pitchFamily="34" charset="0"/>
                <a:ea typeface="Calibri" pitchFamily="34" charset="-122"/>
                <a:cs typeface="Calibri" pitchFamily="34" charset="-120"/>
              </a:rPr>
              <a:t>Le coût de construction du produit est déjà payé : c'est ce qui rend le besoin de départ si bas</a:t>
            </a:r>
            <a:endParaRPr lang="en-US" sz="950" dirty="0"/>
          </a:p>
        </p:txBody>
      </p:sp>
      <p:sp>
        <p:nvSpPr>
          <p:cNvPr id="44" name="Text 42"/>
          <p:cNvSpPr txBox="1"/>
          <p:nvPr/>
        </p:nvSpPr>
        <p:spPr>
          <a:xfrm>
            <a:off x="548640" y="6336792"/>
            <a:ext cx="8229600" cy="274320"/>
          </a:xfrm>
          <a:prstGeom prst="rect">
            <a:avLst/>
          </a:prstGeom>
          <a:noFill/>
          <a:ln/>
        </p:spPr>
        <p:txBody>
          <a:bodyPr wrap="square" lIns="0" tIns="0" rIns="0" bIns="0" rtlCol="0" anchor="ctr"/>
          <a:lstStyle/>
          <a:p>
            <a:pPr algn="l" indent="0" marL="0">
              <a:buNone/>
            </a:pPr>
            <a:r>
              <a:rPr lang="en-US" sz="900" dirty="0">
                <a:solidFill>
                  <a:srgbClr val="868E99"/>
                </a:solidFill>
                <a:latin typeface="Calibri" pitchFamily="34" charset="0"/>
                <a:ea typeface="Calibri" pitchFamily="34" charset="-122"/>
                <a:cs typeface="Calibri" pitchFamily="34" charset="-120"/>
              </a:rPr>
              <a:t>fitcarnet Pro · business plan · 21 septembre 2026</a:t>
            </a:r>
            <a:endParaRPr lang="en-US" sz="900" dirty="0"/>
          </a:p>
        </p:txBody>
      </p:sp>
      <p:sp>
        <p:nvSpPr>
          <p:cNvPr id="45" name="Text 43"/>
          <p:cNvSpPr txBox="1"/>
          <p:nvPr/>
        </p:nvSpPr>
        <p:spPr>
          <a:xfrm>
            <a:off x="8897112" y="6336792"/>
            <a:ext cx="2743200" cy="274320"/>
          </a:xfrm>
          <a:prstGeom prst="rect">
            <a:avLst/>
          </a:prstGeom>
          <a:noFill/>
          <a:ln/>
        </p:spPr>
        <p:txBody>
          <a:bodyPr wrap="square" lIns="0" tIns="0" rIns="0" bIns="0" rtlCol="0" anchor="ctr"/>
          <a:lstStyle/>
          <a:p>
            <a:pPr algn="r" indent="0" marL="0">
              <a:buNone/>
            </a:pPr>
            <a:r>
              <a:rPr lang="en-US" sz="900" dirty="0">
                <a:solidFill>
                  <a:srgbClr val="868E99"/>
                </a:solidFill>
                <a:latin typeface="Calibri" pitchFamily="34" charset="0"/>
                <a:ea typeface="Calibri" pitchFamily="34" charset="-122"/>
                <a:cs typeface="Calibri" pitchFamily="34" charset="-120"/>
              </a:rPr>
              <a:t>07 / 24</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161A"/>
        </a:solidFill>
      </p:bgPr>
    </p:bg>
    <p:spTree>
      <p:nvGrpSpPr>
        <p:cNvPr id="1" name=""/>
        <p:cNvGrpSpPr/>
        <p:nvPr/>
      </p:nvGrpSpPr>
      <p:grpSpPr>
        <a:xfrm>
          <a:off x="0" y="0"/>
          <a:ext cx="0" cy="0"/>
          <a:chOff x="0" y="0"/>
          <a:chExt cx="0" cy="0"/>
        </a:xfrm>
      </p:grpSpPr>
      <p:sp>
        <p:nvSpPr>
          <p:cNvPr id="2" name="Text 0"/>
          <p:cNvSpPr txBox="1"/>
          <p:nvPr/>
        </p:nvSpPr>
        <p:spPr>
          <a:xfrm>
            <a:off x="548640" y="347472"/>
            <a:ext cx="11091672" cy="237744"/>
          </a:xfrm>
          <a:prstGeom prst="rect">
            <a:avLst/>
          </a:prstGeom>
          <a:noFill/>
          <a:ln/>
        </p:spPr>
        <p:txBody>
          <a:bodyPr wrap="square" lIns="0" tIns="0" rIns="0" bIns="0" rtlCol="0" anchor="ctr"/>
          <a:lstStyle/>
          <a:p>
            <a:pPr indent="0" marL="0">
              <a:buNone/>
            </a:pPr>
            <a:r>
              <a:rPr lang="en-US" sz="1050" b="1" spc="200" kern="0" dirty="0">
                <a:solidFill>
                  <a:srgbClr val="E3B23C"/>
                </a:solidFill>
                <a:latin typeface="Calibri" pitchFamily="34" charset="0"/>
                <a:ea typeface="Calibri" pitchFamily="34" charset="-122"/>
                <a:cs typeface="Calibri" pitchFamily="34" charset="-120"/>
              </a:rPr>
              <a:t>LE MARCHÉ · FRANCE</a:t>
            </a:r>
            <a:endParaRPr lang="en-US" sz="1050" dirty="0"/>
          </a:p>
        </p:txBody>
      </p:sp>
      <p:sp>
        <p:nvSpPr>
          <p:cNvPr id="3" name="Text 1"/>
          <p:cNvSpPr txBox="1"/>
          <p:nvPr/>
        </p:nvSpPr>
        <p:spPr>
          <a:xfrm>
            <a:off x="548640" y="603504"/>
            <a:ext cx="11091672" cy="566928"/>
          </a:xfrm>
          <a:prstGeom prst="rect">
            <a:avLst/>
          </a:prstGeom>
          <a:noFill/>
          <a:ln/>
        </p:spPr>
        <p:txBody>
          <a:bodyPr wrap="square" lIns="0" tIns="0" rIns="0" bIns="0" rtlCol="0" anchor="ctr"/>
          <a:lstStyle/>
          <a:p>
            <a:pPr indent="0" marL="0">
              <a:buNone/>
            </a:pPr>
            <a:r>
              <a:rPr lang="en-US" sz="3000" b="1" dirty="0">
                <a:solidFill>
                  <a:srgbClr val="E8EAED"/>
                </a:solidFill>
                <a:latin typeface="Arial Narrow" pitchFamily="34" charset="0"/>
                <a:ea typeface="Arial Narrow" pitchFamily="34" charset="-122"/>
                <a:cs typeface="Arial Narrow" pitchFamily="34" charset="-120"/>
              </a:rPr>
              <a:t>Des dizaines de milliers de professionnels, 210 visés à 3 ans</a:t>
            </a:r>
            <a:endParaRPr lang="en-US" sz="3000" dirty="0"/>
          </a:p>
        </p:txBody>
      </p:sp>
      <p:sp>
        <p:nvSpPr>
          <p:cNvPr id="4" name="Text 2"/>
          <p:cNvSpPr txBox="1"/>
          <p:nvPr/>
        </p:nvSpPr>
        <p:spPr>
          <a:xfrm>
            <a:off x="548640" y="1783080"/>
            <a:ext cx="5212080" cy="237744"/>
          </a:xfrm>
          <a:prstGeom prst="rect">
            <a:avLst/>
          </a:prstGeom>
          <a:noFill/>
          <a:ln/>
        </p:spPr>
        <p:txBody>
          <a:bodyPr wrap="square" lIns="0" tIns="0" rIns="0" bIns="0" rtlCol="0" anchor="ctr"/>
          <a:lstStyle/>
          <a:p>
            <a:pPr indent="0" marL="0">
              <a:buNone/>
            </a:pPr>
            <a:r>
              <a:rPr lang="en-US" sz="1150" dirty="0">
                <a:solidFill>
                  <a:srgbClr val="ADB2B9"/>
                </a:solidFill>
                <a:latin typeface="Calibri" pitchFamily="34" charset="0"/>
                <a:ea typeface="Calibri" pitchFamily="34" charset="-122"/>
                <a:cs typeface="Calibri" pitchFamily="34" charset="-120"/>
              </a:rPr>
              <a:t>Éducateurs sportifs, toutes pratiques</a:t>
            </a:r>
            <a:endParaRPr lang="en-US" sz="1150" dirty="0"/>
          </a:p>
        </p:txBody>
      </p:sp>
      <p:sp>
        <p:nvSpPr>
          <p:cNvPr id="5" name="Text 3"/>
          <p:cNvSpPr txBox="1"/>
          <p:nvPr/>
        </p:nvSpPr>
        <p:spPr>
          <a:xfrm>
            <a:off x="5760720" y="1783080"/>
            <a:ext cx="1737360" cy="237744"/>
          </a:xfrm>
          <a:prstGeom prst="rect">
            <a:avLst/>
          </a:prstGeom>
          <a:noFill/>
          <a:ln/>
        </p:spPr>
        <p:txBody>
          <a:bodyPr wrap="square" lIns="0" tIns="0" rIns="0" bIns="0" rtlCol="0" anchor="ctr"/>
          <a:lstStyle/>
          <a:p>
            <a:pPr algn="r" indent="0" marL="0">
              <a:buNone/>
            </a:pPr>
            <a:r>
              <a:rPr lang="en-US" sz="1600" b="1" dirty="0">
                <a:solidFill>
                  <a:srgbClr val="868E99"/>
                </a:solidFill>
                <a:latin typeface="Arial Narrow" pitchFamily="34" charset="0"/>
                <a:ea typeface="Arial Narrow" pitchFamily="34" charset="-122"/>
                <a:cs typeface="Arial Narrow" pitchFamily="34" charset="-120"/>
              </a:rPr>
              <a:t>≈ 140 000</a:t>
            </a:r>
            <a:endParaRPr lang="en-US" sz="1600" dirty="0"/>
          </a:p>
        </p:txBody>
      </p:sp>
      <p:sp>
        <p:nvSpPr>
          <p:cNvPr id="6" name="Shape 4"/>
          <p:cNvSpPr/>
          <p:nvPr/>
        </p:nvSpPr>
        <p:spPr>
          <a:xfrm>
            <a:off x="548640" y="2057400"/>
            <a:ext cx="6949440" cy="274320"/>
          </a:xfrm>
          <a:prstGeom prst="roundRect">
            <a:avLst>
              <a:gd name="adj" fmla="val 13333"/>
            </a:avLst>
          </a:prstGeom>
          <a:solidFill>
            <a:srgbClr val="868E99"/>
          </a:solidFill>
          <a:ln w="12700">
            <a:solidFill>
              <a:srgbClr val="868E99"/>
            </a:solidFill>
            <a:prstDash val="solid"/>
          </a:ln>
        </p:spPr>
      </p:sp>
      <p:sp>
        <p:nvSpPr>
          <p:cNvPr id="7" name="Text 5"/>
          <p:cNvSpPr txBox="1"/>
          <p:nvPr/>
        </p:nvSpPr>
        <p:spPr>
          <a:xfrm>
            <a:off x="548640" y="2569464"/>
            <a:ext cx="5212080" cy="237744"/>
          </a:xfrm>
          <a:prstGeom prst="rect">
            <a:avLst/>
          </a:prstGeom>
          <a:noFill/>
          <a:ln/>
        </p:spPr>
        <p:txBody>
          <a:bodyPr wrap="square" lIns="0" tIns="0" rIns="0" bIns="0" rtlCol="0" anchor="ctr"/>
          <a:lstStyle/>
          <a:p>
            <a:pPr indent="0" marL="0">
              <a:buNone/>
            </a:pPr>
            <a:r>
              <a:rPr lang="en-US" sz="1150" dirty="0">
                <a:solidFill>
                  <a:srgbClr val="ADB2B9"/>
                </a:solidFill>
                <a:latin typeface="Calibri" pitchFamily="34" charset="0"/>
                <a:ea typeface="Calibri" pitchFamily="34" charset="-122"/>
                <a:cs typeface="Calibri" pitchFamily="34" charset="-120"/>
              </a:rPr>
              <a:t>Coachs en activité effective (estimation 2024)</a:t>
            </a:r>
            <a:endParaRPr lang="en-US" sz="1150" dirty="0"/>
          </a:p>
        </p:txBody>
      </p:sp>
      <p:sp>
        <p:nvSpPr>
          <p:cNvPr id="8" name="Text 6"/>
          <p:cNvSpPr txBox="1"/>
          <p:nvPr/>
        </p:nvSpPr>
        <p:spPr>
          <a:xfrm>
            <a:off x="5760720" y="2569464"/>
            <a:ext cx="1737360" cy="237744"/>
          </a:xfrm>
          <a:prstGeom prst="rect">
            <a:avLst/>
          </a:prstGeom>
          <a:noFill/>
          <a:ln/>
        </p:spPr>
        <p:txBody>
          <a:bodyPr wrap="square" lIns="0" tIns="0" rIns="0" bIns="0" rtlCol="0" anchor="ctr"/>
          <a:lstStyle/>
          <a:p>
            <a:pPr algn="r" indent="0" marL="0">
              <a:buNone/>
            </a:pPr>
            <a:r>
              <a:rPr lang="en-US" sz="1600" b="1" dirty="0">
                <a:solidFill>
                  <a:srgbClr val="7BA7DD"/>
                </a:solidFill>
                <a:latin typeface="Arial Narrow" pitchFamily="34" charset="0"/>
                <a:ea typeface="Arial Narrow" pitchFamily="34" charset="-122"/>
                <a:cs typeface="Arial Narrow" pitchFamily="34" charset="-120"/>
              </a:rPr>
              <a:t>80 000 – 100 000</a:t>
            </a:r>
            <a:endParaRPr lang="en-US" sz="1600" dirty="0"/>
          </a:p>
        </p:txBody>
      </p:sp>
      <p:sp>
        <p:nvSpPr>
          <p:cNvPr id="9" name="Shape 7"/>
          <p:cNvSpPr/>
          <p:nvPr/>
        </p:nvSpPr>
        <p:spPr>
          <a:xfrm>
            <a:off x="548640" y="2843784"/>
            <a:ext cx="4963886" cy="274320"/>
          </a:xfrm>
          <a:prstGeom prst="roundRect">
            <a:avLst>
              <a:gd name="adj" fmla="val 13333"/>
            </a:avLst>
          </a:prstGeom>
          <a:solidFill>
            <a:srgbClr val="7BA7DD"/>
          </a:solidFill>
          <a:ln w="12700">
            <a:solidFill>
              <a:srgbClr val="7BA7DD"/>
            </a:solidFill>
            <a:prstDash val="solid"/>
          </a:ln>
        </p:spPr>
      </p:sp>
      <p:sp>
        <p:nvSpPr>
          <p:cNvPr id="10" name="Text 8"/>
          <p:cNvSpPr txBox="1"/>
          <p:nvPr/>
        </p:nvSpPr>
        <p:spPr>
          <a:xfrm>
            <a:off x="548640" y="3355848"/>
            <a:ext cx="5212080" cy="237744"/>
          </a:xfrm>
          <a:prstGeom prst="rect">
            <a:avLst/>
          </a:prstGeom>
          <a:noFill/>
          <a:ln/>
        </p:spPr>
        <p:txBody>
          <a:bodyPr wrap="square" lIns="0" tIns="0" rIns="0" bIns="0" rtlCol="0" anchor="ctr"/>
          <a:lstStyle/>
          <a:p>
            <a:pPr indent="0" marL="0">
              <a:buNone/>
            </a:pPr>
            <a:r>
              <a:rPr lang="en-US" sz="1150" dirty="0">
                <a:solidFill>
                  <a:srgbClr val="ADB2B9"/>
                </a:solidFill>
                <a:latin typeface="Calibri" pitchFamily="34" charset="0"/>
                <a:ea typeface="Calibri" pitchFamily="34" charset="-122"/>
                <a:cs typeface="Calibri" pitchFamily="34" charset="-120"/>
              </a:rPr>
              <a:t>Coachs libéraux + diététiciens · marché visé</a:t>
            </a:r>
            <a:endParaRPr lang="en-US" sz="1150" dirty="0"/>
          </a:p>
        </p:txBody>
      </p:sp>
      <p:sp>
        <p:nvSpPr>
          <p:cNvPr id="11" name="Text 9"/>
          <p:cNvSpPr txBox="1"/>
          <p:nvPr/>
        </p:nvSpPr>
        <p:spPr>
          <a:xfrm>
            <a:off x="5760720" y="3355848"/>
            <a:ext cx="1737360" cy="237744"/>
          </a:xfrm>
          <a:prstGeom prst="rect">
            <a:avLst/>
          </a:prstGeom>
          <a:noFill/>
          <a:ln/>
        </p:spPr>
        <p:txBody>
          <a:bodyPr wrap="square" lIns="0" tIns="0" rIns="0" bIns="0" rtlCol="0" anchor="ctr"/>
          <a:lstStyle/>
          <a:p>
            <a:pPr algn="r" indent="0" marL="0">
              <a:buNone/>
            </a:pPr>
            <a:r>
              <a:rPr lang="en-US" sz="1600" b="1" dirty="0">
                <a:solidFill>
                  <a:srgbClr val="E3B23C"/>
                </a:solidFill>
                <a:latin typeface="Arial Narrow" pitchFamily="34" charset="0"/>
                <a:ea typeface="Arial Narrow" pitchFamily="34" charset="-122"/>
                <a:cs typeface="Arial Narrow" pitchFamily="34" charset="-120"/>
              </a:rPr>
              <a:t>≈ 37 000 – 47 000</a:t>
            </a:r>
            <a:endParaRPr lang="en-US" sz="1600" dirty="0"/>
          </a:p>
        </p:txBody>
      </p:sp>
      <p:sp>
        <p:nvSpPr>
          <p:cNvPr id="12" name="Shape 10"/>
          <p:cNvSpPr/>
          <p:nvPr/>
        </p:nvSpPr>
        <p:spPr>
          <a:xfrm>
            <a:off x="548640" y="3630168"/>
            <a:ext cx="2333026" cy="274320"/>
          </a:xfrm>
          <a:prstGeom prst="roundRect">
            <a:avLst>
              <a:gd name="adj" fmla="val 13333"/>
            </a:avLst>
          </a:prstGeom>
          <a:solidFill>
            <a:srgbClr val="E3B23C"/>
          </a:solidFill>
          <a:ln w="12700">
            <a:solidFill>
              <a:srgbClr val="E3B23C"/>
            </a:solidFill>
            <a:prstDash val="solid"/>
          </a:ln>
        </p:spPr>
      </p:sp>
      <p:sp>
        <p:nvSpPr>
          <p:cNvPr id="13" name="Text 11"/>
          <p:cNvSpPr txBox="1"/>
          <p:nvPr/>
        </p:nvSpPr>
        <p:spPr>
          <a:xfrm>
            <a:off x="548640" y="4142232"/>
            <a:ext cx="5212080" cy="237744"/>
          </a:xfrm>
          <a:prstGeom prst="rect">
            <a:avLst/>
          </a:prstGeom>
          <a:noFill/>
          <a:ln/>
        </p:spPr>
        <p:txBody>
          <a:bodyPr wrap="square" lIns="0" tIns="0" rIns="0" bIns="0" rtlCol="0" anchor="ctr"/>
          <a:lstStyle/>
          <a:p>
            <a:pPr indent="0" marL="0">
              <a:buNone/>
            </a:pPr>
            <a:r>
              <a:rPr lang="en-US" sz="1150" dirty="0">
                <a:solidFill>
                  <a:srgbClr val="ADB2B9"/>
                </a:solidFill>
                <a:latin typeface="Calibri" pitchFamily="34" charset="0"/>
                <a:ea typeface="Calibri" pitchFamily="34" charset="-122"/>
                <a:cs typeface="Calibri" pitchFamily="34" charset="-120"/>
              </a:rPr>
              <a:t>Objectif à 3 ans · scénario central</a:t>
            </a:r>
            <a:endParaRPr lang="en-US" sz="1150" dirty="0"/>
          </a:p>
        </p:txBody>
      </p:sp>
      <p:sp>
        <p:nvSpPr>
          <p:cNvPr id="14" name="Text 12"/>
          <p:cNvSpPr txBox="1"/>
          <p:nvPr/>
        </p:nvSpPr>
        <p:spPr>
          <a:xfrm>
            <a:off x="5760720" y="4142232"/>
            <a:ext cx="1737360" cy="237744"/>
          </a:xfrm>
          <a:prstGeom prst="rect">
            <a:avLst/>
          </a:prstGeom>
          <a:noFill/>
          <a:ln/>
        </p:spPr>
        <p:txBody>
          <a:bodyPr wrap="square" lIns="0" tIns="0" rIns="0" bIns="0" rtlCol="0" anchor="ctr"/>
          <a:lstStyle/>
          <a:p>
            <a:pPr algn="r" indent="0" marL="0">
              <a:buNone/>
            </a:pPr>
            <a:r>
              <a:rPr lang="en-US" sz="1600" b="1" dirty="0">
                <a:solidFill>
                  <a:srgbClr val="5EC080"/>
                </a:solidFill>
                <a:latin typeface="Arial Narrow" pitchFamily="34" charset="0"/>
                <a:ea typeface="Arial Narrow" pitchFamily="34" charset="-122"/>
                <a:cs typeface="Arial Narrow" pitchFamily="34" charset="-120"/>
              </a:rPr>
              <a:t>210</a:t>
            </a:r>
            <a:endParaRPr lang="en-US" sz="1600" dirty="0"/>
          </a:p>
        </p:txBody>
      </p:sp>
      <p:sp>
        <p:nvSpPr>
          <p:cNvPr id="15" name="Shape 13"/>
          <p:cNvSpPr/>
          <p:nvPr/>
        </p:nvSpPr>
        <p:spPr>
          <a:xfrm>
            <a:off x="548640" y="4416552"/>
            <a:ext cx="32004" cy="274320"/>
          </a:xfrm>
          <a:prstGeom prst="roundRect">
            <a:avLst>
              <a:gd name="adj" fmla="val 114286"/>
            </a:avLst>
          </a:prstGeom>
          <a:solidFill>
            <a:srgbClr val="5EC080"/>
          </a:solidFill>
          <a:ln w="12700">
            <a:solidFill>
              <a:srgbClr val="5EC080"/>
            </a:solidFill>
            <a:prstDash val="solid"/>
          </a:ln>
        </p:spPr>
      </p:sp>
      <p:sp>
        <p:nvSpPr>
          <p:cNvPr id="16" name="Text 14"/>
          <p:cNvSpPr txBox="1"/>
          <p:nvPr/>
        </p:nvSpPr>
        <p:spPr>
          <a:xfrm>
            <a:off x="548640" y="4956048"/>
            <a:ext cx="6949440" cy="658368"/>
          </a:xfrm>
          <a:prstGeom prst="rect">
            <a:avLst/>
          </a:prstGeom>
          <a:noFill/>
          <a:ln/>
        </p:spPr>
        <p:txBody>
          <a:bodyPr wrap="square" lIns="0" tIns="0" rIns="0" bIns="0" rtlCol="0" anchor="t"/>
          <a:lstStyle/>
          <a:p>
            <a:pPr indent="0" marL="0">
              <a:lnSpc>
                <a:spcPts val="1700"/>
              </a:lnSpc>
              <a:buNone/>
            </a:pPr>
            <a:r>
              <a:rPr lang="en-US" sz="1150" i="1" dirty="0">
                <a:solidFill>
                  <a:srgbClr val="868E99"/>
                </a:solidFill>
                <a:latin typeface="Calibri" pitchFamily="34" charset="0"/>
                <a:ea typeface="Calibri" pitchFamily="34" charset="-122"/>
                <a:cs typeface="Calibri" pitchFamily="34" charset="-120"/>
              </a:rPr>
              <a:t>Barres à l'échelle de l'ensemble des éducateurs sportifs. L'objectif à 3 ans ne se voit presque pas — et c'est voulu : il ne demande pas de conquérir le marché.</a:t>
            </a:r>
            <a:endParaRPr lang="en-US" sz="1150" dirty="0"/>
          </a:p>
        </p:txBody>
      </p:sp>
      <p:sp>
        <p:nvSpPr>
          <p:cNvPr id="17" name="Shape 15"/>
          <p:cNvSpPr/>
          <p:nvPr/>
        </p:nvSpPr>
        <p:spPr>
          <a:xfrm>
            <a:off x="7772400" y="1783080"/>
            <a:ext cx="3867912" cy="1298448"/>
          </a:xfrm>
          <a:prstGeom prst="roundRect">
            <a:avLst>
              <a:gd name="adj" fmla="val 4930"/>
            </a:avLst>
          </a:prstGeom>
          <a:solidFill>
            <a:srgbClr val="1D2026"/>
          </a:solidFill>
          <a:ln w="9525">
            <a:solidFill>
              <a:srgbClr val="2F343D"/>
            </a:solidFill>
            <a:prstDash val="solid"/>
          </a:ln>
        </p:spPr>
      </p:sp>
      <p:sp>
        <p:nvSpPr>
          <p:cNvPr id="18" name="Text 16"/>
          <p:cNvSpPr txBox="1"/>
          <p:nvPr/>
        </p:nvSpPr>
        <p:spPr>
          <a:xfrm>
            <a:off x="8010144" y="1911096"/>
            <a:ext cx="3392424" cy="274320"/>
          </a:xfrm>
          <a:prstGeom prst="rect">
            <a:avLst/>
          </a:prstGeom>
          <a:noFill/>
          <a:ln/>
        </p:spPr>
        <p:txBody>
          <a:bodyPr wrap="square" lIns="0" tIns="0" rIns="0" bIns="0" rtlCol="0" anchor="ctr"/>
          <a:lstStyle/>
          <a:p>
            <a:pPr indent="0" marL="0">
              <a:buNone/>
            </a:pPr>
            <a:r>
              <a:rPr lang="en-US" sz="1800" b="1" dirty="0">
                <a:solidFill>
                  <a:srgbClr val="E8EAED"/>
                </a:solidFill>
                <a:latin typeface="Arial Narrow" pitchFamily="34" charset="0"/>
                <a:ea typeface="Arial Narrow" pitchFamily="34" charset="-122"/>
                <a:cs typeface="Arial Narrow" pitchFamily="34" charset="-120"/>
              </a:rPr>
              <a:t>Pourquoi ces professionnels</a:t>
            </a:r>
            <a:endParaRPr lang="en-US" sz="1800" dirty="0"/>
          </a:p>
        </p:txBody>
      </p:sp>
      <p:sp>
        <p:nvSpPr>
          <p:cNvPr id="19" name="Text 17"/>
          <p:cNvSpPr txBox="1"/>
          <p:nvPr/>
        </p:nvSpPr>
        <p:spPr>
          <a:xfrm>
            <a:off x="8010144" y="2221992"/>
            <a:ext cx="3392424" cy="749808"/>
          </a:xfrm>
          <a:prstGeom prst="rect">
            <a:avLst/>
          </a:prstGeom>
          <a:noFill/>
          <a:ln/>
        </p:spPr>
        <p:txBody>
          <a:bodyPr wrap="square" lIns="0" tIns="0" rIns="0" bIns="0" rtlCol="0" anchor="t"/>
          <a:lstStyle/>
          <a:p>
            <a:pPr indent="0" marL="0">
              <a:lnSpc>
                <a:spcPts val="1600"/>
              </a:lnSpc>
              <a:buNone/>
            </a:pPr>
            <a:r>
              <a:rPr lang="en-US" sz="1100" dirty="0">
                <a:solidFill>
                  <a:srgbClr val="ADB2B9"/>
                </a:solidFill>
                <a:latin typeface="Calibri" pitchFamily="34" charset="0"/>
                <a:ea typeface="Calibri" pitchFamily="34" charset="-122"/>
                <a:cs typeface="Calibri" pitchFamily="34" charset="-120"/>
              </a:rPr>
              <a:t>Ils vendent déjà un accompagnement nutritionnel et sportif, paient déjà des outils, et en recommandent un à tous leurs clients.</a:t>
            </a:r>
            <a:endParaRPr lang="en-US" sz="1100" dirty="0"/>
          </a:p>
        </p:txBody>
      </p:sp>
      <p:sp>
        <p:nvSpPr>
          <p:cNvPr id="20" name="Shape 18"/>
          <p:cNvSpPr/>
          <p:nvPr/>
        </p:nvSpPr>
        <p:spPr>
          <a:xfrm>
            <a:off x="7772400" y="3209544"/>
            <a:ext cx="3867912" cy="1298448"/>
          </a:xfrm>
          <a:prstGeom prst="roundRect">
            <a:avLst>
              <a:gd name="adj" fmla="val 4930"/>
            </a:avLst>
          </a:prstGeom>
          <a:solidFill>
            <a:srgbClr val="1D2026"/>
          </a:solidFill>
          <a:ln w="15875">
            <a:solidFill>
              <a:srgbClr val="E3B23C"/>
            </a:solidFill>
            <a:prstDash val="solid"/>
          </a:ln>
        </p:spPr>
      </p:sp>
      <p:sp>
        <p:nvSpPr>
          <p:cNvPr id="21" name="Text 19"/>
          <p:cNvSpPr txBox="1"/>
          <p:nvPr/>
        </p:nvSpPr>
        <p:spPr>
          <a:xfrm>
            <a:off x="8010144" y="3337560"/>
            <a:ext cx="3392424" cy="274320"/>
          </a:xfrm>
          <a:prstGeom prst="rect">
            <a:avLst/>
          </a:prstGeom>
          <a:noFill/>
          <a:ln/>
        </p:spPr>
        <p:txBody>
          <a:bodyPr wrap="square" lIns="0" tIns="0" rIns="0" bIns="0" rtlCol="0" anchor="ctr"/>
          <a:lstStyle/>
          <a:p>
            <a:pPr indent="0" marL="0">
              <a:buNone/>
            </a:pPr>
            <a:r>
              <a:rPr lang="en-US" sz="1800" b="1" dirty="0">
                <a:solidFill>
                  <a:srgbClr val="E3B23C"/>
                </a:solidFill>
                <a:latin typeface="Arial Narrow" pitchFamily="34" charset="0"/>
                <a:ea typeface="Arial Narrow" pitchFamily="34" charset="-122"/>
                <a:cs typeface="Arial Narrow" pitchFamily="34" charset="-120"/>
              </a:rPr>
              <a:t>Un signal fort</a:t>
            </a:r>
            <a:endParaRPr lang="en-US" sz="1800" dirty="0"/>
          </a:p>
        </p:txBody>
      </p:sp>
      <p:sp>
        <p:nvSpPr>
          <p:cNvPr id="22" name="Text 20"/>
          <p:cNvSpPr txBox="1"/>
          <p:nvPr/>
        </p:nvSpPr>
        <p:spPr>
          <a:xfrm>
            <a:off x="8010144" y="3648456"/>
            <a:ext cx="3392424" cy="749808"/>
          </a:xfrm>
          <a:prstGeom prst="rect">
            <a:avLst/>
          </a:prstGeom>
          <a:noFill/>
          <a:ln/>
        </p:spPr>
        <p:txBody>
          <a:bodyPr wrap="square" lIns="0" tIns="0" rIns="0" bIns="0" rtlCol="0" anchor="t"/>
          <a:lstStyle/>
          <a:p>
            <a:pPr indent="0" marL="0">
              <a:lnSpc>
                <a:spcPts val="1600"/>
              </a:lnSpc>
              <a:buNone/>
            </a:pPr>
            <a:r>
              <a:rPr lang="en-US" sz="1100" dirty="0">
                <a:solidFill>
                  <a:srgbClr val="ADB2B9"/>
                </a:solidFill>
                <a:latin typeface="Calibri" pitchFamily="34" charset="0"/>
                <a:ea typeface="Calibri" pitchFamily="34" charset="-122"/>
                <a:cs typeface="Calibri" pitchFamily="34" charset="-120"/>
              </a:rPr>
              <a:t>Azeoo revendique plus de 1 800 coachs utilisateurs en France : les professionnels français paient pour ce type d'outil.</a:t>
            </a:r>
            <a:endParaRPr lang="en-US" sz="1100" dirty="0"/>
          </a:p>
        </p:txBody>
      </p:sp>
      <p:sp>
        <p:nvSpPr>
          <p:cNvPr id="23" name="Shape 21"/>
          <p:cNvSpPr/>
          <p:nvPr/>
        </p:nvSpPr>
        <p:spPr>
          <a:xfrm>
            <a:off x="7772400" y="4636008"/>
            <a:ext cx="3867912" cy="1298448"/>
          </a:xfrm>
          <a:prstGeom prst="roundRect">
            <a:avLst>
              <a:gd name="adj" fmla="val 4930"/>
            </a:avLst>
          </a:prstGeom>
          <a:solidFill>
            <a:srgbClr val="1D2026"/>
          </a:solidFill>
          <a:ln w="9525">
            <a:solidFill>
              <a:srgbClr val="2F343D"/>
            </a:solidFill>
            <a:prstDash val="solid"/>
          </a:ln>
        </p:spPr>
      </p:sp>
      <p:sp>
        <p:nvSpPr>
          <p:cNvPr id="24" name="Text 22"/>
          <p:cNvSpPr txBox="1"/>
          <p:nvPr/>
        </p:nvSpPr>
        <p:spPr>
          <a:xfrm>
            <a:off x="8010144" y="4764024"/>
            <a:ext cx="3392424" cy="274320"/>
          </a:xfrm>
          <a:prstGeom prst="rect">
            <a:avLst/>
          </a:prstGeom>
          <a:noFill/>
          <a:ln/>
        </p:spPr>
        <p:txBody>
          <a:bodyPr wrap="square" lIns="0" tIns="0" rIns="0" bIns="0" rtlCol="0" anchor="ctr"/>
          <a:lstStyle/>
          <a:p>
            <a:pPr indent="0" marL="0">
              <a:buNone/>
            </a:pPr>
            <a:r>
              <a:rPr lang="en-US" sz="1800" b="1" dirty="0">
                <a:solidFill>
                  <a:srgbClr val="E8EAED"/>
                </a:solidFill>
                <a:latin typeface="Arial Narrow" pitchFamily="34" charset="0"/>
                <a:ea typeface="Arial Narrow" pitchFamily="34" charset="-122"/>
                <a:cs typeface="Arial Narrow" pitchFamily="34" charset="-120"/>
              </a:rPr>
              <a:t>Terminaux</a:t>
            </a:r>
            <a:endParaRPr lang="en-US" sz="1800" dirty="0"/>
          </a:p>
        </p:txBody>
      </p:sp>
      <p:sp>
        <p:nvSpPr>
          <p:cNvPr id="25" name="Text 23"/>
          <p:cNvSpPr txBox="1"/>
          <p:nvPr/>
        </p:nvSpPr>
        <p:spPr>
          <a:xfrm>
            <a:off x="8010144" y="5074920"/>
            <a:ext cx="3392424" cy="749808"/>
          </a:xfrm>
          <a:prstGeom prst="rect">
            <a:avLst/>
          </a:prstGeom>
          <a:noFill/>
          <a:ln/>
        </p:spPr>
        <p:txBody>
          <a:bodyPr wrap="square" lIns="0" tIns="0" rIns="0" bIns="0" rtlCol="0" anchor="t"/>
          <a:lstStyle/>
          <a:p>
            <a:pPr indent="0" marL="0">
              <a:lnSpc>
                <a:spcPts val="1600"/>
              </a:lnSpc>
              <a:buNone/>
            </a:pPr>
            <a:r>
              <a:rPr lang="en-US" sz="1100" dirty="0">
                <a:solidFill>
                  <a:srgbClr val="ADB2B9"/>
                </a:solidFill>
                <a:latin typeface="Calibri" pitchFamily="34" charset="0"/>
                <a:ea typeface="Calibri" pitchFamily="34" charset="-122"/>
                <a:cs typeface="Calibri" pitchFamily="34" charset="-120"/>
              </a:rPr>
              <a:t>France, mars 2026 : Android 65 %, iOS 34 % (StatCounter). Un tiers des clients est sur iPhone : iOS est indispensable avant la vente.</a:t>
            </a:r>
            <a:endParaRPr lang="en-US" sz="1100" dirty="0"/>
          </a:p>
        </p:txBody>
      </p:sp>
      <p:sp>
        <p:nvSpPr>
          <p:cNvPr id="26" name="Text 24"/>
          <p:cNvSpPr txBox="1"/>
          <p:nvPr/>
        </p:nvSpPr>
        <p:spPr>
          <a:xfrm>
            <a:off x="548640" y="5961888"/>
            <a:ext cx="11091672" cy="310896"/>
          </a:xfrm>
          <a:prstGeom prst="rect">
            <a:avLst/>
          </a:prstGeom>
          <a:noFill/>
          <a:ln/>
        </p:spPr>
        <p:txBody>
          <a:bodyPr wrap="square" lIns="0" tIns="0" rIns="0" bIns="0" rtlCol="0" anchor="ctr"/>
          <a:lstStyle/>
          <a:p>
            <a:pPr indent="0" marL="0">
              <a:buNone/>
            </a:pPr>
            <a:r>
              <a:rPr lang="en-US" sz="950" i="1" dirty="0">
                <a:solidFill>
                  <a:srgbClr val="868E99"/>
                </a:solidFill>
                <a:latin typeface="Calibri" pitchFamily="34" charset="0"/>
                <a:ea typeface="Calibri" pitchFamily="34" charset="-122"/>
                <a:cs typeface="Calibri" pitchFamily="34" charset="-120"/>
              </a:rPr>
              <a:t>Sources : sports.gouv.fr · Broussal-Derval 2025 · AFDN / DREES 2024 · Azeoo · StatCounter — liste complète en annexe</a:t>
            </a:r>
            <a:endParaRPr lang="en-US" sz="950" dirty="0"/>
          </a:p>
        </p:txBody>
      </p:sp>
      <p:sp>
        <p:nvSpPr>
          <p:cNvPr id="27" name="Text 25"/>
          <p:cNvSpPr txBox="1"/>
          <p:nvPr/>
        </p:nvSpPr>
        <p:spPr>
          <a:xfrm>
            <a:off x="548640" y="6336792"/>
            <a:ext cx="8229600" cy="274320"/>
          </a:xfrm>
          <a:prstGeom prst="rect">
            <a:avLst/>
          </a:prstGeom>
          <a:noFill/>
          <a:ln/>
        </p:spPr>
        <p:txBody>
          <a:bodyPr wrap="square" lIns="0" tIns="0" rIns="0" bIns="0" rtlCol="0" anchor="ctr"/>
          <a:lstStyle/>
          <a:p>
            <a:pPr algn="l" indent="0" marL="0">
              <a:buNone/>
            </a:pPr>
            <a:r>
              <a:rPr lang="en-US" sz="900" dirty="0">
                <a:solidFill>
                  <a:srgbClr val="868E99"/>
                </a:solidFill>
                <a:latin typeface="Calibri" pitchFamily="34" charset="0"/>
                <a:ea typeface="Calibri" pitchFamily="34" charset="-122"/>
                <a:cs typeface="Calibri" pitchFamily="34" charset="-120"/>
              </a:rPr>
              <a:t>fitcarnet Pro · business plan · 21 septembre 2026</a:t>
            </a:r>
            <a:endParaRPr lang="en-US" sz="900" dirty="0"/>
          </a:p>
        </p:txBody>
      </p:sp>
      <p:sp>
        <p:nvSpPr>
          <p:cNvPr id="28" name="Text 26"/>
          <p:cNvSpPr txBox="1"/>
          <p:nvPr/>
        </p:nvSpPr>
        <p:spPr>
          <a:xfrm>
            <a:off x="8897112" y="6336792"/>
            <a:ext cx="2743200" cy="274320"/>
          </a:xfrm>
          <a:prstGeom prst="rect">
            <a:avLst/>
          </a:prstGeom>
          <a:noFill/>
          <a:ln/>
        </p:spPr>
        <p:txBody>
          <a:bodyPr wrap="square" lIns="0" tIns="0" rIns="0" bIns="0" rtlCol="0" anchor="ctr"/>
          <a:lstStyle/>
          <a:p>
            <a:pPr algn="r" indent="0" marL="0">
              <a:buNone/>
            </a:pPr>
            <a:r>
              <a:rPr lang="en-US" sz="900" dirty="0">
                <a:solidFill>
                  <a:srgbClr val="868E99"/>
                </a:solidFill>
                <a:latin typeface="Calibri" pitchFamily="34" charset="0"/>
                <a:ea typeface="Calibri" pitchFamily="34" charset="-122"/>
                <a:cs typeface="Calibri" pitchFamily="34" charset="-120"/>
              </a:rPr>
              <a:t>08 / 24</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161A"/>
        </a:solidFill>
      </p:bgPr>
    </p:bg>
    <p:spTree>
      <p:nvGrpSpPr>
        <p:cNvPr id="1" name=""/>
        <p:cNvGrpSpPr/>
        <p:nvPr/>
      </p:nvGrpSpPr>
      <p:grpSpPr>
        <a:xfrm>
          <a:off x="0" y="0"/>
          <a:ext cx="0" cy="0"/>
          <a:chOff x="0" y="0"/>
          <a:chExt cx="0" cy="0"/>
        </a:xfrm>
      </p:grpSpPr>
      <p:sp>
        <p:nvSpPr>
          <p:cNvPr id="2" name="Text 0"/>
          <p:cNvSpPr txBox="1"/>
          <p:nvPr/>
        </p:nvSpPr>
        <p:spPr>
          <a:xfrm>
            <a:off x="548640" y="347472"/>
            <a:ext cx="11091672" cy="237744"/>
          </a:xfrm>
          <a:prstGeom prst="rect">
            <a:avLst/>
          </a:prstGeom>
          <a:noFill/>
          <a:ln/>
        </p:spPr>
        <p:txBody>
          <a:bodyPr wrap="square" lIns="0" tIns="0" rIns="0" bIns="0" rtlCol="0" anchor="ctr"/>
          <a:lstStyle/>
          <a:p>
            <a:pPr indent="0" marL="0">
              <a:buNone/>
            </a:pPr>
            <a:r>
              <a:rPr lang="en-US" sz="1050" b="1" spc="200" kern="0" dirty="0">
                <a:solidFill>
                  <a:srgbClr val="E3B23C"/>
                </a:solidFill>
                <a:latin typeface="Calibri" pitchFamily="34" charset="0"/>
                <a:ea typeface="Calibri" pitchFamily="34" charset="-122"/>
                <a:cs typeface="Calibri" pitchFamily="34" charset="-120"/>
              </a:rPr>
              <a:t>OFFRE ET TARIFS</a:t>
            </a:r>
            <a:endParaRPr lang="en-US" sz="1050" dirty="0"/>
          </a:p>
        </p:txBody>
      </p:sp>
      <p:sp>
        <p:nvSpPr>
          <p:cNvPr id="3" name="Text 1"/>
          <p:cNvSpPr txBox="1"/>
          <p:nvPr/>
        </p:nvSpPr>
        <p:spPr>
          <a:xfrm>
            <a:off x="548640" y="603504"/>
            <a:ext cx="11091672" cy="566928"/>
          </a:xfrm>
          <a:prstGeom prst="rect">
            <a:avLst/>
          </a:prstGeom>
          <a:noFill/>
          <a:ln/>
        </p:spPr>
        <p:txBody>
          <a:bodyPr wrap="square" lIns="0" tIns="0" rIns="0" bIns="0" rtlCol="0" anchor="ctr"/>
          <a:lstStyle/>
          <a:p>
            <a:pPr indent="0" marL="0">
              <a:buNone/>
            </a:pPr>
            <a:r>
              <a:rPr lang="en-US" sz="3000" b="1" dirty="0">
                <a:solidFill>
                  <a:srgbClr val="E8EAED"/>
                </a:solidFill>
                <a:latin typeface="Arial Narrow" pitchFamily="34" charset="0"/>
                <a:ea typeface="Arial Narrow" pitchFamily="34" charset="-122"/>
                <a:cs typeface="Arial Narrow" pitchFamily="34" charset="-120"/>
              </a:rPr>
              <a:t>Trois formules, la nutrition incluse partout</a:t>
            </a:r>
            <a:endParaRPr lang="en-US" sz="3000" dirty="0"/>
          </a:p>
        </p:txBody>
      </p:sp>
      <p:sp>
        <p:nvSpPr>
          <p:cNvPr id="4" name="Shape 2"/>
          <p:cNvSpPr/>
          <p:nvPr/>
        </p:nvSpPr>
        <p:spPr>
          <a:xfrm>
            <a:off x="548640" y="1737360"/>
            <a:ext cx="3575304" cy="2834640"/>
          </a:xfrm>
          <a:prstGeom prst="roundRect">
            <a:avLst>
              <a:gd name="adj" fmla="val 2258"/>
            </a:avLst>
          </a:prstGeom>
          <a:solidFill>
            <a:srgbClr val="1D2026"/>
          </a:solidFill>
          <a:ln w="9525">
            <a:solidFill>
              <a:srgbClr val="2F343D"/>
            </a:solidFill>
            <a:prstDash val="solid"/>
          </a:ln>
        </p:spPr>
      </p:sp>
      <p:sp>
        <p:nvSpPr>
          <p:cNvPr id="5" name="Text 3"/>
          <p:cNvSpPr txBox="1"/>
          <p:nvPr/>
        </p:nvSpPr>
        <p:spPr>
          <a:xfrm>
            <a:off x="822960" y="1883664"/>
            <a:ext cx="3026664" cy="347472"/>
          </a:xfrm>
          <a:prstGeom prst="rect">
            <a:avLst/>
          </a:prstGeom>
          <a:noFill/>
          <a:ln/>
        </p:spPr>
        <p:txBody>
          <a:bodyPr wrap="square" lIns="0" tIns="0" rIns="0" bIns="0" rtlCol="0" anchor="ctr"/>
          <a:lstStyle/>
          <a:p>
            <a:pPr indent="0" marL="0">
              <a:buNone/>
            </a:pPr>
            <a:r>
              <a:rPr lang="en-US" sz="2400" b="1" dirty="0">
                <a:solidFill>
                  <a:srgbClr val="E8EAED"/>
                </a:solidFill>
                <a:latin typeface="Arial Narrow" pitchFamily="34" charset="0"/>
                <a:ea typeface="Arial Narrow" pitchFamily="34" charset="-122"/>
                <a:cs typeface="Arial Narrow" pitchFamily="34" charset="-120"/>
              </a:rPr>
              <a:t>Solo</a:t>
            </a:r>
            <a:endParaRPr lang="en-US" sz="2400" dirty="0"/>
          </a:p>
        </p:txBody>
      </p:sp>
      <p:sp>
        <p:nvSpPr>
          <p:cNvPr id="6" name="Text 4"/>
          <p:cNvSpPr txBox="1"/>
          <p:nvPr/>
        </p:nvSpPr>
        <p:spPr>
          <a:xfrm>
            <a:off x="822960" y="2231136"/>
            <a:ext cx="3026664" cy="658368"/>
          </a:xfrm>
          <a:prstGeom prst="rect">
            <a:avLst/>
          </a:prstGeom>
          <a:noFill/>
          <a:ln/>
        </p:spPr>
        <p:txBody>
          <a:bodyPr wrap="square" lIns="0" tIns="0" rIns="0" bIns="0" rtlCol="0" anchor="ctr"/>
          <a:lstStyle/>
          <a:p>
            <a:pPr indent="0" marL="0">
              <a:buNone/>
            </a:pPr>
            <a:r>
              <a:rPr lang="en-US" sz="3800" b="1" dirty="0">
                <a:solidFill>
                  <a:srgbClr val="E8EAED"/>
                </a:solidFill>
                <a:latin typeface="Arial Narrow" pitchFamily="34" charset="0"/>
                <a:ea typeface="Arial Narrow" pitchFamily="34" charset="-122"/>
                <a:cs typeface="Arial Narrow" pitchFamily="34" charset="-120"/>
              </a:rPr>
              <a:t>29</a:t>
            </a:r>
            <a:pPr indent="0" marL="0">
              <a:buNone/>
            </a:pPr>
            <a:r>
              <a:rPr lang="en-US" sz="1300" b="1" dirty="0">
                <a:solidFill>
                  <a:srgbClr val="868E99"/>
                </a:solidFill>
                <a:latin typeface="Calibri" pitchFamily="34" charset="0"/>
                <a:ea typeface="Calibri" pitchFamily="34" charset="-122"/>
                <a:cs typeface="Calibri" pitchFamily="34" charset="-120"/>
              </a:rPr>
              <a:t> € HT / mois</a:t>
            </a:r>
            <a:endParaRPr lang="en-US" sz="3800" dirty="0"/>
          </a:p>
        </p:txBody>
      </p:sp>
      <p:sp>
        <p:nvSpPr>
          <p:cNvPr id="7" name="Text 5"/>
          <p:cNvSpPr txBox="1"/>
          <p:nvPr/>
        </p:nvSpPr>
        <p:spPr>
          <a:xfrm>
            <a:off x="822960" y="2907792"/>
            <a:ext cx="3026664" cy="274320"/>
          </a:xfrm>
          <a:prstGeom prst="rect">
            <a:avLst/>
          </a:prstGeom>
          <a:noFill/>
          <a:ln/>
        </p:spPr>
        <p:txBody>
          <a:bodyPr wrap="square" lIns="0" tIns="0" rIns="0" bIns="0" rtlCol="0" anchor="ctr"/>
          <a:lstStyle/>
          <a:p>
            <a:pPr indent="0" marL="0">
              <a:buNone/>
            </a:pPr>
            <a:r>
              <a:rPr lang="en-US" sz="1200" b="1" dirty="0">
                <a:solidFill>
                  <a:srgbClr val="ADB2B9"/>
                </a:solidFill>
                <a:latin typeface="Calibri" pitchFamily="34" charset="0"/>
                <a:ea typeface="Calibri" pitchFamily="34" charset="-122"/>
                <a:cs typeface="Calibri" pitchFamily="34" charset="-120"/>
              </a:rPr>
              <a:t>Jusqu'à 15 clients</a:t>
            </a:r>
            <a:endParaRPr lang="en-US" sz="1200" dirty="0"/>
          </a:p>
        </p:txBody>
      </p:sp>
      <p:sp>
        <p:nvSpPr>
          <p:cNvPr id="8" name="Shape 6"/>
          <p:cNvSpPr/>
          <p:nvPr/>
        </p:nvSpPr>
        <p:spPr>
          <a:xfrm>
            <a:off x="822960" y="3447288"/>
            <a:ext cx="109728" cy="29261"/>
          </a:xfrm>
          <a:prstGeom prst="rect">
            <a:avLst/>
          </a:prstGeom>
          <a:solidFill>
            <a:srgbClr val="E3B23C"/>
          </a:solidFill>
          <a:ln w="12700">
            <a:solidFill>
              <a:srgbClr val="E3B23C"/>
            </a:solidFill>
            <a:prstDash val="solid"/>
          </a:ln>
        </p:spPr>
      </p:sp>
      <p:sp>
        <p:nvSpPr>
          <p:cNvPr id="9" name="Text 7"/>
          <p:cNvSpPr txBox="1"/>
          <p:nvPr/>
        </p:nvSpPr>
        <p:spPr>
          <a:xfrm>
            <a:off x="1042416" y="3291840"/>
            <a:ext cx="2807208" cy="384048"/>
          </a:xfrm>
          <a:prstGeom prst="rect">
            <a:avLst/>
          </a:prstGeom>
          <a:noFill/>
          <a:ln/>
        </p:spPr>
        <p:txBody>
          <a:bodyPr wrap="square" lIns="0" tIns="0" rIns="0" bIns="0" rtlCol="0" anchor="ctr"/>
          <a:lstStyle/>
          <a:p>
            <a:pPr indent="0" marL="0">
              <a:buNone/>
            </a:pPr>
            <a:r>
              <a:rPr lang="en-US" sz="1150" dirty="0">
                <a:solidFill>
                  <a:srgbClr val="ADB2B9"/>
                </a:solidFill>
                <a:latin typeface="Calibri" pitchFamily="34" charset="0"/>
                <a:ea typeface="Calibri" pitchFamily="34" charset="-122"/>
                <a:cs typeface="Calibri" pitchFamily="34" charset="-120"/>
              </a:rPr>
              <a:t>Calculateur, batch cooking, séances</a:t>
            </a:r>
            <a:endParaRPr lang="en-US" sz="1150" dirty="0"/>
          </a:p>
        </p:txBody>
      </p:sp>
      <p:sp>
        <p:nvSpPr>
          <p:cNvPr id="10" name="Shape 8"/>
          <p:cNvSpPr/>
          <p:nvPr/>
        </p:nvSpPr>
        <p:spPr>
          <a:xfrm>
            <a:off x="822960" y="3831336"/>
            <a:ext cx="109728" cy="29261"/>
          </a:xfrm>
          <a:prstGeom prst="rect">
            <a:avLst/>
          </a:prstGeom>
          <a:solidFill>
            <a:srgbClr val="E3B23C"/>
          </a:solidFill>
          <a:ln w="12700">
            <a:solidFill>
              <a:srgbClr val="E3B23C"/>
            </a:solidFill>
            <a:prstDash val="solid"/>
          </a:ln>
        </p:spPr>
      </p:sp>
      <p:sp>
        <p:nvSpPr>
          <p:cNvPr id="11" name="Text 9"/>
          <p:cNvSpPr txBox="1"/>
          <p:nvPr/>
        </p:nvSpPr>
        <p:spPr>
          <a:xfrm>
            <a:off x="1042416" y="3675888"/>
            <a:ext cx="2807208" cy="384048"/>
          </a:xfrm>
          <a:prstGeom prst="rect">
            <a:avLst/>
          </a:prstGeom>
          <a:noFill/>
          <a:ln/>
        </p:spPr>
        <p:txBody>
          <a:bodyPr wrap="square" lIns="0" tIns="0" rIns="0" bIns="0" rtlCol="0" anchor="ctr"/>
          <a:lstStyle/>
          <a:p>
            <a:pPr indent="0" marL="0">
              <a:buNone/>
            </a:pPr>
            <a:r>
              <a:rPr lang="en-US" sz="1150" dirty="0">
                <a:solidFill>
                  <a:srgbClr val="ADB2B9"/>
                </a:solidFill>
                <a:latin typeface="Calibri" pitchFamily="34" charset="0"/>
                <a:ea typeface="Calibri" pitchFamily="34" charset="-122"/>
                <a:cs typeface="Calibri" pitchFamily="34" charset="-120"/>
              </a:rPr>
              <a:t>Tableau de bord du coach</a:t>
            </a:r>
            <a:endParaRPr lang="en-US" sz="1150" dirty="0"/>
          </a:p>
        </p:txBody>
      </p:sp>
      <p:sp>
        <p:nvSpPr>
          <p:cNvPr id="12" name="Shape 10"/>
          <p:cNvSpPr/>
          <p:nvPr/>
        </p:nvSpPr>
        <p:spPr>
          <a:xfrm>
            <a:off x="4306824" y="1737360"/>
            <a:ext cx="3575304" cy="2834640"/>
          </a:xfrm>
          <a:prstGeom prst="roundRect">
            <a:avLst>
              <a:gd name="adj" fmla="val 2258"/>
            </a:avLst>
          </a:prstGeom>
          <a:solidFill>
            <a:srgbClr val="23272E"/>
          </a:solidFill>
          <a:ln w="15875">
            <a:solidFill>
              <a:srgbClr val="E3B23C"/>
            </a:solidFill>
            <a:prstDash val="solid"/>
          </a:ln>
        </p:spPr>
      </p:sp>
      <p:sp>
        <p:nvSpPr>
          <p:cNvPr id="13" name="Text 11"/>
          <p:cNvSpPr txBox="1"/>
          <p:nvPr/>
        </p:nvSpPr>
        <p:spPr>
          <a:xfrm>
            <a:off x="4581144" y="1883664"/>
            <a:ext cx="3026664" cy="347472"/>
          </a:xfrm>
          <a:prstGeom prst="rect">
            <a:avLst/>
          </a:prstGeom>
          <a:noFill/>
          <a:ln/>
        </p:spPr>
        <p:txBody>
          <a:bodyPr wrap="square" lIns="0" tIns="0" rIns="0" bIns="0" rtlCol="0" anchor="ctr"/>
          <a:lstStyle/>
          <a:p>
            <a:pPr indent="0" marL="0">
              <a:buNone/>
            </a:pPr>
            <a:r>
              <a:rPr lang="en-US" sz="2400" b="1" dirty="0">
                <a:solidFill>
                  <a:srgbClr val="E3B23C"/>
                </a:solidFill>
                <a:latin typeface="Arial Narrow" pitchFamily="34" charset="0"/>
                <a:ea typeface="Arial Narrow" pitchFamily="34" charset="-122"/>
                <a:cs typeface="Arial Narrow" pitchFamily="34" charset="-120"/>
              </a:rPr>
              <a:t>Pro</a:t>
            </a:r>
            <a:endParaRPr lang="en-US" sz="2400" dirty="0"/>
          </a:p>
        </p:txBody>
      </p:sp>
      <p:sp>
        <p:nvSpPr>
          <p:cNvPr id="14" name="Text 12"/>
          <p:cNvSpPr txBox="1"/>
          <p:nvPr/>
        </p:nvSpPr>
        <p:spPr>
          <a:xfrm>
            <a:off x="4581144" y="2231136"/>
            <a:ext cx="3026664" cy="658368"/>
          </a:xfrm>
          <a:prstGeom prst="rect">
            <a:avLst/>
          </a:prstGeom>
          <a:noFill/>
          <a:ln/>
        </p:spPr>
        <p:txBody>
          <a:bodyPr wrap="square" lIns="0" tIns="0" rIns="0" bIns="0" rtlCol="0" anchor="ctr"/>
          <a:lstStyle/>
          <a:p>
            <a:pPr indent="0" marL="0">
              <a:buNone/>
            </a:pPr>
            <a:r>
              <a:rPr lang="en-US" sz="3800" b="1" dirty="0">
                <a:solidFill>
                  <a:srgbClr val="E8EAED"/>
                </a:solidFill>
                <a:latin typeface="Arial Narrow" pitchFamily="34" charset="0"/>
                <a:ea typeface="Arial Narrow" pitchFamily="34" charset="-122"/>
                <a:cs typeface="Arial Narrow" pitchFamily="34" charset="-120"/>
              </a:rPr>
              <a:t>49</a:t>
            </a:r>
            <a:pPr indent="0" marL="0">
              <a:buNone/>
            </a:pPr>
            <a:r>
              <a:rPr lang="en-US" sz="1300" b="1" dirty="0">
                <a:solidFill>
                  <a:srgbClr val="868E99"/>
                </a:solidFill>
                <a:latin typeface="Calibri" pitchFamily="34" charset="0"/>
                <a:ea typeface="Calibri" pitchFamily="34" charset="-122"/>
                <a:cs typeface="Calibri" pitchFamily="34" charset="-120"/>
              </a:rPr>
              <a:t> € HT / mois</a:t>
            </a:r>
            <a:endParaRPr lang="en-US" sz="3800" dirty="0"/>
          </a:p>
        </p:txBody>
      </p:sp>
      <p:sp>
        <p:nvSpPr>
          <p:cNvPr id="15" name="Text 13"/>
          <p:cNvSpPr txBox="1"/>
          <p:nvPr/>
        </p:nvSpPr>
        <p:spPr>
          <a:xfrm>
            <a:off x="4581144" y="2907792"/>
            <a:ext cx="3026664" cy="274320"/>
          </a:xfrm>
          <a:prstGeom prst="rect">
            <a:avLst/>
          </a:prstGeom>
          <a:noFill/>
          <a:ln/>
        </p:spPr>
        <p:txBody>
          <a:bodyPr wrap="square" lIns="0" tIns="0" rIns="0" bIns="0" rtlCol="0" anchor="ctr"/>
          <a:lstStyle/>
          <a:p>
            <a:pPr indent="0" marL="0">
              <a:buNone/>
            </a:pPr>
            <a:r>
              <a:rPr lang="en-US" sz="1200" b="1" dirty="0">
                <a:solidFill>
                  <a:srgbClr val="E3B23C"/>
                </a:solidFill>
                <a:latin typeface="Calibri" pitchFamily="34" charset="0"/>
                <a:ea typeface="Calibri" pitchFamily="34" charset="-122"/>
                <a:cs typeface="Calibri" pitchFamily="34" charset="-120"/>
              </a:rPr>
              <a:t>Jusqu'à 50 clients</a:t>
            </a:r>
            <a:endParaRPr lang="en-US" sz="1200" dirty="0"/>
          </a:p>
        </p:txBody>
      </p:sp>
      <p:sp>
        <p:nvSpPr>
          <p:cNvPr id="16" name="Shape 14"/>
          <p:cNvSpPr/>
          <p:nvPr/>
        </p:nvSpPr>
        <p:spPr>
          <a:xfrm>
            <a:off x="4581144" y="3447288"/>
            <a:ext cx="109728" cy="29261"/>
          </a:xfrm>
          <a:prstGeom prst="rect">
            <a:avLst/>
          </a:prstGeom>
          <a:solidFill>
            <a:srgbClr val="E3B23C"/>
          </a:solidFill>
          <a:ln w="12700">
            <a:solidFill>
              <a:srgbClr val="E3B23C"/>
            </a:solidFill>
            <a:prstDash val="solid"/>
          </a:ln>
        </p:spPr>
      </p:sp>
      <p:sp>
        <p:nvSpPr>
          <p:cNvPr id="17" name="Text 15"/>
          <p:cNvSpPr txBox="1"/>
          <p:nvPr/>
        </p:nvSpPr>
        <p:spPr>
          <a:xfrm>
            <a:off x="4800600" y="3291840"/>
            <a:ext cx="2807208" cy="384048"/>
          </a:xfrm>
          <a:prstGeom prst="rect">
            <a:avLst/>
          </a:prstGeom>
          <a:noFill/>
          <a:ln/>
        </p:spPr>
        <p:txBody>
          <a:bodyPr wrap="square" lIns="0" tIns="0" rIns="0" bIns="0" rtlCol="0" anchor="ctr"/>
          <a:lstStyle/>
          <a:p>
            <a:pPr indent="0" marL="0">
              <a:buNone/>
            </a:pPr>
            <a:r>
              <a:rPr lang="en-US" sz="1150" dirty="0">
                <a:solidFill>
                  <a:srgbClr val="ADB2B9"/>
                </a:solidFill>
                <a:latin typeface="Calibri" pitchFamily="34" charset="0"/>
                <a:ea typeface="Calibri" pitchFamily="34" charset="-122"/>
                <a:cs typeface="Calibri" pitchFamily="34" charset="-120"/>
              </a:rPr>
              <a:t>Tout Solo</a:t>
            </a:r>
            <a:endParaRPr lang="en-US" sz="1150" dirty="0"/>
          </a:p>
        </p:txBody>
      </p:sp>
      <p:sp>
        <p:nvSpPr>
          <p:cNvPr id="18" name="Shape 16"/>
          <p:cNvSpPr/>
          <p:nvPr/>
        </p:nvSpPr>
        <p:spPr>
          <a:xfrm>
            <a:off x="4581144" y="3831336"/>
            <a:ext cx="109728" cy="29261"/>
          </a:xfrm>
          <a:prstGeom prst="rect">
            <a:avLst/>
          </a:prstGeom>
          <a:solidFill>
            <a:srgbClr val="E3B23C"/>
          </a:solidFill>
          <a:ln w="12700">
            <a:solidFill>
              <a:srgbClr val="E3B23C"/>
            </a:solidFill>
            <a:prstDash val="solid"/>
          </a:ln>
        </p:spPr>
      </p:sp>
      <p:sp>
        <p:nvSpPr>
          <p:cNvPr id="19" name="Text 17"/>
          <p:cNvSpPr txBox="1"/>
          <p:nvPr/>
        </p:nvSpPr>
        <p:spPr>
          <a:xfrm>
            <a:off x="4800600" y="3675888"/>
            <a:ext cx="2807208" cy="384048"/>
          </a:xfrm>
          <a:prstGeom prst="rect">
            <a:avLst/>
          </a:prstGeom>
          <a:noFill/>
          <a:ln/>
        </p:spPr>
        <p:txBody>
          <a:bodyPr wrap="square" lIns="0" tIns="0" rIns="0" bIns="0" rtlCol="0" anchor="ctr"/>
          <a:lstStyle/>
          <a:p>
            <a:pPr indent="0" marL="0">
              <a:buNone/>
            </a:pPr>
            <a:r>
              <a:rPr lang="en-US" sz="1150" dirty="0">
                <a:solidFill>
                  <a:srgbClr val="ADB2B9"/>
                </a:solidFill>
                <a:latin typeface="Calibri" pitchFamily="34" charset="0"/>
                <a:ea typeface="Calibri" pitchFamily="34" charset="-122"/>
                <a:cs typeface="Calibri" pitchFamily="34" charset="-120"/>
              </a:rPr>
              <a:t>Alertes d'écart aux cibles, export des plans</a:t>
            </a:r>
            <a:endParaRPr lang="en-US" sz="1150" dirty="0"/>
          </a:p>
        </p:txBody>
      </p:sp>
      <p:sp>
        <p:nvSpPr>
          <p:cNvPr id="20" name="Shape 18"/>
          <p:cNvSpPr/>
          <p:nvPr/>
        </p:nvSpPr>
        <p:spPr>
          <a:xfrm>
            <a:off x="4581144" y="4215384"/>
            <a:ext cx="109728" cy="29261"/>
          </a:xfrm>
          <a:prstGeom prst="rect">
            <a:avLst/>
          </a:prstGeom>
          <a:solidFill>
            <a:srgbClr val="E3B23C"/>
          </a:solidFill>
          <a:ln w="12700">
            <a:solidFill>
              <a:srgbClr val="E3B23C"/>
            </a:solidFill>
            <a:prstDash val="solid"/>
          </a:ln>
        </p:spPr>
      </p:sp>
      <p:sp>
        <p:nvSpPr>
          <p:cNvPr id="21" name="Text 19"/>
          <p:cNvSpPr txBox="1"/>
          <p:nvPr/>
        </p:nvSpPr>
        <p:spPr>
          <a:xfrm>
            <a:off x="4800600" y="4059936"/>
            <a:ext cx="2807208" cy="384048"/>
          </a:xfrm>
          <a:prstGeom prst="rect">
            <a:avLst/>
          </a:prstGeom>
          <a:noFill/>
          <a:ln/>
        </p:spPr>
        <p:txBody>
          <a:bodyPr wrap="square" lIns="0" tIns="0" rIns="0" bIns="0" rtlCol="0" anchor="ctr"/>
          <a:lstStyle/>
          <a:p>
            <a:pPr indent="0" marL="0">
              <a:buNone/>
            </a:pPr>
            <a:r>
              <a:rPr lang="en-US" sz="1150" dirty="0">
                <a:solidFill>
                  <a:srgbClr val="ADB2B9"/>
                </a:solidFill>
                <a:latin typeface="Calibri" pitchFamily="34" charset="0"/>
                <a:ea typeface="Calibri" pitchFamily="34" charset="-122"/>
                <a:cs typeface="Calibri" pitchFamily="34" charset="-120"/>
              </a:rPr>
              <a:t>Frigo synchronisé avec Grocy</a:t>
            </a:r>
            <a:endParaRPr lang="en-US" sz="1150" dirty="0"/>
          </a:p>
        </p:txBody>
      </p:sp>
      <p:sp>
        <p:nvSpPr>
          <p:cNvPr id="22" name="Shape 20"/>
          <p:cNvSpPr/>
          <p:nvPr/>
        </p:nvSpPr>
        <p:spPr>
          <a:xfrm>
            <a:off x="8065008" y="1737360"/>
            <a:ext cx="3575304" cy="2834640"/>
          </a:xfrm>
          <a:prstGeom prst="roundRect">
            <a:avLst>
              <a:gd name="adj" fmla="val 2258"/>
            </a:avLst>
          </a:prstGeom>
          <a:solidFill>
            <a:srgbClr val="1D2026"/>
          </a:solidFill>
          <a:ln w="9525">
            <a:solidFill>
              <a:srgbClr val="2F343D"/>
            </a:solidFill>
            <a:prstDash val="solid"/>
          </a:ln>
        </p:spPr>
      </p:sp>
      <p:sp>
        <p:nvSpPr>
          <p:cNvPr id="23" name="Text 21"/>
          <p:cNvSpPr txBox="1"/>
          <p:nvPr/>
        </p:nvSpPr>
        <p:spPr>
          <a:xfrm>
            <a:off x="8339328" y="1883664"/>
            <a:ext cx="3026664" cy="347472"/>
          </a:xfrm>
          <a:prstGeom prst="rect">
            <a:avLst/>
          </a:prstGeom>
          <a:noFill/>
          <a:ln/>
        </p:spPr>
        <p:txBody>
          <a:bodyPr wrap="square" lIns="0" tIns="0" rIns="0" bIns="0" rtlCol="0" anchor="ctr"/>
          <a:lstStyle/>
          <a:p>
            <a:pPr indent="0" marL="0">
              <a:buNone/>
            </a:pPr>
            <a:r>
              <a:rPr lang="en-US" sz="2400" b="1" dirty="0">
                <a:solidFill>
                  <a:srgbClr val="E8EAED"/>
                </a:solidFill>
                <a:latin typeface="Arial Narrow" pitchFamily="34" charset="0"/>
                <a:ea typeface="Arial Narrow" pitchFamily="34" charset="-122"/>
                <a:cs typeface="Arial Narrow" pitchFamily="34" charset="-120"/>
              </a:rPr>
              <a:t>Studio</a:t>
            </a:r>
            <a:endParaRPr lang="en-US" sz="2400" dirty="0"/>
          </a:p>
        </p:txBody>
      </p:sp>
      <p:sp>
        <p:nvSpPr>
          <p:cNvPr id="24" name="Text 22"/>
          <p:cNvSpPr txBox="1"/>
          <p:nvPr/>
        </p:nvSpPr>
        <p:spPr>
          <a:xfrm>
            <a:off x="8339328" y="2231136"/>
            <a:ext cx="3026664" cy="658368"/>
          </a:xfrm>
          <a:prstGeom prst="rect">
            <a:avLst/>
          </a:prstGeom>
          <a:noFill/>
          <a:ln/>
        </p:spPr>
        <p:txBody>
          <a:bodyPr wrap="square" lIns="0" tIns="0" rIns="0" bIns="0" rtlCol="0" anchor="ctr"/>
          <a:lstStyle/>
          <a:p>
            <a:pPr indent="0" marL="0">
              <a:buNone/>
            </a:pPr>
            <a:r>
              <a:rPr lang="en-US" sz="3800" b="1" dirty="0">
                <a:solidFill>
                  <a:srgbClr val="E8EAED"/>
                </a:solidFill>
                <a:latin typeface="Arial Narrow" pitchFamily="34" charset="0"/>
                <a:ea typeface="Arial Narrow" pitchFamily="34" charset="-122"/>
                <a:cs typeface="Arial Narrow" pitchFamily="34" charset="-120"/>
              </a:rPr>
              <a:t>99</a:t>
            </a:r>
            <a:pPr indent="0" marL="0">
              <a:buNone/>
            </a:pPr>
            <a:r>
              <a:rPr lang="en-US" sz="1300" b="1" dirty="0">
                <a:solidFill>
                  <a:srgbClr val="868E99"/>
                </a:solidFill>
                <a:latin typeface="Calibri" pitchFamily="34" charset="0"/>
                <a:ea typeface="Calibri" pitchFamily="34" charset="-122"/>
                <a:cs typeface="Calibri" pitchFamily="34" charset="-120"/>
              </a:rPr>
              <a:t> € HT / mois</a:t>
            </a:r>
            <a:endParaRPr lang="en-US" sz="3800" dirty="0"/>
          </a:p>
        </p:txBody>
      </p:sp>
      <p:sp>
        <p:nvSpPr>
          <p:cNvPr id="25" name="Text 23"/>
          <p:cNvSpPr txBox="1"/>
          <p:nvPr/>
        </p:nvSpPr>
        <p:spPr>
          <a:xfrm>
            <a:off x="8339328" y="2907792"/>
            <a:ext cx="3026664" cy="274320"/>
          </a:xfrm>
          <a:prstGeom prst="rect">
            <a:avLst/>
          </a:prstGeom>
          <a:noFill/>
          <a:ln/>
        </p:spPr>
        <p:txBody>
          <a:bodyPr wrap="square" lIns="0" tIns="0" rIns="0" bIns="0" rtlCol="0" anchor="ctr"/>
          <a:lstStyle/>
          <a:p>
            <a:pPr indent="0" marL="0">
              <a:buNone/>
            </a:pPr>
            <a:r>
              <a:rPr lang="en-US" sz="1200" b="1" dirty="0">
                <a:solidFill>
                  <a:srgbClr val="ADB2B9"/>
                </a:solidFill>
                <a:latin typeface="Calibri" pitchFamily="34" charset="0"/>
                <a:ea typeface="Calibri" pitchFamily="34" charset="-122"/>
                <a:cs typeface="Calibri" pitchFamily="34" charset="-120"/>
              </a:rPr>
              <a:t>3 coachs, clients illimités</a:t>
            </a:r>
            <a:endParaRPr lang="en-US" sz="1200" dirty="0"/>
          </a:p>
        </p:txBody>
      </p:sp>
      <p:sp>
        <p:nvSpPr>
          <p:cNvPr id="26" name="Shape 24"/>
          <p:cNvSpPr/>
          <p:nvPr/>
        </p:nvSpPr>
        <p:spPr>
          <a:xfrm>
            <a:off x="8339328" y="3447288"/>
            <a:ext cx="109728" cy="29261"/>
          </a:xfrm>
          <a:prstGeom prst="rect">
            <a:avLst/>
          </a:prstGeom>
          <a:solidFill>
            <a:srgbClr val="E3B23C"/>
          </a:solidFill>
          <a:ln w="12700">
            <a:solidFill>
              <a:srgbClr val="E3B23C"/>
            </a:solidFill>
            <a:prstDash val="solid"/>
          </a:ln>
        </p:spPr>
      </p:sp>
      <p:sp>
        <p:nvSpPr>
          <p:cNvPr id="27" name="Text 25"/>
          <p:cNvSpPr txBox="1"/>
          <p:nvPr/>
        </p:nvSpPr>
        <p:spPr>
          <a:xfrm>
            <a:off x="8558784" y="3291840"/>
            <a:ext cx="2807208" cy="384048"/>
          </a:xfrm>
          <a:prstGeom prst="rect">
            <a:avLst/>
          </a:prstGeom>
          <a:noFill/>
          <a:ln/>
        </p:spPr>
        <p:txBody>
          <a:bodyPr wrap="square" lIns="0" tIns="0" rIns="0" bIns="0" rtlCol="0" anchor="ctr"/>
          <a:lstStyle/>
          <a:p>
            <a:pPr indent="0" marL="0">
              <a:buNone/>
            </a:pPr>
            <a:r>
              <a:rPr lang="en-US" sz="1150" dirty="0">
                <a:solidFill>
                  <a:srgbClr val="ADB2B9"/>
                </a:solidFill>
                <a:latin typeface="Calibri" pitchFamily="34" charset="0"/>
                <a:ea typeface="Calibri" pitchFamily="34" charset="-122"/>
                <a:cs typeface="Calibri" pitchFamily="34" charset="-120"/>
              </a:rPr>
              <a:t>Tout Pro</a:t>
            </a:r>
            <a:endParaRPr lang="en-US" sz="1150" dirty="0"/>
          </a:p>
        </p:txBody>
      </p:sp>
      <p:sp>
        <p:nvSpPr>
          <p:cNvPr id="28" name="Shape 26"/>
          <p:cNvSpPr/>
          <p:nvPr/>
        </p:nvSpPr>
        <p:spPr>
          <a:xfrm>
            <a:off x="8339328" y="3831336"/>
            <a:ext cx="109728" cy="29261"/>
          </a:xfrm>
          <a:prstGeom prst="rect">
            <a:avLst/>
          </a:prstGeom>
          <a:solidFill>
            <a:srgbClr val="E3B23C"/>
          </a:solidFill>
          <a:ln w="12700">
            <a:solidFill>
              <a:srgbClr val="E3B23C"/>
            </a:solidFill>
            <a:prstDash val="solid"/>
          </a:ln>
        </p:spPr>
      </p:sp>
      <p:sp>
        <p:nvSpPr>
          <p:cNvPr id="29" name="Text 27"/>
          <p:cNvSpPr txBox="1"/>
          <p:nvPr/>
        </p:nvSpPr>
        <p:spPr>
          <a:xfrm>
            <a:off x="8558784" y="3675888"/>
            <a:ext cx="2807208" cy="384048"/>
          </a:xfrm>
          <a:prstGeom prst="rect">
            <a:avLst/>
          </a:prstGeom>
          <a:noFill/>
          <a:ln/>
        </p:spPr>
        <p:txBody>
          <a:bodyPr wrap="square" lIns="0" tIns="0" rIns="0" bIns="0" rtlCol="0" anchor="ctr"/>
          <a:lstStyle/>
          <a:p>
            <a:pPr indent="0" marL="0">
              <a:buNone/>
            </a:pPr>
            <a:r>
              <a:rPr lang="en-US" sz="1150" dirty="0">
                <a:solidFill>
                  <a:srgbClr val="ADB2B9"/>
                </a:solidFill>
                <a:latin typeface="Calibri" pitchFamily="34" charset="0"/>
                <a:ea typeface="Calibri" pitchFamily="34" charset="-122"/>
                <a:cs typeface="Calibri" pitchFamily="34" charset="-120"/>
              </a:rPr>
              <a:t>Clientèle et modèles partagés</a:t>
            </a:r>
            <a:endParaRPr lang="en-US" sz="1150" dirty="0"/>
          </a:p>
        </p:txBody>
      </p:sp>
      <p:sp>
        <p:nvSpPr>
          <p:cNvPr id="30" name="Shape 28"/>
          <p:cNvSpPr/>
          <p:nvPr/>
        </p:nvSpPr>
        <p:spPr>
          <a:xfrm>
            <a:off x="548640" y="4828032"/>
            <a:ext cx="11091672" cy="841248"/>
          </a:xfrm>
          <a:prstGeom prst="roundRect">
            <a:avLst>
              <a:gd name="adj" fmla="val 7609"/>
            </a:avLst>
          </a:prstGeom>
          <a:solidFill>
            <a:srgbClr val="1D2026"/>
          </a:solidFill>
          <a:ln w="9525">
            <a:solidFill>
              <a:srgbClr val="2F343D"/>
            </a:solidFill>
            <a:prstDash val="solid"/>
          </a:ln>
        </p:spPr>
      </p:sp>
      <p:sp>
        <p:nvSpPr>
          <p:cNvPr id="31" name="Text 29"/>
          <p:cNvSpPr txBox="1"/>
          <p:nvPr/>
        </p:nvSpPr>
        <p:spPr>
          <a:xfrm>
            <a:off x="877824" y="4828032"/>
            <a:ext cx="10433304" cy="841248"/>
          </a:xfrm>
          <a:prstGeom prst="rect">
            <a:avLst/>
          </a:prstGeom>
          <a:noFill/>
          <a:ln/>
        </p:spPr>
        <p:txBody>
          <a:bodyPr wrap="square" lIns="0" tIns="0" rIns="0" bIns="0" rtlCol="0" anchor="ctr"/>
          <a:lstStyle/>
          <a:p>
            <a:pPr indent="0" marL="0">
              <a:buNone/>
            </a:pPr>
            <a:r>
              <a:rPr lang="en-US" sz="1300" b="1" dirty="0">
                <a:solidFill>
                  <a:srgbClr val="E8EAED"/>
                </a:solidFill>
                <a:latin typeface="Calibri" pitchFamily="34" charset="0"/>
                <a:ea typeface="Calibri" pitchFamily="34" charset="-122"/>
                <a:cs typeface="Calibri" pitchFamily="34" charset="-120"/>
              </a:rPr>
              <a:t>Essai gratuit de 30 jours</a:t>
            </a:r>
            <a:pPr indent="0" marL="0">
              <a:buNone/>
            </a:pPr>
            <a:r>
              <a:rPr lang="en-US" sz="1300" dirty="0">
                <a:solidFill>
                  <a:srgbClr val="ADB2B9"/>
                </a:solidFill>
                <a:latin typeface="Calibri" pitchFamily="34" charset="0"/>
                <a:ea typeface="Calibri" pitchFamily="34" charset="-122"/>
                <a:cs typeface="Calibri" pitchFamily="34" charset="-120"/>
              </a:rPr>
              <a:t>  ·  remise de 2 mois en paiement annuel  ·  </a:t>
            </a:r>
            <a:pPr indent="0" marL="0">
              <a:buNone/>
            </a:pPr>
            <a:r>
              <a:rPr lang="en-US" sz="1300" b="1" dirty="0">
                <a:solidFill>
                  <a:srgbClr val="5EC080"/>
                </a:solidFill>
                <a:latin typeface="Calibri" pitchFamily="34" charset="0"/>
                <a:ea typeface="Calibri" pitchFamily="34" charset="-122"/>
                <a:cs typeface="Calibri" pitchFamily="34" charset="-120"/>
              </a:rPr>
              <a:t>gratuit pour le client final</a:t>
            </a:r>
            <a:pPr indent="0" marL="0">
              <a:buNone/>
            </a:pPr>
            <a:r>
              <a:rPr lang="en-US" sz="1300" dirty="0">
                <a:solidFill>
                  <a:srgbClr val="ADB2B9"/>
                </a:solidFill>
                <a:latin typeface="Calibri" pitchFamily="34" charset="0"/>
                <a:ea typeface="Calibri" pitchFamily="34" charset="-122"/>
                <a:cs typeface="Calibri" pitchFamily="34" charset="-120"/>
              </a:rPr>
              <a:t>  ·  un mois offert par professionnel parrainé.</a:t>
            </a:r>
            <a:endParaRPr lang="en-US" sz="1300" dirty="0"/>
          </a:p>
        </p:txBody>
      </p:sp>
      <p:sp>
        <p:nvSpPr>
          <p:cNvPr id="32" name="Text 30"/>
          <p:cNvSpPr txBox="1"/>
          <p:nvPr/>
        </p:nvSpPr>
        <p:spPr>
          <a:xfrm>
            <a:off x="548640" y="5961888"/>
            <a:ext cx="11091672" cy="310896"/>
          </a:xfrm>
          <a:prstGeom prst="rect">
            <a:avLst/>
          </a:prstGeom>
          <a:noFill/>
          <a:ln/>
        </p:spPr>
        <p:txBody>
          <a:bodyPr wrap="square" lIns="0" tIns="0" rIns="0" bIns="0" rtlCol="0" anchor="ctr"/>
          <a:lstStyle/>
          <a:p>
            <a:pPr indent="0" marL="0">
              <a:buNone/>
            </a:pPr>
            <a:r>
              <a:rPr lang="en-US" sz="950" i="1" dirty="0">
                <a:solidFill>
                  <a:srgbClr val="868E99"/>
                </a:solidFill>
                <a:latin typeface="Calibri" pitchFamily="34" charset="0"/>
                <a:ea typeface="Calibri" pitchFamily="34" charset="-122"/>
                <a:cs typeface="Calibri" pitchFamily="34" charset="-120"/>
              </a:rPr>
              <a:t>Grille à tester auprès des pilotes : les concurrents se situent entre 20 et 130 $ par mois, modules compris</a:t>
            </a:r>
            <a:endParaRPr lang="en-US" sz="950" dirty="0"/>
          </a:p>
        </p:txBody>
      </p:sp>
      <p:sp>
        <p:nvSpPr>
          <p:cNvPr id="33" name="Text 31"/>
          <p:cNvSpPr txBox="1"/>
          <p:nvPr/>
        </p:nvSpPr>
        <p:spPr>
          <a:xfrm>
            <a:off x="548640" y="6336792"/>
            <a:ext cx="8229600" cy="274320"/>
          </a:xfrm>
          <a:prstGeom prst="rect">
            <a:avLst/>
          </a:prstGeom>
          <a:noFill/>
          <a:ln/>
        </p:spPr>
        <p:txBody>
          <a:bodyPr wrap="square" lIns="0" tIns="0" rIns="0" bIns="0" rtlCol="0" anchor="ctr"/>
          <a:lstStyle/>
          <a:p>
            <a:pPr algn="l" indent="0" marL="0">
              <a:buNone/>
            </a:pPr>
            <a:r>
              <a:rPr lang="en-US" sz="900" dirty="0">
                <a:solidFill>
                  <a:srgbClr val="868E99"/>
                </a:solidFill>
                <a:latin typeface="Calibri" pitchFamily="34" charset="0"/>
                <a:ea typeface="Calibri" pitchFamily="34" charset="-122"/>
                <a:cs typeface="Calibri" pitchFamily="34" charset="-120"/>
              </a:rPr>
              <a:t>fitcarnet Pro · business plan · 21 septembre 2026</a:t>
            </a:r>
            <a:endParaRPr lang="en-US" sz="900" dirty="0"/>
          </a:p>
        </p:txBody>
      </p:sp>
      <p:sp>
        <p:nvSpPr>
          <p:cNvPr id="34" name="Text 32"/>
          <p:cNvSpPr txBox="1"/>
          <p:nvPr/>
        </p:nvSpPr>
        <p:spPr>
          <a:xfrm>
            <a:off x="8897112" y="6336792"/>
            <a:ext cx="2743200" cy="274320"/>
          </a:xfrm>
          <a:prstGeom prst="rect">
            <a:avLst/>
          </a:prstGeom>
          <a:noFill/>
          <a:ln/>
        </p:spPr>
        <p:txBody>
          <a:bodyPr wrap="square" lIns="0" tIns="0" rIns="0" bIns="0" rtlCol="0" anchor="ctr"/>
          <a:lstStyle/>
          <a:p>
            <a:pPr algn="r" indent="0" marL="0">
              <a:buNone/>
            </a:pPr>
            <a:r>
              <a:rPr lang="en-US" sz="900" dirty="0">
                <a:solidFill>
                  <a:srgbClr val="868E99"/>
                </a:solidFill>
                <a:latin typeface="Calibri" pitchFamily="34" charset="0"/>
                <a:ea typeface="Calibri" pitchFamily="34" charset="-122"/>
                <a:cs typeface="Calibri" pitchFamily="34" charset="-120"/>
              </a:rPr>
              <a:t>09 / 24</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61A"/>
        </a:solidFill>
      </p:bgPr>
    </p:bg>
    <p:spTree>
      <p:nvGrpSpPr>
        <p:cNvPr id="1" name=""/>
        <p:cNvGrpSpPr/>
        <p:nvPr/>
      </p:nvGrpSpPr>
      <p:grpSpPr>
        <a:xfrm>
          <a:off x="0" y="0"/>
          <a:ext cx="0" cy="0"/>
          <a:chOff x="0" y="0"/>
          <a:chExt cx="0" cy="0"/>
        </a:xfrm>
      </p:grpSpPr>
      <p:sp>
        <p:nvSpPr>
          <p:cNvPr id="2" name="Text 0"/>
          <p:cNvSpPr txBox="1"/>
          <p:nvPr/>
        </p:nvSpPr>
        <p:spPr>
          <a:xfrm>
            <a:off x="548640" y="347472"/>
            <a:ext cx="11091672" cy="237744"/>
          </a:xfrm>
          <a:prstGeom prst="rect">
            <a:avLst/>
          </a:prstGeom>
          <a:noFill/>
          <a:ln/>
        </p:spPr>
        <p:txBody>
          <a:bodyPr wrap="square" lIns="0" tIns="0" rIns="0" bIns="0" rtlCol="0" anchor="ctr"/>
          <a:lstStyle/>
          <a:p>
            <a:pPr indent="0" marL="0">
              <a:buNone/>
            </a:pPr>
            <a:r>
              <a:rPr lang="en-US" sz="1050" b="1" spc="200" kern="0" dirty="0">
                <a:solidFill>
                  <a:srgbClr val="E3B23C"/>
                </a:solidFill>
                <a:latin typeface="Calibri" pitchFamily="34" charset="0"/>
                <a:ea typeface="Calibri" pitchFamily="34" charset="-122"/>
                <a:cs typeface="Calibri" pitchFamily="34" charset="-120"/>
              </a:rPr>
              <a:t>CONCURRENCE</a:t>
            </a:r>
            <a:endParaRPr lang="en-US" sz="1050" dirty="0"/>
          </a:p>
        </p:txBody>
      </p:sp>
      <p:sp>
        <p:nvSpPr>
          <p:cNvPr id="3" name="Text 1"/>
          <p:cNvSpPr txBox="1"/>
          <p:nvPr/>
        </p:nvSpPr>
        <p:spPr>
          <a:xfrm>
            <a:off x="548640" y="603504"/>
            <a:ext cx="11091672" cy="566928"/>
          </a:xfrm>
          <a:prstGeom prst="rect">
            <a:avLst/>
          </a:prstGeom>
          <a:noFill/>
          <a:ln/>
        </p:spPr>
        <p:txBody>
          <a:bodyPr wrap="square" lIns="0" tIns="0" rIns="0" bIns="0" rtlCol="0" anchor="ctr"/>
          <a:lstStyle/>
          <a:p>
            <a:pPr indent="0" marL="0">
              <a:buNone/>
            </a:pPr>
            <a:r>
              <a:rPr lang="en-US" sz="3000" b="1" dirty="0">
                <a:solidFill>
                  <a:srgbClr val="E8EAED"/>
                </a:solidFill>
                <a:latin typeface="Arial Narrow" pitchFamily="34" charset="0"/>
                <a:ea typeface="Arial Narrow" pitchFamily="34" charset="-122"/>
                <a:cs typeface="Arial Narrow" pitchFamily="34" charset="-120"/>
              </a:rPr>
              <a:t>Des outils de suivi nombreux ; aucun ne part du frigo</a:t>
            </a:r>
            <a:endParaRPr lang="en-US" sz="3000" dirty="0"/>
          </a:p>
        </p:txBody>
      </p:sp>
      <p:sp>
        <p:nvSpPr>
          <p:cNvPr id="4" name="Text 2"/>
          <p:cNvSpPr txBox="1"/>
          <p:nvPr/>
        </p:nvSpPr>
        <p:spPr>
          <a:xfrm>
            <a:off x="548640" y="1700784"/>
            <a:ext cx="1828800" cy="256032"/>
          </a:xfrm>
          <a:prstGeom prst="rect">
            <a:avLst/>
          </a:prstGeom>
          <a:noFill/>
          <a:ln/>
        </p:spPr>
        <p:txBody>
          <a:bodyPr wrap="square" lIns="0" tIns="0" rIns="0" bIns="0" rtlCol="0" anchor="ctr"/>
          <a:lstStyle/>
          <a:p>
            <a:pPr algn="l" indent="0" marL="0">
              <a:buNone/>
            </a:pPr>
            <a:r>
              <a:rPr lang="en-US" sz="850" b="1" spc="100" kern="0" dirty="0">
                <a:solidFill>
                  <a:srgbClr val="868E99"/>
                </a:solidFill>
                <a:latin typeface="Calibri" pitchFamily="34" charset="0"/>
                <a:ea typeface="Calibri" pitchFamily="34" charset="-122"/>
                <a:cs typeface="Calibri" pitchFamily="34" charset="-120"/>
              </a:rPr>
              <a:t>OUTIL</a:t>
            </a:r>
            <a:endParaRPr lang="en-US" sz="850" dirty="0"/>
          </a:p>
        </p:txBody>
      </p:sp>
      <p:sp>
        <p:nvSpPr>
          <p:cNvPr id="5" name="Text 3"/>
          <p:cNvSpPr txBox="1"/>
          <p:nvPr/>
        </p:nvSpPr>
        <p:spPr>
          <a:xfrm>
            <a:off x="2377440" y="1700784"/>
            <a:ext cx="1234440" cy="256032"/>
          </a:xfrm>
          <a:prstGeom prst="rect">
            <a:avLst/>
          </a:prstGeom>
          <a:noFill/>
          <a:ln/>
        </p:spPr>
        <p:txBody>
          <a:bodyPr wrap="square" lIns="0" tIns="0" rIns="0" bIns="0" rtlCol="0" anchor="ctr"/>
          <a:lstStyle/>
          <a:p>
            <a:pPr algn="l" indent="0" marL="0">
              <a:buNone/>
            </a:pPr>
            <a:r>
              <a:rPr lang="en-US" sz="850" b="1" spc="100" kern="0" dirty="0">
                <a:solidFill>
                  <a:srgbClr val="868E99"/>
                </a:solidFill>
                <a:latin typeface="Calibri" pitchFamily="34" charset="0"/>
                <a:ea typeface="Calibri" pitchFamily="34" charset="-122"/>
                <a:cs typeface="Calibri" pitchFamily="34" charset="-120"/>
              </a:rPr>
              <a:t>ORIGINE</a:t>
            </a:r>
            <a:endParaRPr lang="en-US" sz="850" dirty="0"/>
          </a:p>
        </p:txBody>
      </p:sp>
      <p:sp>
        <p:nvSpPr>
          <p:cNvPr id="6" name="Text 4"/>
          <p:cNvSpPr txBox="1"/>
          <p:nvPr/>
        </p:nvSpPr>
        <p:spPr>
          <a:xfrm>
            <a:off x="3611880" y="1700784"/>
            <a:ext cx="2011680" cy="256032"/>
          </a:xfrm>
          <a:prstGeom prst="rect">
            <a:avLst/>
          </a:prstGeom>
          <a:noFill/>
          <a:ln/>
        </p:spPr>
        <p:txBody>
          <a:bodyPr wrap="square" lIns="0" tIns="0" rIns="0" bIns="0" rtlCol="0" anchor="ctr"/>
          <a:lstStyle/>
          <a:p>
            <a:pPr algn="l" indent="0" marL="0">
              <a:buNone/>
            </a:pPr>
            <a:r>
              <a:rPr lang="en-US" sz="850" b="1" spc="100" kern="0" dirty="0">
                <a:solidFill>
                  <a:srgbClr val="868E99"/>
                </a:solidFill>
                <a:latin typeface="Calibri" pitchFamily="34" charset="0"/>
                <a:ea typeface="Calibri" pitchFamily="34" charset="-122"/>
                <a:cs typeface="Calibri" pitchFamily="34" charset="-120"/>
              </a:rPr>
              <a:t>PRIX PUBLIC</a:t>
            </a:r>
            <a:endParaRPr lang="en-US" sz="850" dirty="0"/>
          </a:p>
        </p:txBody>
      </p:sp>
      <p:sp>
        <p:nvSpPr>
          <p:cNvPr id="7" name="Text 5"/>
          <p:cNvSpPr txBox="1"/>
          <p:nvPr/>
        </p:nvSpPr>
        <p:spPr>
          <a:xfrm>
            <a:off x="5623560" y="1700784"/>
            <a:ext cx="1371600" cy="256032"/>
          </a:xfrm>
          <a:prstGeom prst="rect">
            <a:avLst/>
          </a:prstGeom>
          <a:noFill/>
          <a:ln/>
        </p:spPr>
        <p:txBody>
          <a:bodyPr wrap="square" lIns="0" tIns="0" rIns="0" bIns="0" rtlCol="0" anchor="ctr"/>
          <a:lstStyle/>
          <a:p>
            <a:pPr algn="l" indent="0" marL="0">
              <a:buNone/>
            </a:pPr>
            <a:r>
              <a:rPr lang="en-US" sz="850" b="1" spc="100" kern="0" dirty="0">
                <a:solidFill>
                  <a:srgbClr val="868E99"/>
                </a:solidFill>
                <a:latin typeface="Calibri" pitchFamily="34" charset="0"/>
                <a:ea typeface="Calibri" pitchFamily="34" charset="-122"/>
                <a:cs typeface="Calibri" pitchFamily="34" charset="-120"/>
              </a:rPr>
              <a:t>PROGRAMMES</a:t>
            </a:r>
            <a:endParaRPr lang="en-US" sz="850" dirty="0"/>
          </a:p>
        </p:txBody>
      </p:sp>
      <p:sp>
        <p:nvSpPr>
          <p:cNvPr id="8" name="Text 6"/>
          <p:cNvSpPr txBox="1"/>
          <p:nvPr/>
        </p:nvSpPr>
        <p:spPr>
          <a:xfrm>
            <a:off x="6995160" y="1700784"/>
            <a:ext cx="2788920" cy="256032"/>
          </a:xfrm>
          <a:prstGeom prst="rect">
            <a:avLst/>
          </a:prstGeom>
          <a:noFill/>
          <a:ln/>
        </p:spPr>
        <p:txBody>
          <a:bodyPr wrap="square" lIns="0" tIns="0" rIns="0" bIns="0" rtlCol="0" anchor="ctr"/>
          <a:lstStyle/>
          <a:p>
            <a:pPr algn="l" indent="0" marL="0">
              <a:buNone/>
            </a:pPr>
            <a:r>
              <a:rPr lang="en-US" sz="850" b="1" spc="100" kern="0" dirty="0">
                <a:solidFill>
                  <a:srgbClr val="868E99"/>
                </a:solidFill>
                <a:latin typeface="Calibri" pitchFamily="34" charset="0"/>
                <a:ea typeface="Calibri" pitchFamily="34" charset="-122"/>
                <a:cs typeface="Calibri" pitchFamily="34" charset="-120"/>
              </a:rPr>
              <a:t>NUTRITION</a:t>
            </a:r>
            <a:endParaRPr lang="en-US" sz="850" dirty="0"/>
          </a:p>
        </p:txBody>
      </p:sp>
      <p:sp>
        <p:nvSpPr>
          <p:cNvPr id="9" name="Text 7"/>
          <p:cNvSpPr txBox="1"/>
          <p:nvPr/>
        </p:nvSpPr>
        <p:spPr>
          <a:xfrm>
            <a:off x="9784080" y="1700784"/>
            <a:ext cx="1856232" cy="256032"/>
          </a:xfrm>
          <a:prstGeom prst="rect">
            <a:avLst/>
          </a:prstGeom>
          <a:noFill/>
          <a:ln/>
        </p:spPr>
        <p:txBody>
          <a:bodyPr wrap="square" lIns="0" tIns="0" rIns="0" bIns="0" rtlCol="0" anchor="ctr"/>
          <a:lstStyle/>
          <a:p>
            <a:pPr algn="l" indent="0" marL="0">
              <a:buNone/>
            </a:pPr>
            <a:r>
              <a:rPr lang="en-US" sz="850" b="1" spc="100" kern="0" dirty="0">
                <a:solidFill>
                  <a:srgbClr val="868E99"/>
                </a:solidFill>
                <a:latin typeface="Calibri" pitchFamily="34" charset="0"/>
                <a:ea typeface="Calibri" pitchFamily="34" charset="-122"/>
                <a:cs typeface="Calibri" pitchFamily="34" charset="-120"/>
              </a:rPr>
              <a:t>PART DU STOCK RÉEL</a:t>
            </a:r>
            <a:endParaRPr lang="en-US" sz="850" dirty="0"/>
          </a:p>
        </p:txBody>
      </p:sp>
      <p:sp>
        <p:nvSpPr>
          <p:cNvPr id="10" name="Text 8"/>
          <p:cNvSpPr txBox="1"/>
          <p:nvPr/>
        </p:nvSpPr>
        <p:spPr>
          <a:xfrm>
            <a:off x="548640" y="1975104"/>
            <a:ext cx="1828800" cy="365760"/>
          </a:xfrm>
          <a:prstGeom prst="rect">
            <a:avLst/>
          </a:prstGeom>
          <a:noFill/>
          <a:ln/>
        </p:spPr>
        <p:txBody>
          <a:bodyPr wrap="square" lIns="0" tIns="0" rIns="0" bIns="0" rtlCol="0" anchor="ctr"/>
          <a:lstStyle/>
          <a:p>
            <a:pPr algn="l" indent="0" marL="0">
              <a:buNone/>
            </a:pPr>
            <a:r>
              <a:rPr lang="en-US" sz="1100" dirty="0">
                <a:solidFill>
                  <a:srgbClr val="E8EAED"/>
                </a:solidFill>
                <a:latin typeface="Calibri" pitchFamily="34" charset="0"/>
                <a:ea typeface="Calibri" pitchFamily="34" charset="-122"/>
                <a:cs typeface="Calibri" pitchFamily="34" charset="-120"/>
              </a:rPr>
              <a:t>Trainerize</a:t>
            </a:r>
            <a:endParaRPr lang="en-US" sz="1100" dirty="0"/>
          </a:p>
        </p:txBody>
      </p:sp>
      <p:sp>
        <p:nvSpPr>
          <p:cNvPr id="11" name="Text 9"/>
          <p:cNvSpPr txBox="1"/>
          <p:nvPr/>
        </p:nvSpPr>
        <p:spPr>
          <a:xfrm>
            <a:off x="2377440" y="1975104"/>
            <a:ext cx="1234440" cy="365760"/>
          </a:xfrm>
          <a:prstGeom prst="rect">
            <a:avLst/>
          </a:prstGeom>
          <a:noFill/>
          <a:ln/>
        </p:spPr>
        <p:txBody>
          <a:bodyPr wrap="square" lIns="0" tIns="0" rIns="0" bIns="0" rtlCol="0" anchor="ctr"/>
          <a:lstStyle/>
          <a:p>
            <a:pPr algn="l" indent="0" marL="0">
              <a:buNone/>
            </a:pPr>
            <a:r>
              <a:rPr lang="en-US" sz="1100" dirty="0">
                <a:solidFill>
                  <a:srgbClr val="ADB2B9"/>
                </a:solidFill>
                <a:latin typeface="Calibri" pitchFamily="34" charset="0"/>
                <a:ea typeface="Calibri" pitchFamily="34" charset="-122"/>
                <a:cs typeface="Calibri" pitchFamily="34" charset="-120"/>
              </a:rPr>
              <a:t>Canada</a:t>
            </a:r>
            <a:endParaRPr lang="en-US" sz="1100" dirty="0"/>
          </a:p>
        </p:txBody>
      </p:sp>
      <p:sp>
        <p:nvSpPr>
          <p:cNvPr id="12" name="Text 10"/>
          <p:cNvSpPr txBox="1"/>
          <p:nvPr/>
        </p:nvSpPr>
        <p:spPr>
          <a:xfrm>
            <a:off x="3611880" y="1975104"/>
            <a:ext cx="2011680" cy="365760"/>
          </a:xfrm>
          <a:prstGeom prst="rect">
            <a:avLst/>
          </a:prstGeom>
          <a:noFill/>
          <a:ln/>
        </p:spPr>
        <p:txBody>
          <a:bodyPr wrap="square" lIns="0" tIns="0" rIns="0" bIns="0" rtlCol="0" anchor="ctr"/>
          <a:lstStyle/>
          <a:p>
            <a:pPr algn="l" indent="0" marL="0">
              <a:buNone/>
            </a:pPr>
            <a:r>
              <a:rPr lang="en-US" sz="1100" dirty="0">
                <a:solidFill>
                  <a:srgbClr val="ADB2B9"/>
                </a:solidFill>
                <a:latin typeface="Calibri" pitchFamily="34" charset="0"/>
                <a:ea typeface="Calibri" pitchFamily="34" charset="-122"/>
                <a:cs typeface="Calibri" pitchFamily="34" charset="-120"/>
              </a:rPr>
              <a:t>23 – 225 $/mois</a:t>
            </a:r>
            <a:endParaRPr lang="en-US" sz="1100" dirty="0"/>
          </a:p>
        </p:txBody>
      </p:sp>
      <p:sp>
        <p:nvSpPr>
          <p:cNvPr id="13" name="Text 11"/>
          <p:cNvSpPr txBox="1"/>
          <p:nvPr/>
        </p:nvSpPr>
        <p:spPr>
          <a:xfrm>
            <a:off x="5623560" y="1975104"/>
            <a:ext cx="1371600" cy="365760"/>
          </a:xfrm>
          <a:prstGeom prst="rect">
            <a:avLst/>
          </a:prstGeom>
          <a:noFill/>
          <a:ln/>
        </p:spPr>
        <p:txBody>
          <a:bodyPr wrap="square" lIns="0" tIns="0" rIns="0" bIns="0" rtlCol="0" anchor="ctr"/>
          <a:lstStyle/>
          <a:p>
            <a:pPr algn="l" indent="0" marL="0">
              <a:buNone/>
            </a:pPr>
            <a:r>
              <a:rPr lang="en-US" sz="1100" dirty="0">
                <a:solidFill>
                  <a:srgbClr val="ADB2B9"/>
                </a:solidFill>
                <a:latin typeface="Calibri" pitchFamily="34" charset="0"/>
                <a:ea typeface="Calibri" pitchFamily="34" charset="-122"/>
                <a:cs typeface="Calibri" pitchFamily="34" charset="-120"/>
              </a:rPr>
              <a:t>oui</a:t>
            </a:r>
            <a:endParaRPr lang="en-US" sz="1100" dirty="0"/>
          </a:p>
        </p:txBody>
      </p:sp>
      <p:sp>
        <p:nvSpPr>
          <p:cNvPr id="14" name="Text 12"/>
          <p:cNvSpPr txBox="1"/>
          <p:nvPr/>
        </p:nvSpPr>
        <p:spPr>
          <a:xfrm>
            <a:off x="6995160" y="1975104"/>
            <a:ext cx="2788920" cy="365760"/>
          </a:xfrm>
          <a:prstGeom prst="rect">
            <a:avLst/>
          </a:prstGeom>
          <a:noFill/>
          <a:ln/>
        </p:spPr>
        <p:txBody>
          <a:bodyPr wrap="square" lIns="0" tIns="0" rIns="0" bIns="0" rtlCol="0" anchor="ctr"/>
          <a:lstStyle/>
          <a:p>
            <a:pPr algn="l" indent="0" marL="0">
              <a:buNone/>
            </a:pPr>
            <a:r>
              <a:rPr lang="en-US" sz="1100" dirty="0">
                <a:solidFill>
                  <a:srgbClr val="ADB2B9"/>
                </a:solidFill>
                <a:latin typeface="Calibri" pitchFamily="34" charset="0"/>
                <a:ea typeface="Calibri" pitchFamily="34" charset="-122"/>
                <a:cs typeface="Calibri" pitchFamily="34" charset="-120"/>
              </a:rPr>
              <a:t>module payant en sus</a:t>
            </a:r>
            <a:endParaRPr lang="en-US" sz="1100" dirty="0"/>
          </a:p>
        </p:txBody>
      </p:sp>
      <p:sp>
        <p:nvSpPr>
          <p:cNvPr id="15" name="Text 13"/>
          <p:cNvSpPr txBox="1"/>
          <p:nvPr/>
        </p:nvSpPr>
        <p:spPr>
          <a:xfrm>
            <a:off x="9784080" y="1975104"/>
            <a:ext cx="1856232" cy="365760"/>
          </a:xfrm>
          <a:prstGeom prst="rect">
            <a:avLst/>
          </a:prstGeom>
          <a:noFill/>
          <a:ln/>
        </p:spPr>
        <p:txBody>
          <a:bodyPr wrap="square" lIns="0" tIns="0" rIns="0" bIns="0" rtlCol="0" anchor="ctr"/>
          <a:lstStyle/>
          <a:p>
            <a:pPr algn="l" indent="0" marL="0">
              <a:buNone/>
            </a:pPr>
            <a:r>
              <a:rPr lang="en-US" sz="1100" dirty="0">
                <a:solidFill>
                  <a:srgbClr val="868E99"/>
                </a:solidFill>
                <a:latin typeface="Calibri" pitchFamily="34" charset="0"/>
                <a:ea typeface="Calibri" pitchFamily="34" charset="-122"/>
                <a:cs typeface="Calibri" pitchFamily="34" charset="-120"/>
              </a:rPr>
              <a:t>non trouvé</a:t>
            </a:r>
            <a:endParaRPr lang="en-US" sz="1100" dirty="0"/>
          </a:p>
        </p:txBody>
      </p:sp>
      <p:sp>
        <p:nvSpPr>
          <p:cNvPr id="16" name="Shape 14"/>
          <p:cNvSpPr/>
          <p:nvPr/>
        </p:nvSpPr>
        <p:spPr>
          <a:xfrm>
            <a:off x="475488" y="2340864"/>
            <a:ext cx="11237976" cy="365760"/>
          </a:xfrm>
          <a:prstGeom prst="rect">
            <a:avLst/>
          </a:prstGeom>
          <a:solidFill>
            <a:srgbClr val="1D2026"/>
          </a:solidFill>
          <a:ln w="12700">
            <a:solidFill>
              <a:srgbClr val="1D2026"/>
            </a:solidFill>
            <a:prstDash val="solid"/>
          </a:ln>
        </p:spPr>
      </p:sp>
      <p:sp>
        <p:nvSpPr>
          <p:cNvPr id="17" name="Text 15"/>
          <p:cNvSpPr txBox="1"/>
          <p:nvPr/>
        </p:nvSpPr>
        <p:spPr>
          <a:xfrm>
            <a:off x="548640" y="2340864"/>
            <a:ext cx="1828800" cy="365760"/>
          </a:xfrm>
          <a:prstGeom prst="rect">
            <a:avLst/>
          </a:prstGeom>
          <a:noFill/>
          <a:ln/>
        </p:spPr>
        <p:txBody>
          <a:bodyPr wrap="square" lIns="0" tIns="0" rIns="0" bIns="0" rtlCol="0" anchor="ctr"/>
          <a:lstStyle/>
          <a:p>
            <a:pPr algn="l" indent="0" marL="0">
              <a:buNone/>
            </a:pPr>
            <a:r>
              <a:rPr lang="en-US" sz="1100" dirty="0">
                <a:solidFill>
                  <a:srgbClr val="E8EAED"/>
                </a:solidFill>
                <a:latin typeface="Calibri" pitchFamily="34" charset="0"/>
                <a:ea typeface="Calibri" pitchFamily="34" charset="-122"/>
                <a:cs typeface="Calibri" pitchFamily="34" charset="-120"/>
              </a:rPr>
              <a:t>TrueCoach</a:t>
            </a:r>
            <a:endParaRPr lang="en-US" sz="1100" dirty="0"/>
          </a:p>
        </p:txBody>
      </p:sp>
      <p:sp>
        <p:nvSpPr>
          <p:cNvPr id="18" name="Text 16"/>
          <p:cNvSpPr txBox="1"/>
          <p:nvPr/>
        </p:nvSpPr>
        <p:spPr>
          <a:xfrm>
            <a:off x="2377440" y="2340864"/>
            <a:ext cx="1234440" cy="365760"/>
          </a:xfrm>
          <a:prstGeom prst="rect">
            <a:avLst/>
          </a:prstGeom>
          <a:noFill/>
          <a:ln/>
        </p:spPr>
        <p:txBody>
          <a:bodyPr wrap="square" lIns="0" tIns="0" rIns="0" bIns="0" rtlCol="0" anchor="ctr"/>
          <a:lstStyle/>
          <a:p>
            <a:pPr algn="l" indent="0" marL="0">
              <a:buNone/>
            </a:pPr>
            <a:r>
              <a:rPr lang="en-US" sz="1100" dirty="0">
                <a:solidFill>
                  <a:srgbClr val="ADB2B9"/>
                </a:solidFill>
                <a:latin typeface="Calibri" pitchFamily="34" charset="0"/>
                <a:ea typeface="Calibri" pitchFamily="34" charset="-122"/>
                <a:cs typeface="Calibri" pitchFamily="34" charset="-120"/>
              </a:rPr>
              <a:t>États-Unis</a:t>
            </a:r>
            <a:endParaRPr lang="en-US" sz="1100" dirty="0"/>
          </a:p>
        </p:txBody>
      </p:sp>
      <p:sp>
        <p:nvSpPr>
          <p:cNvPr id="19" name="Text 17"/>
          <p:cNvSpPr txBox="1"/>
          <p:nvPr/>
        </p:nvSpPr>
        <p:spPr>
          <a:xfrm>
            <a:off x="3611880" y="2340864"/>
            <a:ext cx="2011680" cy="365760"/>
          </a:xfrm>
          <a:prstGeom prst="rect">
            <a:avLst/>
          </a:prstGeom>
          <a:noFill/>
          <a:ln/>
        </p:spPr>
        <p:txBody>
          <a:bodyPr wrap="square" lIns="0" tIns="0" rIns="0" bIns="0" rtlCol="0" anchor="ctr"/>
          <a:lstStyle/>
          <a:p>
            <a:pPr algn="l" indent="0" marL="0">
              <a:buNone/>
            </a:pPr>
            <a:r>
              <a:rPr lang="en-US" sz="1100" dirty="0">
                <a:solidFill>
                  <a:srgbClr val="ADB2B9"/>
                </a:solidFill>
                <a:latin typeface="Calibri" pitchFamily="34" charset="0"/>
                <a:ea typeface="Calibri" pitchFamily="34" charset="-122"/>
                <a:cs typeface="Calibri" pitchFamily="34" charset="-120"/>
              </a:rPr>
              <a:t>20 – 107 $/mois</a:t>
            </a:r>
            <a:endParaRPr lang="en-US" sz="1100" dirty="0"/>
          </a:p>
        </p:txBody>
      </p:sp>
      <p:sp>
        <p:nvSpPr>
          <p:cNvPr id="20" name="Text 18"/>
          <p:cNvSpPr txBox="1"/>
          <p:nvPr/>
        </p:nvSpPr>
        <p:spPr>
          <a:xfrm>
            <a:off x="5623560" y="2340864"/>
            <a:ext cx="1371600" cy="365760"/>
          </a:xfrm>
          <a:prstGeom prst="rect">
            <a:avLst/>
          </a:prstGeom>
          <a:noFill/>
          <a:ln/>
        </p:spPr>
        <p:txBody>
          <a:bodyPr wrap="square" lIns="0" tIns="0" rIns="0" bIns="0" rtlCol="0" anchor="ctr"/>
          <a:lstStyle/>
          <a:p>
            <a:pPr algn="l" indent="0" marL="0">
              <a:buNone/>
            </a:pPr>
            <a:r>
              <a:rPr lang="en-US" sz="1100" dirty="0">
                <a:solidFill>
                  <a:srgbClr val="ADB2B9"/>
                </a:solidFill>
                <a:latin typeface="Calibri" pitchFamily="34" charset="0"/>
                <a:ea typeface="Calibri" pitchFamily="34" charset="-122"/>
                <a:cs typeface="Calibri" pitchFamily="34" charset="-120"/>
              </a:rPr>
              <a:t>oui</a:t>
            </a:r>
            <a:endParaRPr lang="en-US" sz="1100" dirty="0"/>
          </a:p>
        </p:txBody>
      </p:sp>
      <p:sp>
        <p:nvSpPr>
          <p:cNvPr id="21" name="Text 19"/>
          <p:cNvSpPr txBox="1"/>
          <p:nvPr/>
        </p:nvSpPr>
        <p:spPr>
          <a:xfrm>
            <a:off x="6995160" y="2340864"/>
            <a:ext cx="2788920" cy="365760"/>
          </a:xfrm>
          <a:prstGeom prst="rect">
            <a:avLst/>
          </a:prstGeom>
          <a:noFill/>
          <a:ln/>
        </p:spPr>
        <p:txBody>
          <a:bodyPr wrap="square" lIns="0" tIns="0" rIns="0" bIns="0" rtlCol="0" anchor="ctr"/>
          <a:lstStyle/>
          <a:p>
            <a:pPr algn="l" indent="0" marL="0">
              <a:buNone/>
            </a:pPr>
            <a:r>
              <a:rPr lang="en-US" sz="1100" dirty="0">
                <a:solidFill>
                  <a:srgbClr val="ADB2B9"/>
                </a:solidFill>
                <a:latin typeface="Calibri" pitchFamily="34" charset="0"/>
                <a:ea typeface="Calibri" pitchFamily="34" charset="-122"/>
                <a:cs typeface="Calibri" pitchFamily="34" charset="-120"/>
              </a:rPr>
              <a:t>limitée</a:t>
            </a:r>
            <a:endParaRPr lang="en-US" sz="1100" dirty="0"/>
          </a:p>
        </p:txBody>
      </p:sp>
      <p:sp>
        <p:nvSpPr>
          <p:cNvPr id="22" name="Text 20"/>
          <p:cNvSpPr txBox="1"/>
          <p:nvPr/>
        </p:nvSpPr>
        <p:spPr>
          <a:xfrm>
            <a:off x="9784080" y="2340864"/>
            <a:ext cx="1856232" cy="365760"/>
          </a:xfrm>
          <a:prstGeom prst="rect">
            <a:avLst/>
          </a:prstGeom>
          <a:noFill/>
          <a:ln/>
        </p:spPr>
        <p:txBody>
          <a:bodyPr wrap="square" lIns="0" tIns="0" rIns="0" bIns="0" rtlCol="0" anchor="ctr"/>
          <a:lstStyle/>
          <a:p>
            <a:pPr algn="l" indent="0" marL="0">
              <a:buNone/>
            </a:pPr>
            <a:r>
              <a:rPr lang="en-US" sz="1100" dirty="0">
                <a:solidFill>
                  <a:srgbClr val="868E99"/>
                </a:solidFill>
                <a:latin typeface="Calibri" pitchFamily="34" charset="0"/>
                <a:ea typeface="Calibri" pitchFamily="34" charset="-122"/>
                <a:cs typeface="Calibri" pitchFamily="34" charset="-120"/>
              </a:rPr>
              <a:t>non trouvé</a:t>
            </a:r>
            <a:endParaRPr lang="en-US" sz="1100" dirty="0"/>
          </a:p>
        </p:txBody>
      </p:sp>
      <p:sp>
        <p:nvSpPr>
          <p:cNvPr id="23" name="Text 21"/>
          <p:cNvSpPr txBox="1"/>
          <p:nvPr/>
        </p:nvSpPr>
        <p:spPr>
          <a:xfrm>
            <a:off x="548640" y="2706624"/>
            <a:ext cx="1828800" cy="365760"/>
          </a:xfrm>
          <a:prstGeom prst="rect">
            <a:avLst/>
          </a:prstGeom>
          <a:noFill/>
          <a:ln/>
        </p:spPr>
        <p:txBody>
          <a:bodyPr wrap="square" lIns="0" tIns="0" rIns="0" bIns="0" rtlCol="0" anchor="ctr"/>
          <a:lstStyle/>
          <a:p>
            <a:pPr algn="l" indent="0" marL="0">
              <a:buNone/>
            </a:pPr>
            <a:r>
              <a:rPr lang="en-US" sz="1100" dirty="0">
                <a:solidFill>
                  <a:srgbClr val="E8EAED"/>
                </a:solidFill>
                <a:latin typeface="Calibri" pitchFamily="34" charset="0"/>
                <a:ea typeface="Calibri" pitchFamily="34" charset="-122"/>
                <a:cs typeface="Calibri" pitchFamily="34" charset="-120"/>
              </a:rPr>
              <a:t>Everfit</a:t>
            </a:r>
            <a:endParaRPr lang="en-US" sz="1100" dirty="0"/>
          </a:p>
        </p:txBody>
      </p:sp>
      <p:sp>
        <p:nvSpPr>
          <p:cNvPr id="24" name="Text 22"/>
          <p:cNvSpPr txBox="1"/>
          <p:nvPr/>
        </p:nvSpPr>
        <p:spPr>
          <a:xfrm>
            <a:off x="2377440" y="2706624"/>
            <a:ext cx="1234440" cy="365760"/>
          </a:xfrm>
          <a:prstGeom prst="rect">
            <a:avLst/>
          </a:prstGeom>
          <a:noFill/>
          <a:ln/>
        </p:spPr>
        <p:txBody>
          <a:bodyPr wrap="square" lIns="0" tIns="0" rIns="0" bIns="0" rtlCol="0" anchor="ctr"/>
          <a:lstStyle/>
          <a:p>
            <a:pPr algn="l" indent="0" marL="0">
              <a:buNone/>
            </a:pPr>
            <a:r>
              <a:rPr lang="en-US" sz="1100" dirty="0">
                <a:solidFill>
                  <a:srgbClr val="ADB2B9"/>
                </a:solidFill>
                <a:latin typeface="Calibri" pitchFamily="34" charset="0"/>
                <a:ea typeface="Calibri" pitchFamily="34" charset="-122"/>
                <a:cs typeface="Calibri" pitchFamily="34" charset="-120"/>
              </a:rPr>
              <a:t>États-Unis</a:t>
            </a:r>
            <a:endParaRPr lang="en-US" sz="1100" dirty="0"/>
          </a:p>
        </p:txBody>
      </p:sp>
      <p:sp>
        <p:nvSpPr>
          <p:cNvPr id="25" name="Text 23"/>
          <p:cNvSpPr txBox="1"/>
          <p:nvPr/>
        </p:nvSpPr>
        <p:spPr>
          <a:xfrm>
            <a:off x="3611880" y="2706624"/>
            <a:ext cx="2011680" cy="365760"/>
          </a:xfrm>
          <a:prstGeom prst="rect">
            <a:avLst/>
          </a:prstGeom>
          <a:noFill/>
          <a:ln/>
        </p:spPr>
        <p:txBody>
          <a:bodyPr wrap="square" lIns="0" tIns="0" rIns="0" bIns="0" rtlCol="0" anchor="ctr"/>
          <a:lstStyle/>
          <a:p>
            <a:pPr algn="l" indent="0" marL="0">
              <a:buNone/>
            </a:pPr>
            <a:r>
              <a:rPr lang="en-US" sz="1100" dirty="0">
                <a:solidFill>
                  <a:srgbClr val="ADB2B9"/>
                </a:solidFill>
                <a:latin typeface="Calibri" pitchFamily="34" charset="0"/>
                <a:ea typeface="Calibri" pitchFamily="34" charset="-122"/>
                <a:cs typeface="Calibri" pitchFamily="34" charset="-120"/>
              </a:rPr>
              <a:t>19 – 29 $ + modules</a:t>
            </a:r>
            <a:endParaRPr lang="en-US" sz="1100" dirty="0"/>
          </a:p>
        </p:txBody>
      </p:sp>
      <p:sp>
        <p:nvSpPr>
          <p:cNvPr id="26" name="Text 24"/>
          <p:cNvSpPr txBox="1"/>
          <p:nvPr/>
        </p:nvSpPr>
        <p:spPr>
          <a:xfrm>
            <a:off x="5623560" y="2706624"/>
            <a:ext cx="1371600" cy="365760"/>
          </a:xfrm>
          <a:prstGeom prst="rect">
            <a:avLst/>
          </a:prstGeom>
          <a:noFill/>
          <a:ln/>
        </p:spPr>
        <p:txBody>
          <a:bodyPr wrap="square" lIns="0" tIns="0" rIns="0" bIns="0" rtlCol="0" anchor="ctr"/>
          <a:lstStyle/>
          <a:p>
            <a:pPr algn="l" indent="0" marL="0">
              <a:buNone/>
            </a:pPr>
            <a:r>
              <a:rPr lang="en-US" sz="1100" dirty="0">
                <a:solidFill>
                  <a:srgbClr val="ADB2B9"/>
                </a:solidFill>
                <a:latin typeface="Calibri" pitchFamily="34" charset="0"/>
                <a:ea typeface="Calibri" pitchFamily="34" charset="-122"/>
                <a:cs typeface="Calibri" pitchFamily="34" charset="-120"/>
              </a:rPr>
              <a:t>oui</a:t>
            </a:r>
            <a:endParaRPr lang="en-US" sz="1100" dirty="0"/>
          </a:p>
        </p:txBody>
      </p:sp>
      <p:sp>
        <p:nvSpPr>
          <p:cNvPr id="27" name="Text 25"/>
          <p:cNvSpPr txBox="1"/>
          <p:nvPr/>
        </p:nvSpPr>
        <p:spPr>
          <a:xfrm>
            <a:off x="6995160" y="2706624"/>
            <a:ext cx="2788920" cy="365760"/>
          </a:xfrm>
          <a:prstGeom prst="rect">
            <a:avLst/>
          </a:prstGeom>
          <a:noFill/>
          <a:ln/>
        </p:spPr>
        <p:txBody>
          <a:bodyPr wrap="square" lIns="0" tIns="0" rIns="0" bIns="0" rtlCol="0" anchor="ctr"/>
          <a:lstStyle/>
          <a:p>
            <a:pPr algn="l" indent="0" marL="0">
              <a:buNone/>
            </a:pPr>
            <a:r>
              <a:rPr lang="en-US" sz="1100" dirty="0">
                <a:solidFill>
                  <a:srgbClr val="ADB2B9"/>
                </a:solidFill>
                <a:latin typeface="Calibri" pitchFamily="34" charset="0"/>
                <a:ea typeface="Calibri" pitchFamily="34" charset="-122"/>
                <a:cs typeface="Calibri" pitchFamily="34" charset="-120"/>
              </a:rPr>
              <a:t>plans repas à 33 – 39 $</a:t>
            </a:r>
            <a:endParaRPr lang="en-US" sz="1100" dirty="0"/>
          </a:p>
        </p:txBody>
      </p:sp>
      <p:sp>
        <p:nvSpPr>
          <p:cNvPr id="28" name="Text 26"/>
          <p:cNvSpPr txBox="1"/>
          <p:nvPr/>
        </p:nvSpPr>
        <p:spPr>
          <a:xfrm>
            <a:off x="9784080" y="2706624"/>
            <a:ext cx="1856232" cy="365760"/>
          </a:xfrm>
          <a:prstGeom prst="rect">
            <a:avLst/>
          </a:prstGeom>
          <a:noFill/>
          <a:ln/>
        </p:spPr>
        <p:txBody>
          <a:bodyPr wrap="square" lIns="0" tIns="0" rIns="0" bIns="0" rtlCol="0" anchor="ctr"/>
          <a:lstStyle/>
          <a:p>
            <a:pPr algn="l" indent="0" marL="0">
              <a:buNone/>
            </a:pPr>
            <a:r>
              <a:rPr lang="en-US" sz="1100" dirty="0">
                <a:solidFill>
                  <a:srgbClr val="868E99"/>
                </a:solidFill>
                <a:latin typeface="Calibri" pitchFamily="34" charset="0"/>
                <a:ea typeface="Calibri" pitchFamily="34" charset="-122"/>
                <a:cs typeface="Calibri" pitchFamily="34" charset="-120"/>
              </a:rPr>
              <a:t>non trouvé</a:t>
            </a:r>
            <a:endParaRPr lang="en-US" sz="1100" dirty="0"/>
          </a:p>
        </p:txBody>
      </p:sp>
      <p:sp>
        <p:nvSpPr>
          <p:cNvPr id="29" name="Shape 27"/>
          <p:cNvSpPr/>
          <p:nvPr/>
        </p:nvSpPr>
        <p:spPr>
          <a:xfrm>
            <a:off x="475488" y="3072384"/>
            <a:ext cx="11237976" cy="365760"/>
          </a:xfrm>
          <a:prstGeom prst="rect">
            <a:avLst/>
          </a:prstGeom>
          <a:solidFill>
            <a:srgbClr val="1D2026"/>
          </a:solidFill>
          <a:ln w="12700">
            <a:solidFill>
              <a:srgbClr val="1D2026"/>
            </a:solidFill>
            <a:prstDash val="solid"/>
          </a:ln>
        </p:spPr>
      </p:sp>
      <p:sp>
        <p:nvSpPr>
          <p:cNvPr id="30" name="Text 28"/>
          <p:cNvSpPr txBox="1"/>
          <p:nvPr/>
        </p:nvSpPr>
        <p:spPr>
          <a:xfrm>
            <a:off x="548640" y="3072384"/>
            <a:ext cx="1828800" cy="365760"/>
          </a:xfrm>
          <a:prstGeom prst="rect">
            <a:avLst/>
          </a:prstGeom>
          <a:noFill/>
          <a:ln/>
        </p:spPr>
        <p:txBody>
          <a:bodyPr wrap="square" lIns="0" tIns="0" rIns="0" bIns="0" rtlCol="0" anchor="ctr"/>
          <a:lstStyle/>
          <a:p>
            <a:pPr algn="l" indent="0" marL="0">
              <a:buNone/>
            </a:pPr>
            <a:r>
              <a:rPr lang="en-US" sz="1100" dirty="0">
                <a:solidFill>
                  <a:srgbClr val="E8EAED"/>
                </a:solidFill>
                <a:latin typeface="Calibri" pitchFamily="34" charset="0"/>
                <a:ea typeface="Calibri" pitchFamily="34" charset="-122"/>
                <a:cs typeface="Calibri" pitchFamily="34" charset="-120"/>
              </a:rPr>
              <a:t>Nutrium</a:t>
            </a:r>
            <a:endParaRPr lang="en-US" sz="1100" dirty="0"/>
          </a:p>
        </p:txBody>
      </p:sp>
      <p:sp>
        <p:nvSpPr>
          <p:cNvPr id="31" name="Text 29"/>
          <p:cNvSpPr txBox="1"/>
          <p:nvPr/>
        </p:nvSpPr>
        <p:spPr>
          <a:xfrm>
            <a:off x="2377440" y="3072384"/>
            <a:ext cx="1234440" cy="365760"/>
          </a:xfrm>
          <a:prstGeom prst="rect">
            <a:avLst/>
          </a:prstGeom>
          <a:noFill/>
          <a:ln/>
        </p:spPr>
        <p:txBody>
          <a:bodyPr wrap="square" lIns="0" tIns="0" rIns="0" bIns="0" rtlCol="0" anchor="ctr"/>
          <a:lstStyle/>
          <a:p>
            <a:pPr algn="l" indent="0" marL="0">
              <a:buNone/>
            </a:pPr>
            <a:r>
              <a:rPr lang="en-US" sz="1100" dirty="0">
                <a:solidFill>
                  <a:srgbClr val="ADB2B9"/>
                </a:solidFill>
                <a:latin typeface="Calibri" pitchFamily="34" charset="0"/>
                <a:ea typeface="Calibri" pitchFamily="34" charset="-122"/>
                <a:cs typeface="Calibri" pitchFamily="34" charset="-120"/>
              </a:rPr>
              <a:t>Portugal</a:t>
            </a:r>
            <a:endParaRPr lang="en-US" sz="1100" dirty="0"/>
          </a:p>
        </p:txBody>
      </p:sp>
      <p:sp>
        <p:nvSpPr>
          <p:cNvPr id="32" name="Text 30"/>
          <p:cNvSpPr txBox="1"/>
          <p:nvPr/>
        </p:nvSpPr>
        <p:spPr>
          <a:xfrm>
            <a:off x="3611880" y="3072384"/>
            <a:ext cx="2011680" cy="365760"/>
          </a:xfrm>
          <a:prstGeom prst="rect">
            <a:avLst/>
          </a:prstGeom>
          <a:noFill/>
          <a:ln/>
        </p:spPr>
        <p:txBody>
          <a:bodyPr wrap="square" lIns="0" tIns="0" rIns="0" bIns="0" rtlCol="0" anchor="ctr"/>
          <a:lstStyle/>
          <a:p>
            <a:pPr algn="l" indent="0" marL="0">
              <a:buNone/>
            </a:pPr>
            <a:r>
              <a:rPr lang="en-US" sz="1100" dirty="0">
                <a:solidFill>
                  <a:srgbClr val="ADB2B9"/>
                </a:solidFill>
                <a:latin typeface="Calibri" pitchFamily="34" charset="0"/>
                <a:ea typeface="Calibri" pitchFamily="34" charset="-122"/>
                <a:cs typeface="Calibri" pitchFamily="34" charset="-120"/>
              </a:rPr>
              <a:t>15 – 49 $/mois</a:t>
            </a:r>
            <a:endParaRPr lang="en-US" sz="1100" dirty="0"/>
          </a:p>
        </p:txBody>
      </p:sp>
      <p:sp>
        <p:nvSpPr>
          <p:cNvPr id="33" name="Text 31"/>
          <p:cNvSpPr txBox="1"/>
          <p:nvPr/>
        </p:nvSpPr>
        <p:spPr>
          <a:xfrm>
            <a:off x="5623560" y="3072384"/>
            <a:ext cx="1371600" cy="365760"/>
          </a:xfrm>
          <a:prstGeom prst="rect">
            <a:avLst/>
          </a:prstGeom>
          <a:noFill/>
          <a:ln/>
        </p:spPr>
        <p:txBody>
          <a:bodyPr wrap="square" lIns="0" tIns="0" rIns="0" bIns="0" rtlCol="0" anchor="ctr"/>
          <a:lstStyle/>
          <a:p>
            <a:pPr algn="l" indent="0" marL="0">
              <a:buNone/>
            </a:pPr>
            <a:r>
              <a:rPr lang="en-US" sz="1100" dirty="0">
                <a:solidFill>
                  <a:srgbClr val="868E99"/>
                </a:solidFill>
                <a:latin typeface="Calibri" pitchFamily="34" charset="0"/>
                <a:ea typeface="Calibri" pitchFamily="34" charset="-122"/>
                <a:cs typeface="Calibri" pitchFamily="34" charset="-120"/>
              </a:rPr>
              <a:t>non</a:t>
            </a:r>
            <a:endParaRPr lang="en-US" sz="1100" dirty="0"/>
          </a:p>
        </p:txBody>
      </p:sp>
      <p:sp>
        <p:nvSpPr>
          <p:cNvPr id="34" name="Text 32"/>
          <p:cNvSpPr txBox="1"/>
          <p:nvPr/>
        </p:nvSpPr>
        <p:spPr>
          <a:xfrm>
            <a:off x="6995160" y="3072384"/>
            <a:ext cx="2788920" cy="365760"/>
          </a:xfrm>
          <a:prstGeom prst="rect">
            <a:avLst/>
          </a:prstGeom>
          <a:noFill/>
          <a:ln/>
        </p:spPr>
        <p:txBody>
          <a:bodyPr wrap="square" lIns="0" tIns="0" rIns="0" bIns="0" rtlCol="0" anchor="ctr"/>
          <a:lstStyle/>
          <a:p>
            <a:pPr algn="l" indent="0" marL="0">
              <a:buNone/>
            </a:pPr>
            <a:r>
              <a:rPr lang="en-US" sz="1100" dirty="0">
                <a:solidFill>
                  <a:srgbClr val="ADB2B9"/>
                </a:solidFill>
                <a:latin typeface="Calibri" pitchFamily="34" charset="0"/>
                <a:ea typeface="Calibri" pitchFamily="34" charset="-122"/>
                <a:cs typeface="Calibri" pitchFamily="34" charset="-120"/>
              </a:rPr>
              <a:t>cœur du produit</a:t>
            </a:r>
            <a:endParaRPr lang="en-US" sz="1100" dirty="0"/>
          </a:p>
        </p:txBody>
      </p:sp>
      <p:sp>
        <p:nvSpPr>
          <p:cNvPr id="35" name="Text 33"/>
          <p:cNvSpPr txBox="1"/>
          <p:nvPr/>
        </p:nvSpPr>
        <p:spPr>
          <a:xfrm>
            <a:off x="9784080" y="3072384"/>
            <a:ext cx="1856232" cy="365760"/>
          </a:xfrm>
          <a:prstGeom prst="rect">
            <a:avLst/>
          </a:prstGeom>
          <a:noFill/>
          <a:ln/>
        </p:spPr>
        <p:txBody>
          <a:bodyPr wrap="square" lIns="0" tIns="0" rIns="0" bIns="0" rtlCol="0" anchor="ctr"/>
          <a:lstStyle/>
          <a:p>
            <a:pPr algn="l" indent="0" marL="0">
              <a:buNone/>
            </a:pPr>
            <a:r>
              <a:rPr lang="en-US" sz="1100" dirty="0">
                <a:solidFill>
                  <a:srgbClr val="868E99"/>
                </a:solidFill>
                <a:latin typeface="Calibri" pitchFamily="34" charset="0"/>
                <a:ea typeface="Calibri" pitchFamily="34" charset="-122"/>
                <a:cs typeface="Calibri" pitchFamily="34" charset="-120"/>
              </a:rPr>
              <a:t>non trouvé</a:t>
            </a:r>
            <a:endParaRPr lang="en-US" sz="1100" dirty="0"/>
          </a:p>
        </p:txBody>
      </p:sp>
      <p:sp>
        <p:nvSpPr>
          <p:cNvPr id="36" name="Text 34"/>
          <p:cNvSpPr txBox="1"/>
          <p:nvPr/>
        </p:nvSpPr>
        <p:spPr>
          <a:xfrm>
            <a:off x="548640" y="3438144"/>
            <a:ext cx="1828800" cy="365760"/>
          </a:xfrm>
          <a:prstGeom prst="rect">
            <a:avLst/>
          </a:prstGeom>
          <a:noFill/>
          <a:ln/>
        </p:spPr>
        <p:txBody>
          <a:bodyPr wrap="square" lIns="0" tIns="0" rIns="0" bIns="0" rtlCol="0" anchor="ctr"/>
          <a:lstStyle/>
          <a:p>
            <a:pPr algn="l" indent="0" marL="0">
              <a:buNone/>
            </a:pPr>
            <a:r>
              <a:rPr lang="en-US" sz="1100" dirty="0">
                <a:solidFill>
                  <a:srgbClr val="E8EAED"/>
                </a:solidFill>
                <a:latin typeface="Calibri" pitchFamily="34" charset="0"/>
                <a:ea typeface="Calibri" pitchFamily="34" charset="-122"/>
                <a:cs typeface="Calibri" pitchFamily="34" charset="-120"/>
              </a:rPr>
              <a:t>Azeoo</a:t>
            </a:r>
            <a:endParaRPr lang="en-US" sz="1100" dirty="0"/>
          </a:p>
        </p:txBody>
      </p:sp>
      <p:sp>
        <p:nvSpPr>
          <p:cNvPr id="37" name="Text 35"/>
          <p:cNvSpPr txBox="1"/>
          <p:nvPr/>
        </p:nvSpPr>
        <p:spPr>
          <a:xfrm>
            <a:off x="2377440" y="3438144"/>
            <a:ext cx="1234440" cy="365760"/>
          </a:xfrm>
          <a:prstGeom prst="rect">
            <a:avLst/>
          </a:prstGeom>
          <a:noFill/>
          <a:ln/>
        </p:spPr>
        <p:txBody>
          <a:bodyPr wrap="square" lIns="0" tIns="0" rIns="0" bIns="0" rtlCol="0" anchor="ctr"/>
          <a:lstStyle/>
          <a:p>
            <a:pPr algn="l" indent="0" marL="0">
              <a:buNone/>
            </a:pPr>
            <a:r>
              <a:rPr lang="en-US" sz="1100" dirty="0">
                <a:solidFill>
                  <a:srgbClr val="ADB2B9"/>
                </a:solidFill>
                <a:latin typeface="Calibri" pitchFamily="34" charset="0"/>
                <a:ea typeface="Calibri" pitchFamily="34" charset="-122"/>
                <a:cs typeface="Calibri" pitchFamily="34" charset="-120"/>
              </a:rPr>
              <a:t>France</a:t>
            </a:r>
            <a:endParaRPr lang="en-US" sz="1100" dirty="0"/>
          </a:p>
        </p:txBody>
      </p:sp>
      <p:sp>
        <p:nvSpPr>
          <p:cNvPr id="38" name="Text 36"/>
          <p:cNvSpPr txBox="1"/>
          <p:nvPr/>
        </p:nvSpPr>
        <p:spPr>
          <a:xfrm>
            <a:off x="3611880" y="3438144"/>
            <a:ext cx="2011680" cy="365760"/>
          </a:xfrm>
          <a:prstGeom prst="rect">
            <a:avLst/>
          </a:prstGeom>
          <a:noFill/>
          <a:ln/>
        </p:spPr>
        <p:txBody>
          <a:bodyPr wrap="square" lIns="0" tIns="0" rIns="0" bIns="0" rtlCol="0" anchor="ctr"/>
          <a:lstStyle/>
          <a:p>
            <a:pPr algn="l" indent="0" marL="0">
              <a:buNone/>
            </a:pPr>
            <a:r>
              <a:rPr lang="en-US" sz="1100" dirty="0">
                <a:solidFill>
                  <a:srgbClr val="868E99"/>
                </a:solidFill>
                <a:latin typeface="Calibri" pitchFamily="34" charset="0"/>
                <a:ea typeface="Calibri" pitchFamily="34" charset="-122"/>
                <a:cs typeface="Calibri" pitchFamily="34" charset="-120"/>
              </a:rPr>
              <a:t>non relevé</a:t>
            </a:r>
            <a:endParaRPr lang="en-US" sz="1100" dirty="0"/>
          </a:p>
        </p:txBody>
      </p:sp>
      <p:sp>
        <p:nvSpPr>
          <p:cNvPr id="39" name="Text 37"/>
          <p:cNvSpPr txBox="1"/>
          <p:nvPr/>
        </p:nvSpPr>
        <p:spPr>
          <a:xfrm>
            <a:off x="5623560" y="3438144"/>
            <a:ext cx="1371600" cy="365760"/>
          </a:xfrm>
          <a:prstGeom prst="rect">
            <a:avLst/>
          </a:prstGeom>
          <a:noFill/>
          <a:ln/>
        </p:spPr>
        <p:txBody>
          <a:bodyPr wrap="square" lIns="0" tIns="0" rIns="0" bIns="0" rtlCol="0" anchor="ctr"/>
          <a:lstStyle/>
          <a:p>
            <a:pPr algn="l" indent="0" marL="0">
              <a:buNone/>
            </a:pPr>
            <a:r>
              <a:rPr lang="en-US" sz="1100" dirty="0">
                <a:solidFill>
                  <a:srgbClr val="ADB2B9"/>
                </a:solidFill>
                <a:latin typeface="Calibri" pitchFamily="34" charset="0"/>
                <a:ea typeface="Calibri" pitchFamily="34" charset="-122"/>
                <a:cs typeface="Calibri" pitchFamily="34" charset="-120"/>
              </a:rPr>
              <a:t>oui</a:t>
            </a:r>
            <a:endParaRPr lang="en-US" sz="1100" dirty="0"/>
          </a:p>
        </p:txBody>
      </p:sp>
      <p:sp>
        <p:nvSpPr>
          <p:cNvPr id="40" name="Text 38"/>
          <p:cNvSpPr txBox="1"/>
          <p:nvPr/>
        </p:nvSpPr>
        <p:spPr>
          <a:xfrm>
            <a:off x="6995160" y="3438144"/>
            <a:ext cx="2788920" cy="365760"/>
          </a:xfrm>
          <a:prstGeom prst="rect">
            <a:avLst/>
          </a:prstGeom>
          <a:noFill/>
          <a:ln/>
        </p:spPr>
        <p:txBody>
          <a:bodyPr wrap="square" lIns="0" tIns="0" rIns="0" bIns="0" rtlCol="0" anchor="ctr"/>
          <a:lstStyle/>
          <a:p>
            <a:pPr algn="l" indent="0" marL="0">
              <a:buNone/>
            </a:pPr>
            <a:r>
              <a:rPr lang="en-US" sz="1100" dirty="0">
                <a:solidFill>
                  <a:srgbClr val="ADB2B9"/>
                </a:solidFill>
                <a:latin typeface="Calibri" pitchFamily="34" charset="0"/>
                <a:ea typeface="Calibri" pitchFamily="34" charset="-122"/>
                <a:cs typeface="Calibri" pitchFamily="34" charset="-120"/>
              </a:rPr>
              <a:t>macros, suivi des repas</a:t>
            </a:r>
            <a:endParaRPr lang="en-US" sz="1100" dirty="0"/>
          </a:p>
        </p:txBody>
      </p:sp>
      <p:sp>
        <p:nvSpPr>
          <p:cNvPr id="41" name="Text 39"/>
          <p:cNvSpPr txBox="1"/>
          <p:nvPr/>
        </p:nvSpPr>
        <p:spPr>
          <a:xfrm>
            <a:off x="9784080" y="3438144"/>
            <a:ext cx="1856232" cy="365760"/>
          </a:xfrm>
          <a:prstGeom prst="rect">
            <a:avLst/>
          </a:prstGeom>
          <a:noFill/>
          <a:ln/>
        </p:spPr>
        <p:txBody>
          <a:bodyPr wrap="square" lIns="0" tIns="0" rIns="0" bIns="0" rtlCol="0" anchor="ctr"/>
          <a:lstStyle/>
          <a:p>
            <a:pPr algn="l" indent="0" marL="0">
              <a:buNone/>
            </a:pPr>
            <a:r>
              <a:rPr lang="en-US" sz="1100" dirty="0">
                <a:solidFill>
                  <a:srgbClr val="868E99"/>
                </a:solidFill>
                <a:latin typeface="Calibri" pitchFamily="34" charset="0"/>
                <a:ea typeface="Calibri" pitchFamily="34" charset="-122"/>
                <a:cs typeface="Calibri" pitchFamily="34" charset="-120"/>
              </a:rPr>
              <a:t>non trouvé</a:t>
            </a:r>
            <a:endParaRPr lang="en-US" sz="1100" dirty="0"/>
          </a:p>
        </p:txBody>
      </p:sp>
      <p:sp>
        <p:nvSpPr>
          <p:cNvPr id="42" name="Shape 40"/>
          <p:cNvSpPr/>
          <p:nvPr/>
        </p:nvSpPr>
        <p:spPr>
          <a:xfrm>
            <a:off x="475488" y="3803904"/>
            <a:ext cx="11237976" cy="365760"/>
          </a:xfrm>
          <a:prstGeom prst="rect">
            <a:avLst/>
          </a:prstGeom>
          <a:solidFill>
            <a:srgbClr val="1D2026"/>
          </a:solidFill>
          <a:ln w="12700">
            <a:solidFill>
              <a:srgbClr val="1D2026"/>
            </a:solidFill>
            <a:prstDash val="solid"/>
          </a:ln>
        </p:spPr>
      </p:sp>
      <p:sp>
        <p:nvSpPr>
          <p:cNvPr id="43" name="Text 41"/>
          <p:cNvSpPr txBox="1"/>
          <p:nvPr/>
        </p:nvSpPr>
        <p:spPr>
          <a:xfrm>
            <a:off x="548640" y="3803904"/>
            <a:ext cx="1828800" cy="365760"/>
          </a:xfrm>
          <a:prstGeom prst="rect">
            <a:avLst/>
          </a:prstGeom>
          <a:noFill/>
          <a:ln/>
        </p:spPr>
        <p:txBody>
          <a:bodyPr wrap="square" lIns="0" tIns="0" rIns="0" bIns="0" rtlCol="0" anchor="ctr"/>
          <a:lstStyle/>
          <a:p>
            <a:pPr algn="l" indent="0" marL="0">
              <a:buNone/>
            </a:pPr>
            <a:r>
              <a:rPr lang="en-US" sz="1100" dirty="0">
                <a:solidFill>
                  <a:srgbClr val="E8EAED"/>
                </a:solidFill>
                <a:latin typeface="Calibri" pitchFamily="34" charset="0"/>
                <a:ea typeface="Calibri" pitchFamily="34" charset="-122"/>
                <a:cs typeface="Calibri" pitchFamily="34" charset="-120"/>
              </a:rPr>
              <a:t>Kinetix</a:t>
            </a:r>
            <a:endParaRPr lang="en-US" sz="1100" dirty="0"/>
          </a:p>
        </p:txBody>
      </p:sp>
      <p:sp>
        <p:nvSpPr>
          <p:cNvPr id="44" name="Text 42"/>
          <p:cNvSpPr txBox="1"/>
          <p:nvPr/>
        </p:nvSpPr>
        <p:spPr>
          <a:xfrm>
            <a:off x="2377440" y="3803904"/>
            <a:ext cx="1234440" cy="365760"/>
          </a:xfrm>
          <a:prstGeom prst="rect">
            <a:avLst/>
          </a:prstGeom>
          <a:noFill/>
          <a:ln/>
        </p:spPr>
        <p:txBody>
          <a:bodyPr wrap="square" lIns="0" tIns="0" rIns="0" bIns="0" rtlCol="0" anchor="ctr"/>
          <a:lstStyle/>
          <a:p>
            <a:pPr algn="l" indent="0" marL="0">
              <a:buNone/>
            </a:pPr>
            <a:r>
              <a:rPr lang="en-US" sz="1100" dirty="0">
                <a:solidFill>
                  <a:srgbClr val="ADB2B9"/>
                </a:solidFill>
                <a:latin typeface="Calibri" pitchFamily="34" charset="0"/>
                <a:ea typeface="Calibri" pitchFamily="34" charset="-122"/>
                <a:cs typeface="Calibri" pitchFamily="34" charset="-120"/>
              </a:rPr>
              <a:t>France</a:t>
            </a:r>
            <a:endParaRPr lang="en-US" sz="1100" dirty="0"/>
          </a:p>
        </p:txBody>
      </p:sp>
      <p:sp>
        <p:nvSpPr>
          <p:cNvPr id="45" name="Text 43"/>
          <p:cNvSpPr txBox="1"/>
          <p:nvPr/>
        </p:nvSpPr>
        <p:spPr>
          <a:xfrm>
            <a:off x="3611880" y="3803904"/>
            <a:ext cx="2011680" cy="365760"/>
          </a:xfrm>
          <a:prstGeom prst="rect">
            <a:avLst/>
          </a:prstGeom>
          <a:noFill/>
          <a:ln/>
        </p:spPr>
        <p:txBody>
          <a:bodyPr wrap="square" lIns="0" tIns="0" rIns="0" bIns="0" rtlCol="0" anchor="ctr"/>
          <a:lstStyle/>
          <a:p>
            <a:pPr algn="l" indent="0" marL="0">
              <a:buNone/>
            </a:pPr>
            <a:r>
              <a:rPr lang="en-US" sz="1100" dirty="0">
                <a:solidFill>
                  <a:srgbClr val="868E99"/>
                </a:solidFill>
                <a:latin typeface="Calibri" pitchFamily="34" charset="0"/>
                <a:ea typeface="Calibri" pitchFamily="34" charset="-122"/>
                <a:cs typeface="Calibri" pitchFamily="34" charset="-120"/>
              </a:rPr>
              <a:t>non relevé</a:t>
            </a:r>
            <a:endParaRPr lang="en-US" sz="1100" dirty="0"/>
          </a:p>
        </p:txBody>
      </p:sp>
      <p:sp>
        <p:nvSpPr>
          <p:cNvPr id="46" name="Text 44"/>
          <p:cNvSpPr txBox="1"/>
          <p:nvPr/>
        </p:nvSpPr>
        <p:spPr>
          <a:xfrm>
            <a:off x="5623560" y="3803904"/>
            <a:ext cx="1371600" cy="365760"/>
          </a:xfrm>
          <a:prstGeom prst="rect">
            <a:avLst/>
          </a:prstGeom>
          <a:noFill/>
          <a:ln/>
        </p:spPr>
        <p:txBody>
          <a:bodyPr wrap="square" lIns="0" tIns="0" rIns="0" bIns="0" rtlCol="0" anchor="ctr"/>
          <a:lstStyle/>
          <a:p>
            <a:pPr algn="l" indent="0" marL="0">
              <a:buNone/>
            </a:pPr>
            <a:r>
              <a:rPr lang="en-US" sz="1100" dirty="0">
                <a:solidFill>
                  <a:srgbClr val="ADB2B9"/>
                </a:solidFill>
                <a:latin typeface="Calibri" pitchFamily="34" charset="0"/>
                <a:ea typeface="Calibri" pitchFamily="34" charset="-122"/>
                <a:cs typeface="Calibri" pitchFamily="34" charset="-120"/>
              </a:rPr>
              <a:t>oui</a:t>
            </a:r>
            <a:endParaRPr lang="en-US" sz="1100" dirty="0"/>
          </a:p>
        </p:txBody>
      </p:sp>
      <p:sp>
        <p:nvSpPr>
          <p:cNvPr id="47" name="Text 45"/>
          <p:cNvSpPr txBox="1"/>
          <p:nvPr/>
        </p:nvSpPr>
        <p:spPr>
          <a:xfrm>
            <a:off x="6995160" y="3803904"/>
            <a:ext cx="2788920" cy="365760"/>
          </a:xfrm>
          <a:prstGeom prst="rect">
            <a:avLst/>
          </a:prstGeom>
          <a:noFill/>
          <a:ln/>
        </p:spPr>
        <p:txBody>
          <a:bodyPr wrap="square" lIns="0" tIns="0" rIns="0" bIns="0" rtlCol="0" anchor="ctr"/>
          <a:lstStyle/>
          <a:p>
            <a:pPr algn="l" indent="0" marL="0">
              <a:buNone/>
            </a:pPr>
            <a:r>
              <a:rPr lang="en-US" sz="1100" dirty="0">
                <a:solidFill>
                  <a:srgbClr val="ADB2B9"/>
                </a:solidFill>
                <a:latin typeface="Calibri" pitchFamily="34" charset="0"/>
                <a:ea typeface="Calibri" pitchFamily="34" charset="-122"/>
                <a:cs typeface="Calibri" pitchFamily="34" charset="-120"/>
              </a:rPr>
              <a:t>macros, recettes, courses</a:t>
            </a:r>
            <a:endParaRPr lang="en-US" sz="1100" dirty="0"/>
          </a:p>
        </p:txBody>
      </p:sp>
      <p:sp>
        <p:nvSpPr>
          <p:cNvPr id="48" name="Text 46"/>
          <p:cNvSpPr txBox="1"/>
          <p:nvPr/>
        </p:nvSpPr>
        <p:spPr>
          <a:xfrm>
            <a:off x="9784080" y="3803904"/>
            <a:ext cx="1856232" cy="365760"/>
          </a:xfrm>
          <a:prstGeom prst="rect">
            <a:avLst/>
          </a:prstGeom>
          <a:noFill/>
          <a:ln/>
        </p:spPr>
        <p:txBody>
          <a:bodyPr wrap="square" lIns="0" tIns="0" rIns="0" bIns="0" rtlCol="0" anchor="ctr"/>
          <a:lstStyle/>
          <a:p>
            <a:pPr algn="l" indent="0" marL="0">
              <a:buNone/>
            </a:pPr>
            <a:r>
              <a:rPr lang="en-US" sz="1100" dirty="0">
                <a:solidFill>
                  <a:srgbClr val="868E99"/>
                </a:solidFill>
                <a:latin typeface="Calibri" pitchFamily="34" charset="0"/>
                <a:ea typeface="Calibri" pitchFamily="34" charset="-122"/>
                <a:cs typeface="Calibri" pitchFamily="34" charset="-120"/>
              </a:rPr>
              <a:t>non trouvé</a:t>
            </a:r>
            <a:endParaRPr lang="en-US" sz="1100" dirty="0"/>
          </a:p>
        </p:txBody>
      </p:sp>
      <p:sp>
        <p:nvSpPr>
          <p:cNvPr id="49" name="Shape 47"/>
          <p:cNvSpPr/>
          <p:nvPr/>
        </p:nvSpPr>
        <p:spPr>
          <a:xfrm>
            <a:off x="475488" y="4169664"/>
            <a:ext cx="11237976" cy="365760"/>
          </a:xfrm>
          <a:prstGeom prst="roundRect">
            <a:avLst>
              <a:gd name="adj" fmla="val 12500"/>
            </a:avLst>
          </a:prstGeom>
          <a:solidFill>
            <a:srgbClr val="23272E"/>
          </a:solidFill>
          <a:ln w="12700">
            <a:solidFill>
              <a:srgbClr val="E3B23C"/>
            </a:solidFill>
            <a:prstDash val="solid"/>
          </a:ln>
        </p:spPr>
      </p:sp>
      <p:sp>
        <p:nvSpPr>
          <p:cNvPr id="50" name="Text 48"/>
          <p:cNvSpPr txBox="1"/>
          <p:nvPr/>
        </p:nvSpPr>
        <p:spPr>
          <a:xfrm>
            <a:off x="548640" y="4169664"/>
            <a:ext cx="1828800" cy="365760"/>
          </a:xfrm>
          <a:prstGeom prst="rect">
            <a:avLst/>
          </a:prstGeom>
          <a:noFill/>
          <a:ln/>
        </p:spPr>
        <p:txBody>
          <a:bodyPr wrap="square" lIns="0" tIns="0" rIns="0" bIns="0" rtlCol="0" anchor="ctr"/>
          <a:lstStyle/>
          <a:p>
            <a:pPr algn="l" indent="0" marL="0">
              <a:buNone/>
            </a:pPr>
            <a:r>
              <a:rPr lang="en-US" sz="1100" b="1" dirty="0">
                <a:solidFill>
                  <a:srgbClr val="E8EAED"/>
                </a:solidFill>
                <a:latin typeface="Calibri" pitchFamily="34" charset="0"/>
                <a:ea typeface="Calibri" pitchFamily="34" charset="-122"/>
                <a:cs typeface="Calibri" pitchFamily="34" charset="-120"/>
              </a:rPr>
              <a:t>fitcarnet Pro</a:t>
            </a:r>
            <a:endParaRPr lang="en-US" sz="1100" dirty="0"/>
          </a:p>
        </p:txBody>
      </p:sp>
      <p:sp>
        <p:nvSpPr>
          <p:cNvPr id="51" name="Text 49"/>
          <p:cNvSpPr txBox="1"/>
          <p:nvPr/>
        </p:nvSpPr>
        <p:spPr>
          <a:xfrm>
            <a:off x="2377440" y="4169664"/>
            <a:ext cx="1234440" cy="365760"/>
          </a:xfrm>
          <a:prstGeom prst="rect">
            <a:avLst/>
          </a:prstGeom>
          <a:noFill/>
          <a:ln/>
        </p:spPr>
        <p:txBody>
          <a:bodyPr wrap="square" lIns="0" tIns="0" rIns="0" bIns="0" rtlCol="0" anchor="ctr"/>
          <a:lstStyle/>
          <a:p>
            <a:pPr algn="l" indent="0" marL="0">
              <a:buNone/>
            </a:pPr>
            <a:r>
              <a:rPr lang="en-US" sz="1100" b="1" dirty="0">
                <a:solidFill>
                  <a:srgbClr val="ADB2B9"/>
                </a:solidFill>
                <a:latin typeface="Calibri" pitchFamily="34" charset="0"/>
                <a:ea typeface="Calibri" pitchFamily="34" charset="-122"/>
                <a:cs typeface="Calibri" pitchFamily="34" charset="-120"/>
              </a:rPr>
              <a:t>France</a:t>
            </a:r>
            <a:endParaRPr lang="en-US" sz="1100" dirty="0"/>
          </a:p>
        </p:txBody>
      </p:sp>
      <p:sp>
        <p:nvSpPr>
          <p:cNvPr id="52" name="Text 50"/>
          <p:cNvSpPr txBox="1"/>
          <p:nvPr/>
        </p:nvSpPr>
        <p:spPr>
          <a:xfrm>
            <a:off x="3611880" y="4169664"/>
            <a:ext cx="2011680" cy="365760"/>
          </a:xfrm>
          <a:prstGeom prst="rect">
            <a:avLst/>
          </a:prstGeom>
          <a:noFill/>
          <a:ln/>
        </p:spPr>
        <p:txBody>
          <a:bodyPr wrap="square" lIns="0" tIns="0" rIns="0" bIns="0" rtlCol="0" anchor="ctr"/>
          <a:lstStyle/>
          <a:p>
            <a:pPr algn="l" indent="0" marL="0">
              <a:buNone/>
            </a:pPr>
            <a:r>
              <a:rPr lang="en-US" sz="1100" b="1" dirty="0">
                <a:solidFill>
                  <a:srgbClr val="ADB2B9"/>
                </a:solidFill>
                <a:latin typeface="Calibri" pitchFamily="34" charset="0"/>
                <a:ea typeface="Calibri" pitchFamily="34" charset="-122"/>
                <a:cs typeface="Calibri" pitchFamily="34" charset="-120"/>
              </a:rPr>
              <a:t>29 – 99 €/mois</a:t>
            </a:r>
            <a:endParaRPr lang="en-US" sz="1100" dirty="0"/>
          </a:p>
        </p:txBody>
      </p:sp>
      <p:sp>
        <p:nvSpPr>
          <p:cNvPr id="53" name="Text 51"/>
          <p:cNvSpPr txBox="1"/>
          <p:nvPr/>
        </p:nvSpPr>
        <p:spPr>
          <a:xfrm>
            <a:off x="5623560" y="4169664"/>
            <a:ext cx="1371600" cy="365760"/>
          </a:xfrm>
          <a:prstGeom prst="rect">
            <a:avLst/>
          </a:prstGeom>
          <a:noFill/>
          <a:ln/>
        </p:spPr>
        <p:txBody>
          <a:bodyPr wrap="square" lIns="0" tIns="0" rIns="0" bIns="0" rtlCol="0" anchor="ctr"/>
          <a:lstStyle/>
          <a:p>
            <a:pPr algn="l" indent="0" marL="0">
              <a:buNone/>
            </a:pPr>
            <a:r>
              <a:rPr lang="en-US" sz="1100" b="1" dirty="0">
                <a:solidFill>
                  <a:srgbClr val="ADB2B9"/>
                </a:solidFill>
                <a:latin typeface="Calibri" pitchFamily="34" charset="0"/>
                <a:ea typeface="Calibri" pitchFamily="34" charset="-122"/>
                <a:cs typeface="Calibri" pitchFamily="34" charset="-120"/>
              </a:rPr>
              <a:t>oui</a:t>
            </a:r>
            <a:endParaRPr lang="en-US" sz="1100" dirty="0"/>
          </a:p>
        </p:txBody>
      </p:sp>
      <p:sp>
        <p:nvSpPr>
          <p:cNvPr id="54" name="Text 52"/>
          <p:cNvSpPr txBox="1"/>
          <p:nvPr/>
        </p:nvSpPr>
        <p:spPr>
          <a:xfrm>
            <a:off x="6995160" y="4169664"/>
            <a:ext cx="2788920" cy="365760"/>
          </a:xfrm>
          <a:prstGeom prst="rect">
            <a:avLst/>
          </a:prstGeom>
          <a:noFill/>
          <a:ln/>
        </p:spPr>
        <p:txBody>
          <a:bodyPr wrap="square" lIns="0" tIns="0" rIns="0" bIns="0" rtlCol="0" anchor="ctr"/>
          <a:lstStyle/>
          <a:p>
            <a:pPr algn="l" indent="0" marL="0">
              <a:buNone/>
            </a:pPr>
            <a:r>
              <a:rPr lang="en-US" sz="1100" b="1" dirty="0">
                <a:solidFill>
                  <a:srgbClr val="ADB2B9"/>
                </a:solidFill>
                <a:latin typeface="Calibri" pitchFamily="34" charset="0"/>
                <a:ea typeface="Calibri" pitchFamily="34" charset="-122"/>
                <a:cs typeface="Calibri" pitchFamily="34" charset="-120"/>
              </a:rPr>
              <a:t>incluse, valeurs CIQUAL</a:t>
            </a:r>
            <a:endParaRPr lang="en-US" sz="1100" dirty="0"/>
          </a:p>
        </p:txBody>
      </p:sp>
      <p:sp>
        <p:nvSpPr>
          <p:cNvPr id="55" name="Text 53"/>
          <p:cNvSpPr txBox="1"/>
          <p:nvPr/>
        </p:nvSpPr>
        <p:spPr>
          <a:xfrm>
            <a:off x="9784080" y="4169664"/>
            <a:ext cx="1856232" cy="365760"/>
          </a:xfrm>
          <a:prstGeom prst="rect">
            <a:avLst/>
          </a:prstGeom>
          <a:noFill/>
          <a:ln/>
        </p:spPr>
        <p:txBody>
          <a:bodyPr wrap="square" lIns="0" tIns="0" rIns="0" bIns="0" rtlCol="0" anchor="ctr"/>
          <a:lstStyle/>
          <a:p>
            <a:pPr algn="l" indent="0" marL="0">
              <a:buNone/>
            </a:pPr>
            <a:r>
              <a:rPr lang="en-US" sz="1100" b="1" dirty="0">
                <a:solidFill>
                  <a:srgbClr val="5EC080"/>
                </a:solidFill>
                <a:latin typeface="Calibri" pitchFamily="34" charset="0"/>
                <a:ea typeface="Calibri" pitchFamily="34" charset="-122"/>
                <a:cs typeface="Calibri" pitchFamily="34" charset="-120"/>
              </a:rPr>
              <a:t>oui, grammages à peser</a:t>
            </a:r>
            <a:endParaRPr lang="en-US" sz="1100" dirty="0"/>
          </a:p>
        </p:txBody>
      </p:sp>
      <p:sp>
        <p:nvSpPr>
          <p:cNvPr id="56" name="Shape 54"/>
          <p:cNvSpPr/>
          <p:nvPr/>
        </p:nvSpPr>
        <p:spPr>
          <a:xfrm>
            <a:off x="548640" y="4517136"/>
            <a:ext cx="5449824" cy="1225296"/>
          </a:xfrm>
          <a:prstGeom prst="roundRect">
            <a:avLst>
              <a:gd name="adj" fmla="val 5224"/>
            </a:avLst>
          </a:prstGeom>
          <a:solidFill>
            <a:srgbClr val="1D2026"/>
          </a:solidFill>
          <a:ln w="15875">
            <a:solidFill>
              <a:srgbClr val="E2675F"/>
            </a:solidFill>
            <a:prstDash val="solid"/>
          </a:ln>
        </p:spPr>
      </p:sp>
      <p:sp>
        <p:nvSpPr>
          <p:cNvPr id="57" name="Text 55"/>
          <p:cNvSpPr txBox="1"/>
          <p:nvPr/>
        </p:nvSpPr>
        <p:spPr>
          <a:xfrm>
            <a:off x="804672" y="4626864"/>
            <a:ext cx="4937760" cy="274320"/>
          </a:xfrm>
          <a:prstGeom prst="rect">
            <a:avLst/>
          </a:prstGeom>
          <a:noFill/>
          <a:ln/>
        </p:spPr>
        <p:txBody>
          <a:bodyPr wrap="square" lIns="0" tIns="0" rIns="0" bIns="0" rtlCol="0" anchor="ctr"/>
          <a:lstStyle/>
          <a:p>
            <a:pPr indent="0" marL="0">
              <a:buNone/>
            </a:pPr>
            <a:r>
              <a:rPr lang="en-US" sz="1700" b="1" dirty="0">
                <a:solidFill>
                  <a:srgbClr val="E2675F"/>
                </a:solidFill>
                <a:latin typeface="Arial Narrow" pitchFamily="34" charset="0"/>
                <a:ea typeface="Arial Narrow" pitchFamily="34" charset="-122"/>
                <a:cs typeface="Arial Narrow" pitchFamily="34" charset="-120"/>
              </a:rPr>
              <a:t>Là où nous sommes plus faibles</a:t>
            </a:r>
            <a:endParaRPr lang="en-US" sz="1700" dirty="0"/>
          </a:p>
        </p:txBody>
      </p:sp>
      <p:sp>
        <p:nvSpPr>
          <p:cNvPr id="58" name="Text 56"/>
          <p:cNvSpPr txBox="1"/>
          <p:nvPr/>
        </p:nvSpPr>
        <p:spPr>
          <a:xfrm>
            <a:off x="804672" y="4937760"/>
            <a:ext cx="4937760" cy="694944"/>
          </a:xfrm>
          <a:prstGeom prst="rect">
            <a:avLst/>
          </a:prstGeom>
          <a:noFill/>
          <a:ln/>
        </p:spPr>
        <p:txBody>
          <a:bodyPr wrap="square" lIns="0" tIns="0" rIns="0" bIns="0" rtlCol="0" anchor="t"/>
          <a:lstStyle/>
          <a:p>
            <a:pPr indent="0" marL="0">
              <a:lnSpc>
                <a:spcPts val="1700"/>
              </a:lnSpc>
              <a:buNone/>
            </a:pPr>
            <a:r>
              <a:rPr lang="en-US" sz="1200" dirty="0">
                <a:solidFill>
                  <a:srgbClr val="ADB2B9"/>
                </a:solidFill>
                <a:latin typeface="Calibri" pitchFamily="34" charset="0"/>
                <a:ea typeface="Calibri" pitchFamily="34" charset="-122"/>
                <a:cs typeface="Calibri" pitchFamily="34" charset="-120"/>
              </a:rPr>
              <a:t>Notoriété nulle, pas de messagerie, pas d'encaissement des clients du coach, pas encore d'iOS.</a:t>
            </a:r>
            <a:endParaRPr lang="en-US" sz="1200" dirty="0"/>
          </a:p>
        </p:txBody>
      </p:sp>
      <p:sp>
        <p:nvSpPr>
          <p:cNvPr id="59" name="Shape 57"/>
          <p:cNvSpPr/>
          <p:nvPr/>
        </p:nvSpPr>
        <p:spPr>
          <a:xfrm>
            <a:off x="6190488" y="4517136"/>
            <a:ext cx="5449824" cy="1225296"/>
          </a:xfrm>
          <a:prstGeom prst="roundRect">
            <a:avLst>
              <a:gd name="adj" fmla="val 5224"/>
            </a:avLst>
          </a:prstGeom>
          <a:solidFill>
            <a:srgbClr val="1D2026"/>
          </a:solidFill>
          <a:ln w="15875">
            <a:solidFill>
              <a:srgbClr val="5EC080"/>
            </a:solidFill>
            <a:prstDash val="solid"/>
          </a:ln>
        </p:spPr>
      </p:sp>
      <p:sp>
        <p:nvSpPr>
          <p:cNvPr id="60" name="Text 58"/>
          <p:cNvSpPr txBox="1"/>
          <p:nvPr/>
        </p:nvSpPr>
        <p:spPr>
          <a:xfrm>
            <a:off x="6446520" y="4626864"/>
            <a:ext cx="4937760" cy="274320"/>
          </a:xfrm>
          <a:prstGeom prst="rect">
            <a:avLst/>
          </a:prstGeom>
          <a:noFill/>
          <a:ln/>
        </p:spPr>
        <p:txBody>
          <a:bodyPr wrap="square" lIns="0" tIns="0" rIns="0" bIns="0" rtlCol="0" anchor="ctr"/>
          <a:lstStyle/>
          <a:p>
            <a:pPr indent="0" marL="0">
              <a:buNone/>
            </a:pPr>
            <a:r>
              <a:rPr lang="en-US" sz="1700" b="1" dirty="0">
                <a:solidFill>
                  <a:srgbClr val="5EC080"/>
                </a:solidFill>
                <a:latin typeface="Arial Narrow" pitchFamily="34" charset="0"/>
                <a:ea typeface="Arial Narrow" pitchFamily="34" charset="-122"/>
                <a:cs typeface="Arial Narrow" pitchFamily="34" charset="-120"/>
              </a:rPr>
              <a:t>Là où nous sommes différents</a:t>
            </a:r>
            <a:endParaRPr lang="en-US" sz="1700" dirty="0"/>
          </a:p>
        </p:txBody>
      </p:sp>
      <p:sp>
        <p:nvSpPr>
          <p:cNvPr id="61" name="Text 59"/>
          <p:cNvSpPr txBox="1"/>
          <p:nvPr/>
        </p:nvSpPr>
        <p:spPr>
          <a:xfrm>
            <a:off x="6446520" y="4937760"/>
            <a:ext cx="4937760" cy="694944"/>
          </a:xfrm>
          <a:prstGeom prst="rect">
            <a:avLst/>
          </a:prstGeom>
          <a:noFill/>
          <a:ln/>
        </p:spPr>
        <p:txBody>
          <a:bodyPr wrap="square" lIns="0" tIns="0" rIns="0" bIns="0" rtlCol="0" anchor="t"/>
          <a:lstStyle/>
          <a:p>
            <a:pPr indent="0" marL="0">
              <a:lnSpc>
                <a:spcPts val="1700"/>
              </a:lnSpc>
              <a:buNone/>
            </a:pPr>
            <a:r>
              <a:rPr lang="en-US" sz="1200" dirty="0">
                <a:solidFill>
                  <a:srgbClr val="ADB2B9"/>
                </a:solidFill>
                <a:latin typeface="Calibri" pitchFamily="34" charset="0"/>
                <a:ea typeface="Calibri" pitchFamily="34" charset="-122"/>
                <a:cs typeface="Calibri" pitchFamily="34" charset="-120"/>
              </a:rPr>
              <a:t>La nutrition est au centre et incluse dans le prix, et elle calcule avec le frigo du client.</a:t>
            </a:r>
            <a:endParaRPr lang="en-US" sz="1200" dirty="0"/>
          </a:p>
        </p:txBody>
      </p:sp>
      <p:sp>
        <p:nvSpPr>
          <p:cNvPr id="62" name="Text 60"/>
          <p:cNvSpPr txBox="1"/>
          <p:nvPr/>
        </p:nvSpPr>
        <p:spPr>
          <a:xfrm>
            <a:off x="548640" y="5961888"/>
            <a:ext cx="11091672" cy="310896"/>
          </a:xfrm>
          <a:prstGeom prst="rect">
            <a:avLst/>
          </a:prstGeom>
          <a:noFill/>
          <a:ln/>
        </p:spPr>
        <p:txBody>
          <a:bodyPr wrap="square" lIns="0" tIns="0" rIns="0" bIns="0" rtlCol="0" anchor="ctr"/>
          <a:lstStyle/>
          <a:p>
            <a:pPr indent="0" marL="0">
              <a:buNone/>
            </a:pPr>
            <a:r>
              <a:rPr lang="en-US" sz="950" i="1" dirty="0">
                <a:solidFill>
                  <a:srgbClr val="868E99"/>
                </a:solidFill>
                <a:latin typeface="Calibri" pitchFamily="34" charset="0"/>
                <a:ea typeface="Calibri" pitchFamily="34" charset="-122"/>
                <a:cs typeface="Calibri" pitchFamily="34" charset="-120"/>
              </a:rPr>
              <a:t>Prix relevés en septembre 2026 dans des comparatifs publics · « non trouvé » = absent des sources consultées, à vérifier en essai</a:t>
            </a:r>
            <a:endParaRPr lang="en-US" sz="950" dirty="0"/>
          </a:p>
        </p:txBody>
      </p:sp>
      <p:sp>
        <p:nvSpPr>
          <p:cNvPr id="63" name="Text 61"/>
          <p:cNvSpPr txBox="1"/>
          <p:nvPr/>
        </p:nvSpPr>
        <p:spPr>
          <a:xfrm>
            <a:off x="548640" y="6336792"/>
            <a:ext cx="8229600" cy="274320"/>
          </a:xfrm>
          <a:prstGeom prst="rect">
            <a:avLst/>
          </a:prstGeom>
          <a:noFill/>
          <a:ln/>
        </p:spPr>
        <p:txBody>
          <a:bodyPr wrap="square" lIns="0" tIns="0" rIns="0" bIns="0" rtlCol="0" anchor="ctr"/>
          <a:lstStyle/>
          <a:p>
            <a:pPr algn="l" indent="0" marL="0">
              <a:buNone/>
            </a:pPr>
            <a:r>
              <a:rPr lang="en-US" sz="900" dirty="0">
                <a:solidFill>
                  <a:srgbClr val="868E99"/>
                </a:solidFill>
                <a:latin typeface="Calibri" pitchFamily="34" charset="0"/>
                <a:ea typeface="Calibri" pitchFamily="34" charset="-122"/>
                <a:cs typeface="Calibri" pitchFamily="34" charset="-120"/>
              </a:rPr>
              <a:t>fitcarnet Pro · business plan · 21 septembre 2026</a:t>
            </a:r>
            <a:endParaRPr lang="en-US" sz="900" dirty="0"/>
          </a:p>
        </p:txBody>
      </p:sp>
      <p:sp>
        <p:nvSpPr>
          <p:cNvPr id="64" name="Text 62"/>
          <p:cNvSpPr txBox="1"/>
          <p:nvPr/>
        </p:nvSpPr>
        <p:spPr>
          <a:xfrm>
            <a:off x="8897112" y="6336792"/>
            <a:ext cx="2743200" cy="274320"/>
          </a:xfrm>
          <a:prstGeom prst="rect">
            <a:avLst/>
          </a:prstGeom>
          <a:noFill/>
          <a:ln/>
        </p:spPr>
        <p:txBody>
          <a:bodyPr wrap="square" lIns="0" tIns="0" rIns="0" bIns="0" rtlCol="0" anchor="ctr"/>
          <a:lstStyle/>
          <a:p>
            <a:pPr algn="r" indent="0" marL="0">
              <a:buNone/>
            </a:pPr>
            <a:r>
              <a:rPr lang="en-US" sz="900" dirty="0">
                <a:solidFill>
                  <a:srgbClr val="868E99"/>
                </a:solidFill>
                <a:latin typeface="Calibri" pitchFamily="34" charset="0"/>
                <a:ea typeface="Calibri" pitchFamily="34" charset="-122"/>
                <a:cs typeface="Calibri" pitchFamily="34" charset="-120"/>
              </a:rPr>
              <a:t>10 / 24</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4161A"/>
        </a:solidFill>
      </p:bgPr>
    </p:bg>
    <p:spTree>
      <p:nvGrpSpPr>
        <p:cNvPr id="1" name=""/>
        <p:cNvGrpSpPr/>
        <p:nvPr/>
      </p:nvGrpSpPr>
      <p:grpSpPr>
        <a:xfrm>
          <a:off x="0" y="0"/>
          <a:ext cx="0" cy="0"/>
          <a:chOff x="0" y="0"/>
          <a:chExt cx="0" cy="0"/>
        </a:xfrm>
      </p:grpSpPr>
      <p:sp>
        <p:nvSpPr>
          <p:cNvPr id="2" name="Text 0"/>
          <p:cNvSpPr txBox="1"/>
          <p:nvPr/>
        </p:nvSpPr>
        <p:spPr>
          <a:xfrm>
            <a:off x="548640" y="347472"/>
            <a:ext cx="11091672" cy="237744"/>
          </a:xfrm>
          <a:prstGeom prst="rect">
            <a:avLst/>
          </a:prstGeom>
          <a:noFill/>
          <a:ln/>
        </p:spPr>
        <p:txBody>
          <a:bodyPr wrap="square" lIns="0" tIns="0" rIns="0" bIns="0" rtlCol="0" anchor="ctr"/>
          <a:lstStyle/>
          <a:p>
            <a:pPr indent="0" marL="0">
              <a:buNone/>
            </a:pPr>
            <a:r>
              <a:rPr lang="en-US" sz="1050" b="1" spc="200" kern="0" dirty="0">
                <a:solidFill>
                  <a:srgbClr val="E3B23C"/>
                </a:solidFill>
                <a:latin typeface="Calibri" pitchFamily="34" charset="0"/>
                <a:ea typeface="Calibri" pitchFamily="34" charset="-122"/>
                <a:cs typeface="Calibri" pitchFamily="34" charset="-120"/>
              </a:rPr>
              <a:t>POSITIONNEMENT</a:t>
            </a:r>
            <a:endParaRPr lang="en-US" sz="1050" dirty="0"/>
          </a:p>
        </p:txBody>
      </p:sp>
      <p:sp>
        <p:nvSpPr>
          <p:cNvPr id="3" name="Text 1"/>
          <p:cNvSpPr txBox="1"/>
          <p:nvPr/>
        </p:nvSpPr>
        <p:spPr>
          <a:xfrm>
            <a:off x="548640" y="603504"/>
            <a:ext cx="11091672" cy="566928"/>
          </a:xfrm>
          <a:prstGeom prst="rect">
            <a:avLst/>
          </a:prstGeom>
          <a:noFill/>
          <a:ln/>
        </p:spPr>
        <p:txBody>
          <a:bodyPr wrap="square" lIns="0" tIns="0" rIns="0" bIns="0" rtlCol="0" anchor="ctr"/>
          <a:lstStyle/>
          <a:p>
            <a:pPr indent="0" marL="0">
              <a:buNone/>
            </a:pPr>
            <a:r>
              <a:rPr lang="en-US" sz="3000" b="1" dirty="0">
                <a:solidFill>
                  <a:srgbClr val="E8EAED"/>
                </a:solidFill>
                <a:latin typeface="Arial Narrow" pitchFamily="34" charset="0"/>
                <a:ea typeface="Arial Narrow" pitchFamily="34" charset="-122"/>
                <a:cs typeface="Arial Narrow" pitchFamily="34" charset="-120"/>
              </a:rPr>
              <a:t>« Le plan que votre client peut vraiment cuisiner »</a:t>
            </a:r>
            <a:endParaRPr lang="en-US" sz="3000" dirty="0"/>
          </a:p>
        </p:txBody>
      </p:sp>
      <p:sp>
        <p:nvSpPr>
          <p:cNvPr id="4" name="Shape 2"/>
          <p:cNvSpPr/>
          <p:nvPr/>
        </p:nvSpPr>
        <p:spPr>
          <a:xfrm>
            <a:off x="548640" y="1901952"/>
            <a:ext cx="128016" cy="32004"/>
          </a:xfrm>
          <a:prstGeom prst="rect">
            <a:avLst/>
          </a:prstGeom>
          <a:solidFill>
            <a:srgbClr val="E3B23C"/>
          </a:solidFill>
          <a:ln w="12700">
            <a:solidFill>
              <a:srgbClr val="E3B23C"/>
            </a:solidFill>
            <a:prstDash val="solid"/>
          </a:ln>
        </p:spPr>
      </p:sp>
      <p:sp>
        <p:nvSpPr>
          <p:cNvPr id="5" name="Text 3"/>
          <p:cNvSpPr txBox="1"/>
          <p:nvPr/>
        </p:nvSpPr>
        <p:spPr>
          <a:xfrm>
            <a:off x="804672" y="1755648"/>
            <a:ext cx="5504688" cy="868680"/>
          </a:xfrm>
          <a:prstGeom prst="rect">
            <a:avLst/>
          </a:prstGeom>
          <a:noFill/>
          <a:ln/>
        </p:spPr>
        <p:txBody>
          <a:bodyPr wrap="square" lIns="0" tIns="0" rIns="0" bIns="0" rtlCol="0" anchor="t"/>
          <a:lstStyle/>
          <a:p>
            <a:pPr indent="0" marL="0">
              <a:buNone/>
            </a:pPr>
            <a:r>
              <a:rPr lang="en-US" sz="1350" b="1" dirty="0">
                <a:solidFill>
                  <a:srgbClr val="E8EAED"/>
                </a:solidFill>
                <a:latin typeface="Calibri" pitchFamily="34" charset="0"/>
                <a:ea typeface="Calibri" pitchFamily="34" charset="-122"/>
                <a:cs typeface="Calibri" pitchFamily="34" charset="-120"/>
              </a:rPr>
              <a:t>Promesse. </a:t>
            </a:r>
            <a:pPr indent="0" marL="0">
              <a:buNone/>
            </a:pPr>
            <a:r>
              <a:rPr lang="en-US" sz="1350" dirty="0">
                <a:solidFill>
                  <a:srgbClr val="ADB2B9"/>
                </a:solidFill>
                <a:latin typeface="Calibri" pitchFamily="34" charset="0"/>
                <a:ea typeface="Calibri" pitchFamily="34" charset="-122"/>
                <a:cs typeface="Calibri" pitchFamily="34" charset="-120"/>
              </a:rPr>
              <a:t>Des quantités justes, calculées avec ce que le client a sous la main, et un écart expliqué plutôt que caché.</a:t>
            </a:r>
            <a:endParaRPr lang="en-US" sz="1350" dirty="0"/>
          </a:p>
        </p:txBody>
      </p:sp>
      <p:sp>
        <p:nvSpPr>
          <p:cNvPr id="6" name="Shape 4"/>
          <p:cNvSpPr/>
          <p:nvPr/>
        </p:nvSpPr>
        <p:spPr>
          <a:xfrm>
            <a:off x="548640" y="2770632"/>
            <a:ext cx="128016" cy="32004"/>
          </a:xfrm>
          <a:prstGeom prst="rect">
            <a:avLst/>
          </a:prstGeom>
          <a:solidFill>
            <a:srgbClr val="E3B23C"/>
          </a:solidFill>
          <a:ln w="12700">
            <a:solidFill>
              <a:srgbClr val="E3B23C"/>
            </a:solidFill>
            <a:prstDash val="solid"/>
          </a:ln>
        </p:spPr>
      </p:sp>
      <p:sp>
        <p:nvSpPr>
          <p:cNvPr id="7" name="Text 5"/>
          <p:cNvSpPr txBox="1"/>
          <p:nvPr/>
        </p:nvSpPr>
        <p:spPr>
          <a:xfrm>
            <a:off x="804672" y="2624328"/>
            <a:ext cx="5504688" cy="868680"/>
          </a:xfrm>
          <a:prstGeom prst="rect">
            <a:avLst/>
          </a:prstGeom>
          <a:noFill/>
          <a:ln/>
        </p:spPr>
        <p:txBody>
          <a:bodyPr wrap="square" lIns="0" tIns="0" rIns="0" bIns="0" rtlCol="0" anchor="t"/>
          <a:lstStyle/>
          <a:p>
            <a:pPr indent="0" marL="0">
              <a:buNone/>
            </a:pPr>
            <a:r>
              <a:rPr lang="en-US" sz="1350" b="1" dirty="0">
                <a:solidFill>
                  <a:srgbClr val="E8EAED"/>
                </a:solidFill>
                <a:latin typeface="Calibri" pitchFamily="34" charset="0"/>
                <a:ea typeface="Calibri" pitchFamily="34" charset="-122"/>
                <a:cs typeface="Calibri" pitchFamily="34" charset="-120"/>
              </a:rPr>
              <a:t>Preuve. </a:t>
            </a:r>
            <a:pPr indent="0" marL="0">
              <a:buNone/>
            </a:pPr>
            <a:r>
              <a:rPr lang="en-US" sz="1350" dirty="0">
                <a:solidFill>
                  <a:srgbClr val="ADB2B9"/>
                </a:solidFill>
                <a:latin typeface="Calibri" pitchFamily="34" charset="0"/>
                <a:ea typeface="Calibri" pitchFamily="34" charset="-122"/>
                <a:cs typeface="Calibri" pitchFamily="34" charset="-120"/>
              </a:rPr>
              <a:t>Valeurs CIQUAL 2025, fibres comptées à 2 kcal/g selon le règlement UE n° 1169/2011, pesée avant cuisson.</a:t>
            </a:r>
            <a:endParaRPr lang="en-US" sz="1350" dirty="0"/>
          </a:p>
        </p:txBody>
      </p:sp>
      <p:sp>
        <p:nvSpPr>
          <p:cNvPr id="8" name="Shape 6"/>
          <p:cNvSpPr/>
          <p:nvPr/>
        </p:nvSpPr>
        <p:spPr>
          <a:xfrm>
            <a:off x="548640" y="3639312"/>
            <a:ext cx="128016" cy="32004"/>
          </a:xfrm>
          <a:prstGeom prst="rect">
            <a:avLst/>
          </a:prstGeom>
          <a:solidFill>
            <a:srgbClr val="E3B23C"/>
          </a:solidFill>
          <a:ln w="12700">
            <a:solidFill>
              <a:srgbClr val="E3B23C"/>
            </a:solidFill>
            <a:prstDash val="solid"/>
          </a:ln>
        </p:spPr>
      </p:sp>
      <p:sp>
        <p:nvSpPr>
          <p:cNvPr id="9" name="Text 7"/>
          <p:cNvSpPr txBox="1"/>
          <p:nvPr/>
        </p:nvSpPr>
        <p:spPr>
          <a:xfrm>
            <a:off x="804672" y="3493008"/>
            <a:ext cx="5504688" cy="868680"/>
          </a:xfrm>
          <a:prstGeom prst="rect">
            <a:avLst/>
          </a:prstGeom>
          <a:noFill/>
          <a:ln/>
        </p:spPr>
        <p:txBody>
          <a:bodyPr wrap="square" lIns="0" tIns="0" rIns="0" bIns="0" rtlCol="0" anchor="t"/>
          <a:lstStyle/>
          <a:p>
            <a:pPr indent="0" marL="0">
              <a:buNone/>
            </a:pPr>
            <a:r>
              <a:rPr lang="en-US" sz="1350" b="1" dirty="0">
                <a:solidFill>
                  <a:srgbClr val="E8EAED"/>
                </a:solidFill>
                <a:latin typeface="Calibri" pitchFamily="34" charset="0"/>
                <a:ea typeface="Calibri" pitchFamily="34" charset="-122"/>
                <a:cs typeface="Calibri" pitchFamily="34" charset="-120"/>
              </a:rPr>
              <a:t>Ton. </a:t>
            </a:r>
            <a:pPr indent="0" marL="0">
              <a:buNone/>
            </a:pPr>
            <a:r>
              <a:rPr lang="en-US" sz="1350" dirty="0">
                <a:solidFill>
                  <a:srgbClr val="ADB2B9"/>
                </a:solidFill>
                <a:latin typeface="Calibri" pitchFamily="34" charset="0"/>
                <a:ea typeface="Calibri" pitchFamily="34" charset="-122"/>
                <a:cs typeface="Calibri" pitchFamily="34" charset="-120"/>
              </a:rPr>
              <a:t>Français, précis, sans promesse miracle. On parle de grammes, pas de transformation en 30 jours.</a:t>
            </a:r>
            <a:endParaRPr lang="en-US" sz="1350" dirty="0"/>
          </a:p>
        </p:txBody>
      </p:sp>
      <p:sp>
        <p:nvSpPr>
          <p:cNvPr id="10" name="Shape 8"/>
          <p:cNvSpPr/>
          <p:nvPr/>
        </p:nvSpPr>
        <p:spPr>
          <a:xfrm>
            <a:off x="548640" y="4507992"/>
            <a:ext cx="128016" cy="32004"/>
          </a:xfrm>
          <a:prstGeom prst="rect">
            <a:avLst/>
          </a:prstGeom>
          <a:solidFill>
            <a:srgbClr val="E3B23C"/>
          </a:solidFill>
          <a:ln w="12700">
            <a:solidFill>
              <a:srgbClr val="E3B23C"/>
            </a:solidFill>
            <a:prstDash val="solid"/>
          </a:ln>
        </p:spPr>
      </p:sp>
      <p:sp>
        <p:nvSpPr>
          <p:cNvPr id="11" name="Text 9"/>
          <p:cNvSpPr txBox="1"/>
          <p:nvPr/>
        </p:nvSpPr>
        <p:spPr>
          <a:xfrm>
            <a:off x="804672" y="4361688"/>
            <a:ext cx="5504688" cy="868680"/>
          </a:xfrm>
          <a:prstGeom prst="rect">
            <a:avLst/>
          </a:prstGeom>
          <a:noFill/>
          <a:ln/>
        </p:spPr>
        <p:txBody>
          <a:bodyPr wrap="square" lIns="0" tIns="0" rIns="0" bIns="0" rtlCol="0" anchor="t"/>
          <a:lstStyle/>
          <a:p>
            <a:pPr indent="0" marL="0">
              <a:buNone/>
            </a:pPr>
            <a:r>
              <a:rPr lang="en-US" sz="1350" b="1" dirty="0">
                <a:solidFill>
                  <a:srgbClr val="E8EAED"/>
                </a:solidFill>
                <a:latin typeface="Calibri" pitchFamily="34" charset="0"/>
                <a:ea typeface="Calibri" pitchFamily="34" charset="-122"/>
                <a:cs typeface="Calibri" pitchFamily="34" charset="-120"/>
              </a:rPr>
              <a:t>Ce qui est dur à copier. </a:t>
            </a:r>
            <a:pPr indent="0" marL="0">
              <a:buNone/>
            </a:pPr>
            <a:r>
              <a:rPr lang="en-US" sz="1350" dirty="0">
                <a:solidFill>
                  <a:srgbClr val="ADB2B9"/>
                </a:solidFill>
                <a:latin typeface="Calibri" pitchFamily="34" charset="0"/>
                <a:ea typeface="Calibri" pitchFamily="34" charset="-122"/>
                <a:cs typeface="Calibri" pitchFamily="34" charset="-120"/>
              </a:rPr>
              <a:t>Non pas l'idée, mais la rigueur des calculs : la table de référence, la convention des fibres, le rendement cru/cuit, et la règle de refuser un chiffre douteux.</a:t>
            </a:r>
            <a:endParaRPr lang="en-US" sz="1350" dirty="0"/>
          </a:p>
        </p:txBody>
      </p:sp>
      <p:sp>
        <p:nvSpPr>
          <p:cNvPr id="12" name="Shape 10"/>
          <p:cNvSpPr/>
          <p:nvPr/>
        </p:nvSpPr>
        <p:spPr>
          <a:xfrm>
            <a:off x="6629400" y="1783080"/>
            <a:ext cx="5010912" cy="2487168"/>
          </a:xfrm>
          <a:prstGeom prst="roundRect">
            <a:avLst>
              <a:gd name="adj" fmla="val 2574"/>
            </a:avLst>
          </a:prstGeom>
          <a:solidFill>
            <a:srgbClr val="23272E"/>
          </a:solidFill>
          <a:ln w="15875">
            <a:solidFill>
              <a:srgbClr val="E3B23C"/>
            </a:solidFill>
            <a:prstDash val="solid"/>
          </a:ln>
        </p:spPr>
      </p:sp>
      <p:sp>
        <p:nvSpPr>
          <p:cNvPr id="13" name="Text 11"/>
          <p:cNvSpPr txBox="1"/>
          <p:nvPr/>
        </p:nvSpPr>
        <p:spPr>
          <a:xfrm>
            <a:off x="6922008" y="1920240"/>
            <a:ext cx="4425696" cy="237744"/>
          </a:xfrm>
          <a:prstGeom prst="rect">
            <a:avLst/>
          </a:prstGeom>
          <a:noFill/>
          <a:ln/>
        </p:spPr>
        <p:txBody>
          <a:bodyPr wrap="square" lIns="0" tIns="0" rIns="0" bIns="0" rtlCol="0" anchor="ctr"/>
          <a:lstStyle/>
          <a:p>
            <a:pPr indent="0" marL="0">
              <a:buNone/>
            </a:pPr>
            <a:r>
              <a:rPr lang="en-US" sz="900" b="1" spc="150" kern="0" dirty="0">
                <a:solidFill>
                  <a:srgbClr val="E3B23C"/>
                </a:solidFill>
                <a:latin typeface="Calibri" pitchFamily="34" charset="0"/>
                <a:ea typeface="Calibri" pitchFamily="34" charset="-122"/>
                <a:cs typeface="Calibri" pitchFamily="34" charset="-120"/>
              </a:rPr>
              <a:t>CE QUE LE CLIENT VOIT À L'ÉCRAN</a:t>
            </a:r>
            <a:endParaRPr lang="en-US" sz="900" dirty="0"/>
          </a:p>
        </p:txBody>
      </p:sp>
      <p:sp>
        <p:nvSpPr>
          <p:cNvPr id="14" name="Text 12"/>
          <p:cNvSpPr txBox="1"/>
          <p:nvPr/>
        </p:nvSpPr>
        <p:spPr>
          <a:xfrm>
            <a:off x="6922008" y="2212848"/>
            <a:ext cx="4425696" cy="256032"/>
          </a:xfrm>
          <a:prstGeom prst="rect">
            <a:avLst/>
          </a:prstGeom>
          <a:noFill/>
          <a:ln/>
        </p:spPr>
        <p:txBody>
          <a:bodyPr wrap="square" lIns="0" tIns="0" rIns="0" bIns="0" rtlCol="0" anchor="ctr"/>
          <a:lstStyle/>
          <a:p>
            <a:pPr indent="0" marL="0">
              <a:buNone/>
            </a:pPr>
            <a:r>
              <a:rPr lang="en-US" sz="1200" dirty="0">
                <a:solidFill>
                  <a:srgbClr val="868E99"/>
                </a:solidFill>
                <a:latin typeface="Calibri" pitchFamily="34" charset="0"/>
                <a:ea typeface="Calibri" pitchFamily="34" charset="-122"/>
                <a:cs typeface="Calibri" pitchFamily="34" charset="-120"/>
              </a:rPr>
              <a:t>Matin · 1 personne</a:t>
            </a:r>
            <a:endParaRPr lang="en-US" sz="1200" dirty="0"/>
          </a:p>
        </p:txBody>
      </p:sp>
      <p:sp>
        <p:nvSpPr>
          <p:cNvPr id="15" name="Text 13"/>
          <p:cNvSpPr txBox="1"/>
          <p:nvPr/>
        </p:nvSpPr>
        <p:spPr>
          <a:xfrm>
            <a:off x="6922008" y="2468880"/>
            <a:ext cx="4425696" cy="384048"/>
          </a:xfrm>
          <a:prstGeom prst="rect">
            <a:avLst/>
          </a:prstGeom>
          <a:noFill/>
          <a:ln/>
        </p:spPr>
        <p:txBody>
          <a:bodyPr wrap="square" lIns="0" tIns="0" rIns="0" bIns="0" rtlCol="0" anchor="ctr"/>
          <a:lstStyle/>
          <a:p>
            <a:pPr indent="0" marL="0">
              <a:buNone/>
            </a:pPr>
            <a:r>
              <a:rPr lang="en-US" sz="2400" b="1" dirty="0">
                <a:solidFill>
                  <a:srgbClr val="E8EAED"/>
                </a:solidFill>
                <a:latin typeface="Arial Narrow" pitchFamily="34" charset="0"/>
                <a:ea typeface="Arial Narrow" pitchFamily="34" charset="-122"/>
                <a:cs typeface="Arial Narrow" pitchFamily="34" charset="-120"/>
              </a:rPr>
              <a:t>573 kcal · 40 P · 64,5 G · 18 L</a:t>
            </a:r>
            <a:endParaRPr lang="en-US" sz="2400" dirty="0"/>
          </a:p>
        </p:txBody>
      </p:sp>
      <p:sp>
        <p:nvSpPr>
          <p:cNvPr id="16" name="Text 14"/>
          <p:cNvSpPr txBox="1"/>
          <p:nvPr/>
        </p:nvSpPr>
        <p:spPr>
          <a:xfrm>
            <a:off x="6922008" y="2962656"/>
            <a:ext cx="4425696" cy="310896"/>
          </a:xfrm>
          <a:prstGeom prst="rect">
            <a:avLst/>
          </a:prstGeom>
          <a:noFill/>
          <a:ln/>
        </p:spPr>
        <p:txBody>
          <a:bodyPr wrap="square" lIns="0" tIns="0" rIns="0" bIns="0" rtlCol="0" anchor="ctr"/>
          <a:lstStyle/>
          <a:p>
            <a:pPr indent="0" marL="0">
              <a:buNone/>
            </a:pPr>
            <a:r>
              <a:rPr lang="en-US" sz="1400" dirty="0">
                <a:solidFill>
                  <a:srgbClr val="ADB2B9"/>
                </a:solidFill>
                <a:latin typeface="Calibri" pitchFamily="34" charset="0"/>
                <a:ea typeface="Calibri" pitchFamily="34" charset="-122"/>
                <a:cs typeface="Calibri" pitchFamily="34" charset="-120"/>
              </a:rPr>
              <a:t>Blanc de poulet</a:t>
            </a:r>
            <a:pPr indent="0" marL="0">
              <a:buNone/>
            </a:pPr>
            <a:r>
              <a:rPr lang="en-US" sz="1400" b="1" dirty="0">
                <a:solidFill>
                  <a:srgbClr val="E3B23C"/>
                </a:solidFill>
                <a:latin typeface="Calibri" pitchFamily="34" charset="0"/>
                <a:ea typeface="Calibri" pitchFamily="34" charset="-122"/>
                <a:cs typeface="Calibri" pitchFamily="34" charset="-120"/>
              </a:rPr>
              <a:t>        peser 84 g</a:t>
            </a:r>
            <a:endParaRPr lang="en-US" sz="1400" dirty="0"/>
          </a:p>
        </p:txBody>
      </p:sp>
      <p:sp>
        <p:nvSpPr>
          <p:cNvPr id="17" name="Text 15"/>
          <p:cNvSpPr txBox="1"/>
          <p:nvPr/>
        </p:nvSpPr>
        <p:spPr>
          <a:xfrm>
            <a:off x="6922008" y="3255264"/>
            <a:ext cx="4425696" cy="274320"/>
          </a:xfrm>
          <a:prstGeom prst="rect">
            <a:avLst/>
          </a:prstGeom>
          <a:noFill/>
          <a:ln/>
        </p:spPr>
        <p:txBody>
          <a:bodyPr wrap="square" lIns="0" tIns="0" rIns="0" bIns="0" rtlCol="0" anchor="ctr"/>
          <a:lstStyle/>
          <a:p>
            <a:pPr indent="0" marL="0">
              <a:buNone/>
            </a:pPr>
            <a:r>
              <a:rPr lang="en-US" sz="1200" dirty="0">
                <a:solidFill>
                  <a:srgbClr val="5EC080"/>
                </a:solidFill>
                <a:latin typeface="Calibri" pitchFamily="34" charset="0"/>
                <a:ea typeface="Calibri" pitchFamily="34" charset="-122"/>
                <a:cs typeface="Calibri" pitchFamily="34" charset="-120"/>
              </a:rPr>
              <a:t>→ servi 63 g</a:t>
            </a:r>
            <a:endParaRPr lang="en-US" sz="1200" dirty="0"/>
          </a:p>
        </p:txBody>
      </p:sp>
      <p:sp>
        <p:nvSpPr>
          <p:cNvPr id="18" name="Text 16"/>
          <p:cNvSpPr txBox="1"/>
          <p:nvPr/>
        </p:nvSpPr>
        <p:spPr>
          <a:xfrm>
            <a:off x="6922008" y="3621024"/>
            <a:ext cx="4425696" cy="292608"/>
          </a:xfrm>
          <a:prstGeom prst="rect">
            <a:avLst/>
          </a:prstGeom>
          <a:noFill/>
          <a:ln/>
        </p:spPr>
        <p:txBody>
          <a:bodyPr wrap="square" lIns="0" tIns="0" rIns="0" bIns="0" rtlCol="0" anchor="ctr"/>
          <a:lstStyle/>
          <a:p>
            <a:pPr indent="0" marL="0">
              <a:buNone/>
            </a:pPr>
            <a:r>
              <a:rPr lang="en-US" sz="2000" b="1" dirty="0">
                <a:solidFill>
                  <a:srgbClr val="E8EAED"/>
                </a:solidFill>
                <a:latin typeface="Arial Narrow" pitchFamily="34" charset="0"/>
                <a:ea typeface="Arial Narrow" pitchFamily="34" charset="-122"/>
                <a:cs typeface="Arial Narrow" pitchFamily="34" charset="-120"/>
              </a:rPr>
              <a:t>On pèse AVANT cuisson.</a:t>
            </a:r>
            <a:endParaRPr lang="en-US" sz="2000" dirty="0"/>
          </a:p>
        </p:txBody>
      </p:sp>
      <p:sp>
        <p:nvSpPr>
          <p:cNvPr id="19" name="Text 17"/>
          <p:cNvSpPr txBox="1"/>
          <p:nvPr/>
        </p:nvSpPr>
        <p:spPr>
          <a:xfrm>
            <a:off x="6922008" y="3913632"/>
            <a:ext cx="4425696" cy="310896"/>
          </a:xfrm>
          <a:prstGeom prst="rect">
            <a:avLst/>
          </a:prstGeom>
          <a:noFill/>
          <a:ln/>
        </p:spPr>
        <p:txBody>
          <a:bodyPr wrap="square" lIns="0" tIns="0" rIns="0" bIns="0" rtlCol="0" anchor="ctr"/>
          <a:lstStyle/>
          <a:p>
            <a:pPr indent="0" marL="0">
              <a:buNone/>
            </a:pPr>
            <a:r>
              <a:rPr lang="en-US" sz="1100" dirty="0">
                <a:solidFill>
                  <a:srgbClr val="868E99"/>
                </a:solidFill>
                <a:latin typeface="Calibri" pitchFamily="34" charset="0"/>
                <a:ea typeface="Calibri" pitchFamily="34" charset="-122"/>
                <a:cs typeface="Calibri" pitchFamily="34" charset="-120"/>
              </a:rPr>
              <a:t>Une consigne qu'on exécute sans réfléchir, parce que le calcul a déjà été fait pour le stock du jour.</a:t>
            </a:r>
            <a:endParaRPr lang="en-US" sz="1100" dirty="0"/>
          </a:p>
        </p:txBody>
      </p:sp>
      <p:pic>
        <p:nvPicPr>
          <p:cNvPr id="20" name="Image 0" descr="/home/micka/perso/fitcarnet/presentation/captures/09-repas-macros.jpg">    </p:cNvPr>
          <p:cNvPicPr>
            <a:picLocks noChangeAspect="1"/>
          </p:cNvPicPr>
          <p:nvPr/>
        </p:nvPicPr>
        <p:blipFill>
          <a:blip r:embed="rId1"/>
          <a:stretch>
            <a:fillRect/>
          </a:stretch>
        </p:blipFill>
        <p:spPr>
          <a:xfrm>
            <a:off x="6629400" y="4407408"/>
            <a:ext cx="5010912" cy="1298448"/>
          </a:xfrm>
          <a:prstGeom prst="rect">
            <a:avLst/>
          </a:prstGeom>
        </p:spPr>
      </p:pic>
      <p:sp>
        <p:nvSpPr>
          <p:cNvPr id="21" name="Text 18"/>
          <p:cNvSpPr txBox="1"/>
          <p:nvPr/>
        </p:nvSpPr>
        <p:spPr>
          <a:xfrm>
            <a:off x="548640" y="5961888"/>
            <a:ext cx="11091672" cy="310896"/>
          </a:xfrm>
          <a:prstGeom prst="rect">
            <a:avLst/>
          </a:prstGeom>
          <a:noFill/>
          <a:ln/>
        </p:spPr>
        <p:txBody>
          <a:bodyPr wrap="square" lIns="0" tIns="0" rIns="0" bIns="0" rtlCol="0" anchor="ctr"/>
          <a:lstStyle/>
          <a:p>
            <a:pPr indent="0" marL="0">
              <a:buNone/>
            </a:pPr>
            <a:r>
              <a:rPr lang="en-US" sz="950" i="1" dirty="0">
                <a:solidFill>
                  <a:srgbClr val="868E99"/>
                </a:solidFill>
                <a:latin typeface="Calibri" pitchFamily="34" charset="0"/>
                <a:ea typeface="Calibri" pitchFamily="34" charset="-122"/>
                <a:cs typeface="Calibri" pitchFamily="34" charset="-120"/>
              </a:rPr>
              <a:t>Exemple repris de l'écran « Repas » de l'application · CIQUAL 2025 (ANSES)</a:t>
            </a:r>
            <a:endParaRPr lang="en-US" sz="950" dirty="0"/>
          </a:p>
        </p:txBody>
      </p:sp>
      <p:sp>
        <p:nvSpPr>
          <p:cNvPr id="22" name="Text 19"/>
          <p:cNvSpPr txBox="1"/>
          <p:nvPr/>
        </p:nvSpPr>
        <p:spPr>
          <a:xfrm>
            <a:off x="548640" y="6336792"/>
            <a:ext cx="8229600" cy="274320"/>
          </a:xfrm>
          <a:prstGeom prst="rect">
            <a:avLst/>
          </a:prstGeom>
          <a:noFill/>
          <a:ln/>
        </p:spPr>
        <p:txBody>
          <a:bodyPr wrap="square" lIns="0" tIns="0" rIns="0" bIns="0" rtlCol="0" anchor="ctr"/>
          <a:lstStyle/>
          <a:p>
            <a:pPr algn="l" indent="0" marL="0">
              <a:buNone/>
            </a:pPr>
            <a:r>
              <a:rPr lang="en-US" sz="900" dirty="0">
                <a:solidFill>
                  <a:srgbClr val="868E99"/>
                </a:solidFill>
                <a:latin typeface="Calibri" pitchFamily="34" charset="0"/>
                <a:ea typeface="Calibri" pitchFamily="34" charset="-122"/>
                <a:cs typeface="Calibri" pitchFamily="34" charset="-120"/>
              </a:rPr>
              <a:t>fitcarnet Pro · business plan · 21 septembre 2026</a:t>
            </a:r>
            <a:endParaRPr lang="en-US" sz="900" dirty="0"/>
          </a:p>
        </p:txBody>
      </p:sp>
      <p:sp>
        <p:nvSpPr>
          <p:cNvPr id="23" name="Text 20"/>
          <p:cNvSpPr txBox="1"/>
          <p:nvPr/>
        </p:nvSpPr>
        <p:spPr>
          <a:xfrm>
            <a:off x="8897112" y="6336792"/>
            <a:ext cx="2743200" cy="274320"/>
          </a:xfrm>
          <a:prstGeom prst="rect">
            <a:avLst/>
          </a:prstGeom>
          <a:noFill/>
          <a:ln/>
        </p:spPr>
        <p:txBody>
          <a:bodyPr wrap="square" lIns="0" tIns="0" rIns="0" bIns="0" rtlCol="0" anchor="ctr"/>
          <a:lstStyle/>
          <a:p>
            <a:pPr algn="r" indent="0" marL="0">
              <a:buNone/>
            </a:pPr>
            <a:r>
              <a:rPr lang="en-US" sz="900" dirty="0">
                <a:solidFill>
                  <a:srgbClr val="868E99"/>
                </a:solidFill>
                <a:latin typeface="Calibri" pitchFamily="34" charset="0"/>
                <a:ea typeface="Calibri" pitchFamily="34" charset="-122"/>
                <a:cs typeface="Calibri" pitchFamily="34" charset="-120"/>
              </a:rPr>
              <a:t>11 / 24</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161A"/>
        </a:solidFill>
      </p:bgPr>
    </p:bg>
    <p:spTree>
      <p:nvGrpSpPr>
        <p:cNvPr id="1" name=""/>
        <p:cNvGrpSpPr/>
        <p:nvPr/>
      </p:nvGrpSpPr>
      <p:grpSpPr>
        <a:xfrm>
          <a:off x="0" y="0"/>
          <a:ext cx="0" cy="0"/>
          <a:chOff x="0" y="0"/>
          <a:chExt cx="0" cy="0"/>
        </a:xfrm>
      </p:grpSpPr>
      <p:sp>
        <p:nvSpPr>
          <p:cNvPr id="2" name="Text 0"/>
          <p:cNvSpPr txBox="1"/>
          <p:nvPr/>
        </p:nvSpPr>
        <p:spPr>
          <a:xfrm>
            <a:off x="548640" y="347472"/>
            <a:ext cx="11091672" cy="237744"/>
          </a:xfrm>
          <a:prstGeom prst="rect">
            <a:avLst/>
          </a:prstGeom>
          <a:noFill/>
          <a:ln/>
        </p:spPr>
        <p:txBody>
          <a:bodyPr wrap="square" lIns="0" tIns="0" rIns="0" bIns="0" rtlCol="0" anchor="ctr"/>
          <a:lstStyle/>
          <a:p>
            <a:pPr indent="0" marL="0">
              <a:buNone/>
            </a:pPr>
            <a:r>
              <a:rPr lang="en-US" sz="1050" b="1" spc="200" kern="0" dirty="0">
                <a:solidFill>
                  <a:srgbClr val="E3B23C"/>
                </a:solidFill>
                <a:latin typeface="Calibri" pitchFamily="34" charset="0"/>
                <a:ea typeface="Calibri" pitchFamily="34" charset="-122"/>
                <a:cs typeface="Calibri" pitchFamily="34" charset="-120"/>
              </a:rPr>
              <a:t>ALLER CHERCHER LES CLIENTS</a:t>
            </a:r>
            <a:endParaRPr lang="en-US" sz="1050" dirty="0"/>
          </a:p>
        </p:txBody>
      </p:sp>
      <p:sp>
        <p:nvSpPr>
          <p:cNvPr id="3" name="Text 1"/>
          <p:cNvSpPr txBox="1"/>
          <p:nvPr/>
        </p:nvSpPr>
        <p:spPr>
          <a:xfrm>
            <a:off x="548640" y="603504"/>
            <a:ext cx="11091672" cy="566928"/>
          </a:xfrm>
          <a:prstGeom prst="rect">
            <a:avLst/>
          </a:prstGeom>
          <a:noFill/>
          <a:ln/>
        </p:spPr>
        <p:txBody>
          <a:bodyPr wrap="square" lIns="0" tIns="0" rIns="0" bIns="0" rtlCol="0" anchor="ctr"/>
          <a:lstStyle/>
          <a:p>
            <a:pPr indent="0" marL="0">
              <a:buNone/>
            </a:pPr>
            <a:r>
              <a:rPr lang="en-US" sz="3000" b="1" dirty="0">
                <a:solidFill>
                  <a:srgbClr val="E8EAED"/>
                </a:solidFill>
                <a:latin typeface="Arial Narrow" pitchFamily="34" charset="0"/>
                <a:ea typeface="Arial Narrow" pitchFamily="34" charset="-122"/>
                <a:cs typeface="Arial Narrow" pitchFamily="34" charset="-120"/>
              </a:rPr>
              <a:t>Vendre un par un, puis par le bouche-à-oreille</a:t>
            </a:r>
            <a:endParaRPr lang="en-US" sz="3000" dirty="0"/>
          </a:p>
        </p:txBody>
      </p:sp>
      <p:sp>
        <p:nvSpPr>
          <p:cNvPr id="4" name="Shape 2"/>
          <p:cNvSpPr/>
          <p:nvPr/>
        </p:nvSpPr>
        <p:spPr>
          <a:xfrm>
            <a:off x="548640" y="1755648"/>
            <a:ext cx="2670048" cy="2377440"/>
          </a:xfrm>
          <a:prstGeom prst="roundRect">
            <a:avLst>
              <a:gd name="adj" fmla="val 2692"/>
            </a:avLst>
          </a:prstGeom>
          <a:solidFill>
            <a:srgbClr val="1D2026"/>
          </a:solidFill>
          <a:ln w="15875">
            <a:solidFill>
              <a:srgbClr val="E3B23C"/>
            </a:solidFill>
            <a:prstDash val="solid"/>
          </a:ln>
        </p:spPr>
      </p:sp>
      <p:sp>
        <p:nvSpPr>
          <p:cNvPr id="5" name="Text 3"/>
          <p:cNvSpPr txBox="1"/>
          <p:nvPr/>
        </p:nvSpPr>
        <p:spPr>
          <a:xfrm>
            <a:off x="786384" y="1901952"/>
            <a:ext cx="2194560" cy="621792"/>
          </a:xfrm>
          <a:prstGeom prst="rect">
            <a:avLst/>
          </a:prstGeom>
          <a:noFill/>
          <a:ln/>
        </p:spPr>
        <p:txBody>
          <a:bodyPr wrap="square" lIns="0" tIns="0" rIns="0" bIns="0" rtlCol="0" anchor="t"/>
          <a:lstStyle/>
          <a:p>
            <a:pPr indent="0" marL="0">
              <a:lnSpc>
                <a:spcPts val="2000"/>
              </a:lnSpc>
              <a:buNone/>
            </a:pPr>
            <a:r>
              <a:rPr lang="en-US" sz="1800" b="1" dirty="0">
                <a:solidFill>
                  <a:srgbClr val="E3B23C"/>
                </a:solidFill>
                <a:latin typeface="Arial Narrow" pitchFamily="34" charset="0"/>
                <a:ea typeface="Arial Narrow" pitchFamily="34" charset="-122"/>
                <a:cs typeface="Arial Narrow" pitchFamily="34" charset="-120"/>
              </a:rPr>
              <a:t>Année 1 · la main</a:t>
            </a:r>
            <a:endParaRPr lang="en-US" sz="1800" dirty="0"/>
          </a:p>
        </p:txBody>
      </p:sp>
      <p:sp>
        <p:nvSpPr>
          <p:cNvPr id="6" name="Text 4"/>
          <p:cNvSpPr txBox="1"/>
          <p:nvPr/>
        </p:nvSpPr>
        <p:spPr>
          <a:xfrm>
            <a:off x="786384" y="2578608"/>
            <a:ext cx="2194560" cy="1426464"/>
          </a:xfrm>
          <a:prstGeom prst="rect">
            <a:avLst/>
          </a:prstGeom>
          <a:noFill/>
          <a:ln/>
        </p:spPr>
        <p:txBody>
          <a:bodyPr wrap="square" lIns="0" tIns="0" rIns="0" bIns="0" rtlCol="0" anchor="t"/>
          <a:lstStyle/>
          <a:p>
            <a:pPr indent="0" marL="0">
              <a:lnSpc>
                <a:spcPts val="1600"/>
              </a:lnSpc>
              <a:buNone/>
            </a:pPr>
            <a:r>
              <a:rPr lang="en-US" sz="1100" dirty="0">
                <a:solidFill>
                  <a:srgbClr val="ADB2B9"/>
                </a:solidFill>
                <a:latin typeface="Calibri" pitchFamily="34" charset="0"/>
                <a:ea typeface="Calibri" pitchFamily="34" charset="-122"/>
                <a:cs typeface="Calibri" pitchFamily="34" charset="-120"/>
              </a:rPr>
              <a:t>Entretiens avec 10 coachs, 5 pilotes gratuits, démonstration dans les salles de la région. Chaque pilote convaincu devient une référence citée.</a:t>
            </a:r>
            <a:endParaRPr lang="en-US" sz="1100" dirty="0"/>
          </a:p>
        </p:txBody>
      </p:sp>
      <p:sp>
        <p:nvSpPr>
          <p:cNvPr id="7" name="Shape 5"/>
          <p:cNvSpPr/>
          <p:nvPr/>
        </p:nvSpPr>
        <p:spPr>
          <a:xfrm>
            <a:off x="3355848" y="1755648"/>
            <a:ext cx="2670048" cy="2377440"/>
          </a:xfrm>
          <a:prstGeom prst="roundRect">
            <a:avLst>
              <a:gd name="adj" fmla="val 2692"/>
            </a:avLst>
          </a:prstGeom>
          <a:solidFill>
            <a:srgbClr val="1D2026"/>
          </a:solidFill>
          <a:ln w="9525">
            <a:solidFill>
              <a:srgbClr val="2F343D"/>
            </a:solidFill>
            <a:prstDash val="solid"/>
          </a:ln>
        </p:spPr>
      </p:sp>
      <p:sp>
        <p:nvSpPr>
          <p:cNvPr id="8" name="Text 6"/>
          <p:cNvSpPr txBox="1"/>
          <p:nvPr/>
        </p:nvSpPr>
        <p:spPr>
          <a:xfrm>
            <a:off x="3593592" y="1901952"/>
            <a:ext cx="2194560" cy="621792"/>
          </a:xfrm>
          <a:prstGeom prst="rect">
            <a:avLst/>
          </a:prstGeom>
          <a:noFill/>
          <a:ln/>
        </p:spPr>
        <p:txBody>
          <a:bodyPr wrap="square" lIns="0" tIns="0" rIns="0" bIns="0" rtlCol="0" anchor="t"/>
          <a:lstStyle/>
          <a:p>
            <a:pPr indent="0" marL="0">
              <a:lnSpc>
                <a:spcPts val="2000"/>
              </a:lnSpc>
              <a:buNone/>
            </a:pPr>
            <a:r>
              <a:rPr lang="en-US" sz="1800" b="1" dirty="0">
                <a:solidFill>
                  <a:srgbClr val="7BA7DD"/>
                </a:solidFill>
                <a:latin typeface="Arial Narrow" pitchFamily="34" charset="0"/>
                <a:ea typeface="Arial Narrow" pitchFamily="34" charset="-122"/>
                <a:cs typeface="Arial Narrow" pitchFamily="34" charset="-120"/>
              </a:rPr>
              <a:t>Année 2 · le contenu</a:t>
            </a:r>
            <a:endParaRPr lang="en-US" sz="1800" dirty="0"/>
          </a:p>
        </p:txBody>
      </p:sp>
      <p:sp>
        <p:nvSpPr>
          <p:cNvPr id="9" name="Text 7"/>
          <p:cNvSpPr txBox="1"/>
          <p:nvPr/>
        </p:nvSpPr>
        <p:spPr>
          <a:xfrm>
            <a:off x="3593592" y="2578608"/>
            <a:ext cx="2194560" cy="1426464"/>
          </a:xfrm>
          <a:prstGeom prst="rect">
            <a:avLst/>
          </a:prstGeom>
          <a:noFill/>
          <a:ln/>
        </p:spPr>
        <p:txBody>
          <a:bodyPr wrap="square" lIns="0" tIns="0" rIns="0" bIns="0" rtlCol="0" anchor="t"/>
          <a:lstStyle/>
          <a:p>
            <a:pPr indent="0" marL="0">
              <a:lnSpc>
                <a:spcPts val="1600"/>
              </a:lnSpc>
              <a:buNone/>
            </a:pPr>
            <a:r>
              <a:rPr lang="en-US" sz="1100" dirty="0">
                <a:solidFill>
                  <a:srgbClr val="ADB2B9"/>
                </a:solidFill>
                <a:latin typeface="Calibri" pitchFamily="34" charset="0"/>
                <a:ea typeface="Calibri" pitchFamily="34" charset="-122"/>
                <a:cs typeface="Calibri" pitchFamily="34" charset="-120"/>
              </a:rPr>
              <a:t>Articles et vidéos courtes sur la pesée juste (« 350 ou 155 kcal ? »), présence sur Instagram et YouTube, parrainage entre coachs.</a:t>
            </a:r>
            <a:endParaRPr lang="en-US" sz="1100" dirty="0"/>
          </a:p>
        </p:txBody>
      </p:sp>
      <p:sp>
        <p:nvSpPr>
          <p:cNvPr id="10" name="Shape 8"/>
          <p:cNvSpPr/>
          <p:nvPr/>
        </p:nvSpPr>
        <p:spPr>
          <a:xfrm>
            <a:off x="6163056" y="1755648"/>
            <a:ext cx="2670048" cy="2377440"/>
          </a:xfrm>
          <a:prstGeom prst="roundRect">
            <a:avLst>
              <a:gd name="adj" fmla="val 2692"/>
            </a:avLst>
          </a:prstGeom>
          <a:solidFill>
            <a:srgbClr val="1D2026"/>
          </a:solidFill>
          <a:ln w="9525">
            <a:solidFill>
              <a:srgbClr val="2F343D"/>
            </a:solidFill>
            <a:prstDash val="solid"/>
          </a:ln>
        </p:spPr>
      </p:sp>
      <p:sp>
        <p:nvSpPr>
          <p:cNvPr id="11" name="Text 9"/>
          <p:cNvSpPr txBox="1"/>
          <p:nvPr/>
        </p:nvSpPr>
        <p:spPr>
          <a:xfrm>
            <a:off x="6400800" y="1901952"/>
            <a:ext cx="2194560" cy="621792"/>
          </a:xfrm>
          <a:prstGeom prst="rect">
            <a:avLst/>
          </a:prstGeom>
          <a:noFill/>
          <a:ln/>
        </p:spPr>
        <p:txBody>
          <a:bodyPr wrap="square" lIns="0" tIns="0" rIns="0" bIns="0" rtlCol="0" anchor="t"/>
          <a:lstStyle/>
          <a:p>
            <a:pPr indent="0" marL="0">
              <a:lnSpc>
                <a:spcPts val="2000"/>
              </a:lnSpc>
              <a:buNone/>
            </a:pPr>
            <a:r>
              <a:rPr lang="en-US" sz="1800" b="1" dirty="0">
                <a:solidFill>
                  <a:srgbClr val="5EC080"/>
                </a:solidFill>
                <a:latin typeface="Arial Narrow" pitchFamily="34" charset="0"/>
                <a:ea typeface="Arial Narrow" pitchFamily="34" charset="-122"/>
                <a:cs typeface="Arial Narrow" pitchFamily="34" charset="-120"/>
              </a:rPr>
              <a:t>Année 3 · les relais</a:t>
            </a:r>
            <a:endParaRPr lang="en-US" sz="1800" dirty="0"/>
          </a:p>
        </p:txBody>
      </p:sp>
      <p:sp>
        <p:nvSpPr>
          <p:cNvPr id="12" name="Text 10"/>
          <p:cNvSpPr txBox="1"/>
          <p:nvPr/>
        </p:nvSpPr>
        <p:spPr>
          <a:xfrm>
            <a:off x="6400800" y="2578608"/>
            <a:ext cx="2194560" cy="1426464"/>
          </a:xfrm>
          <a:prstGeom prst="rect">
            <a:avLst/>
          </a:prstGeom>
          <a:noFill/>
          <a:ln/>
        </p:spPr>
        <p:txBody>
          <a:bodyPr wrap="square" lIns="0" tIns="0" rIns="0" bIns="0" rtlCol="0" anchor="t"/>
          <a:lstStyle/>
          <a:p>
            <a:pPr indent="0" marL="0">
              <a:lnSpc>
                <a:spcPts val="1600"/>
              </a:lnSpc>
              <a:buNone/>
            </a:pPr>
            <a:r>
              <a:rPr lang="en-US" sz="1100" dirty="0">
                <a:solidFill>
                  <a:srgbClr val="ADB2B9"/>
                </a:solidFill>
                <a:latin typeface="Calibri" pitchFamily="34" charset="0"/>
                <a:ea typeface="Calibri" pitchFamily="34" charset="-122"/>
                <a:cs typeface="Calibri" pitchFamily="34" charset="-120"/>
              </a:rPr>
              <a:t>Partenariats avec les formations BPJEPS et STAPS, les réseaux de diététiciens, et offre Studio pour les petites salles.</a:t>
            </a:r>
            <a:endParaRPr lang="en-US" sz="1100" dirty="0"/>
          </a:p>
        </p:txBody>
      </p:sp>
      <p:sp>
        <p:nvSpPr>
          <p:cNvPr id="13" name="Shape 11"/>
          <p:cNvSpPr/>
          <p:nvPr/>
        </p:nvSpPr>
        <p:spPr>
          <a:xfrm>
            <a:off x="8970264" y="1755648"/>
            <a:ext cx="2670048" cy="2377440"/>
          </a:xfrm>
          <a:prstGeom prst="roundRect">
            <a:avLst>
              <a:gd name="adj" fmla="val 2692"/>
            </a:avLst>
          </a:prstGeom>
          <a:solidFill>
            <a:srgbClr val="1D2026"/>
          </a:solidFill>
          <a:ln w="9525">
            <a:solidFill>
              <a:srgbClr val="2F343D"/>
            </a:solidFill>
            <a:prstDash val="solid"/>
          </a:ln>
        </p:spPr>
      </p:sp>
      <p:sp>
        <p:nvSpPr>
          <p:cNvPr id="14" name="Text 12"/>
          <p:cNvSpPr txBox="1"/>
          <p:nvPr/>
        </p:nvSpPr>
        <p:spPr>
          <a:xfrm>
            <a:off x="9208008" y="1901952"/>
            <a:ext cx="2194560" cy="621792"/>
          </a:xfrm>
          <a:prstGeom prst="rect">
            <a:avLst/>
          </a:prstGeom>
          <a:noFill/>
          <a:ln/>
        </p:spPr>
        <p:txBody>
          <a:bodyPr wrap="square" lIns="0" tIns="0" rIns="0" bIns="0" rtlCol="0" anchor="t"/>
          <a:lstStyle/>
          <a:p>
            <a:pPr indent="0" marL="0">
              <a:lnSpc>
                <a:spcPts val="2000"/>
              </a:lnSpc>
              <a:buNone/>
            </a:pPr>
            <a:r>
              <a:rPr lang="en-US" sz="1800" b="1" dirty="0">
                <a:solidFill>
                  <a:srgbClr val="868E99"/>
                </a:solidFill>
                <a:latin typeface="Arial Narrow" pitchFamily="34" charset="0"/>
                <a:ea typeface="Arial Narrow" pitchFamily="34" charset="-122"/>
                <a:cs typeface="Arial Narrow" pitchFamily="34" charset="-120"/>
              </a:rPr>
              <a:t>Canal secondaire · la communauté</a:t>
            </a:r>
            <a:endParaRPr lang="en-US" sz="1800" dirty="0"/>
          </a:p>
        </p:txBody>
      </p:sp>
      <p:sp>
        <p:nvSpPr>
          <p:cNvPr id="15" name="Text 13"/>
          <p:cNvSpPr txBox="1"/>
          <p:nvPr/>
        </p:nvSpPr>
        <p:spPr>
          <a:xfrm>
            <a:off x="9208008" y="2578608"/>
            <a:ext cx="2194560" cy="1426464"/>
          </a:xfrm>
          <a:prstGeom prst="rect">
            <a:avLst/>
          </a:prstGeom>
          <a:noFill/>
          <a:ln/>
        </p:spPr>
        <p:txBody>
          <a:bodyPr wrap="square" lIns="0" tIns="0" rIns="0" bIns="0" rtlCol="0" anchor="t"/>
          <a:lstStyle/>
          <a:p>
            <a:pPr indent="0" marL="0">
              <a:lnSpc>
                <a:spcPts val="1600"/>
              </a:lnSpc>
              <a:buNone/>
            </a:pPr>
            <a:r>
              <a:rPr lang="en-US" sz="1100" dirty="0">
                <a:solidFill>
                  <a:srgbClr val="ADB2B9"/>
                </a:solidFill>
                <a:latin typeface="Calibri" pitchFamily="34" charset="0"/>
                <a:ea typeface="Calibri" pitchFamily="34" charset="-122"/>
                <a:cs typeface="Calibri" pitchFamily="34" charset="-120"/>
              </a:rPr>
              <a:t>Une version auto-hébergeable, distribuée aux utilisateurs de Grocy et du self-hosting : visibilité gratuite et utilisateurs exigeants qui remontent les défauts.</a:t>
            </a:r>
            <a:endParaRPr lang="en-US" sz="1100" dirty="0"/>
          </a:p>
        </p:txBody>
      </p:sp>
      <p:sp>
        <p:nvSpPr>
          <p:cNvPr id="16" name="Shape 14"/>
          <p:cNvSpPr/>
          <p:nvPr/>
        </p:nvSpPr>
        <p:spPr>
          <a:xfrm>
            <a:off x="548640" y="4370832"/>
            <a:ext cx="11091672" cy="1152144"/>
          </a:xfrm>
          <a:prstGeom prst="roundRect">
            <a:avLst>
              <a:gd name="adj" fmla="val 5556"/>
            </a:avLst>
          </a:prstGeom>
          <a:solidFill>
            <a:srgbClr val="23272E"/>
          </a:solidFill>
          <a:ln w="9525">
            <a:solidFill>
              <a:srgbClr val="2F343D"/>
            </a:solidFill>
            <a:prstDash val="solid"/>
          </a:ln>
        </p:spPr>
      </p:sp>
      <p:sp>
        <p:nvSpPr>
          <p:cNvPr id="17" name="Text 15"/>
          <p:cNvSpPr txBox="1"/>
          <p:nvPr/>
        </p:nvSpPr>
        <p:spPr>
          <a:xfrm>
            <a:off x="877824" y="4498848"/>
            <a:ext cx="2743200" cy="256032"/>
          </a:xfrm>
          <a:prstGeom prst="rect">
            <a:avLst/>
          </a:prstGeom>
          <a:noFill/>
          <a:ln/>
        </p:spPr>
        <p:txBody>
          <a:bodyPr wrap="square" lIns="0" tIns="0" rIns="0" bIns="0" rtlCol="0" anchor="ctr"/>
          <a:lstStyle/>
          <a:p>
            <a:pPr indent="0" marL="0">
              <a:buNone/>
            </a:pPr>
            <a:r>
              <a:rPr lang="en-US" sz="900" b="1" spc="150" kern="0" dirty="0">
                <a:solidFill>
                  <a:srgbClr val="E3B23C"/>
                </a:solidFill>
                <a:latin typeface="Calibri" pitchFamily="34" charset="0"/>
                <a:ea typeface="Calibri" pitchFamily="34" charset="-122"/>
                <a:cs typeface="Calibri" pitchFamily="34" charset="-120"/>
              </a:rPr>
              <a:t>BUDGET MARKETING</a:t>
            </a:r>
            <a:endParaRPr lang="en-US" sz="900" dirty="0"/>
          </a:p>
        </p:txBody>
      </p:sp>
      <p:sp>
        <p:nvSpPr>
          <p:cNvPr id="18" name="Text 16"/>
          <p:cNvSpPr txBox="1"/>
          <p:nvPr/>
        </p:nvSpPr>
        <p:spPr>
          <a:xfrm>
            <a:off x="877824" y="4791456"/>
            <a:ext cx="1737360" cy="219456"/>
          </a:xfrm>
          <a:prstGeom prst="rect">
            <a:avLst/>
          </a:prstGeom>
          <a:noFill/>
          <a:ln/>
        </p:spPr>
        <p:txBody>
          <a:bodyPr wrap="square" lIns="0" tIns="0" rIns="0" bIns="0" rtlCol="0" anchor="ctr"/>
          <a:lstStyle/>
          <a:p>
            <a:pPr indent="0" marL="0">
              <a:buNone/>
            </a:pPr>
            <a:r>
              <a:rPr lang="en-US" sz="1000" dirty="0">
                <a:solidFill>
                  <a:srgbClr val="868E99"/>
                </a:solidFill>
                <a:latin typeface="Calibri" pitchFamily="34" charset="0"/>
                <a:ea typeface="Calibri" pitchFamily="34" charset="-122"/>
                <a:cs typeface="Calibri" pitchFamily="34" charset="-120"/>
              </a:rPr>
              <a:t>Année 1</a:t>
            </a:r>
            <a:endParaRPr lang="en-US" sz="1000" dirty="0"/>
          </a:p>
        </p:txBody>
      </p:sp>
      <p:sp>
        <p:nvSpPr>
          <p:cNvPr id="19" name="Text 17"/>
          <p:cNvSpPr txBox="1"/>
          <p:nvPr/>
        </p:nvSpPr>
        <p:spPr>
          <a:xfrm>
            <a:off x="877824" y="4992624"/>
            <a:ext cx="1737360" cy="384048"/>
          </a:xfrm>
          <a:prstGeom prst="rect">
            <a:avLst/>
          </a:prstGeom>
          <a:noFill/>
          <a:ln/>
        </p:spPr>
        <p:txBody>
          <a:bodyPr wrap="square" lIns="0" tIns="0" rIns="0" bIns="0" rtlCol="0" anchor="ctr"/>
          <a:lstStyle/>
          <a:p>
            <a:pPr indent="0" marL="0">
              <a:buNone/>
            </a:pPr>
            <a:r>
              <a:rPr lang="en-US" sz="2400" b="1" dirty="0">
                <a:solidFill>
                  <a:srgbClr val="E8EAED"/>
                </a:solidFill>
                <a:latin typeface="Arial Narrow" pitchFamily="34" charset="0"/>
                <a:ea typeface="Arial Narrow" pitchFamily="34" charset="-122"/>
                <a:cs typeface="Arial Narrow" pitchFamily="34" charset="-120"/>
              </a:rPr>
              <a:t>3 000 €</a:t>
            </a:r>
            <a:endParaRPr lang="en-US" sz="2400" dirty="0"/>
          </a:p>
        </p:txBody>
      </p:sp>
      <p:sp>
        <p:nvSpPr>
          <p:cNvPr id="20" name="Text 18"/>
          <p:cNvSpPr txBox="1"/>
          <p:nvPr/>
        </p:nvSpPr>
        <p:spPr>
          <a:xfrm>
            <a:off x="2798064" y="4791456"/>
            <a:ext cx="1737360" cy="219456"/>
          </a:xfrm>
          <a:prstGeom prst="rect">
            <a:avLst/>
          </a:prstGeom>
          <a:noFill/>
          <a:ln/>
        </p:spPr>
        <p:txBody>
          <a:bodyPr wrap="square" lIns="0" tIns="0" rIns="0" bIns="0" rtlCol="0" anchor="ctr"/>
          <a:lstStyle/>
          <a:p>
            <a:pPr indent="0" marL="0">
              <a:buNone/>
            </a:pPr>
            <a:r>
              <a:rPr lang="en-US" sz="1000" dirty="0">
                <a:solidFill>
                  <a:srgbClr val="868E99"/>
                </a:solidFill>
                <a:latin typeface="Calibri" pitchFamily="34" charset="0"/>
                <a:ea typeface="Calibri" pitchFamily="34" charset="-122"/>
                <a:cs typeface="Calibri" pitchFamily="34" charset="-120"/>
              </a:rPr>
              <a:t>Année 2</a:t>
            </a:r>
            <a:endParaRPr lang="en-US" sz="1000" dirty="0"/>
          </a:p>
        </p:txBody>
      </p:sp>
      <p:sp>
        <p:nvSpPr>
          <p:cNvPr id="21" name="Text 19"/>
          <p:cNvSpPr txBox="1"/>
          <p:nvPr/>
        </p:nvSpPr>
        <p:spPr>
          <a:xfrm>
            <a:off x="2798064" y="4992624"/>
            <a:ext cx="1737360" cy="384048"/>
          </a:xfrm>
          <a:prstGeom prst="rect">
            <a:avLst/>
          </a:prstGeom>
          <a:noFill/>
          <a:ln/>
        </p:spPr>
        <p:txBody>
          <a:bodyPr wrap="square" lIns="0" tIns="0" rIns="0" bIns="0" rtlCol="0" anchor="ctr"/>
          <a:lstStyle/>
          <a:p>
            <a:pPr indent="0" marL="0">
              <a:buNone/>
            </a:pPr>
            <a:r>
              <a:rPr lang="en-US" sz="2400" b="1" dirty="0">
                <a:solidFill>
                  <a:srgbClr val="E8EAED"/>
                </a:solidFill>
                <a:latin typeface="Arial Narrow" pitchFamily="34" charset="0"/>
                <a:ea typeface="Arial Narrow" pitchFamily="34" charset="-122"/>
                <a:cs typeface="Arial Narrow" pitchFamily="34" charset="-120"/>
              </a:rPr>
              <a:t>8 000 €</a:t>
            </a:r>
            <a:endParaRPr lang="en-US" sz="2400" dirty="0"/>
          </a:p>
        </p:txBody>
      </p:sp>
      <p:sp>
        <p:nvSpPr>
          <p:cNvPr id="22" name="Text 20"/>
          <p:cNvSpPr txBox="1"/>
          <p:nvPr/>
        </p:nvSpPr>
        <p:spPr>
          <a:xfrm>
            <a:off x="4718304" y="4791456"/>
            <a:ext cx="1737360" cy="219456"/>
          </a:xfrm>
          <a:prstGeom prst="rect">
            <a:avLst/>
          </a:prstGeom>
          <a:noFill/>
          <a:ln/>
        </p:spPr>
        <p:txBody>
          <a:bodyPr wrap="square" lIns="0" tIns="0" rIns="0" bIns="0" rtlCol="0" anchor="ctr"/>
          <a:lstStyle/>
          <a:p>
            <a:pPr indent="0" marL="0">
              <a:buNone/>
            </a:pPr>
            <a:r>
              <a:rPr lang="en-US" sz="1000" dirty="0">
                <a:solidFill>
                  <a:srgbClr val="868E99"/>
                </a:solidFill>
                <a:latin typeface="Calibri" pitchFamily="34" charset="0"/>
                <a:ea typeface="Calibri" pitchFamily="34" charset="-122"/>
                <a:cs typeface="Calibri" pitchFamily="34" charset="-120"/>
              </a:rPr>
              <a:t>Année 3</a:t>
            </a:r>
            <a:endParaRPr lang="en-US" sz="1000" dirty="0"/>
          </a:p>
        </p:txBody>
      </p:sp>
      <p:sp>
        <p:nvSpPr>
          <p:cNvPr id="23" name="Text 21"/>
          <p:cNvSpPr txBox="1"/>
          <p:nvPr/>
        </p:nvSpPr>
        <p:spPr>
          <a:xfrm>
            <a:off x="4718304" y="4992624"/>
            <a:ext cx="1737360" cy="384048"/>
          </a:xfrm>
          <a:prstGeom prst="rect">
            <a:avLst/>
          </a:prstGeom>
          <a:noFill/>
          <a:ln/>
        </p:spPr>
        <p:txBody>
          <a:bodyPr wrap="square" lIns="0" tIns="0" rIns="0" bIns="0" rtlCol="0" anchor="ctr"/>
          <a:lstStyle/>
          <a:p>
            <a:pPr indent="0" marL="0">
              <a:buNone/>
            </a:pPr>
            <a:r>
              <a:rPr lang="en-US" sz="2400" b="1" dirty="0">
                <a:solidFill>
                  <a:srgbClr val="E8EAED"/>
                </a:solidFill>
                <a:latin typeface="Arial Narrow" pitchFamily="34" charset="0"/>
                <a:ea typeface="Arial Narrow" pitchFamily="34" charset="-122"/>
                <a:cs typeface="Arial Narrow" pitchFamily="34" charset="-120"/>
              </a:rPr>
              <a:t>15 000 €</a:t>
            </a:r>
            <a:endParaRPr lang="en-US" sz="2400" dirty="0"/>
          </a:p>
        </p:txBody>
      </p:sp>
      <p:sp>
        <p:nvSpPr>
          <p:cNvPr id="24" name="Text 22"/>
          <p:cNvSpPr txBox="1"/>
          <p:nvPr/>
        </p:nvSpPr>
        <p:spPr>
          <a:xfrm>
            <a:off x="6858000" y="4370832"/>
            <a:ext cx="4453128" cy="1152144"/>
          </a:xfrm>
          <a:prstGeom prst="rect">
            <a:avLst/>
          </a:prstGeom>
          <a:noFill/>
          <a:ln/>
        </p:spPr>
        <p:txBody>
          <a:bodyPr wrap="square" lIns="0" tIns="0" rIns="0" bIns="0" rtlCol="0" anchor="ctr"/>
          <a:lstStyle/>
          <a:p>
            <a:pPr indent="0" marL="0">
              <a:buNone/>
            </a:pPr>
            <a:r>
              <a:rPr lang="en-US" sz="1300" dirty="0">
                <a:solidFill>
                  <a:srgbClr val="ADB2B9"/>
                </a:solidFill>
                <a:latin typeface="Calibri" pitchFamily="34" charset="0"/>
                <a:ea typeface="Calibri" pitchFamily="34" charset="-122"/>
                <a:cs typeface="Calibri" pitchFamily="34" charset="-120"/>
              </a:rPr>
              <a:t>Coût d'acquisition implicite, année 2 : </a:t>
            </a:r>
            <a:pPr indent="0" marL="0">
              <a:buNone/>
            </a:pPr>
            <a:r>
              <a:rPr lang="en-US" sz="1300" b="1" dirty="0">
                <a:solidFill>
                  <a:srgbClr val="E3B23C"/>
                </a:solidFill>
                <a:latin typeface="Calibri" pitchFamily="34" charset="0"/>
                <a:ea typeface="Calibri" pitchFamily="34" charset="-122"/>
                <a:cs typeface="Calibri" pitchFamily="34" charset="-120"/>
              </a:rPr>
              <a:t>environ 85 € par professionnel</a:t>
            </a:r>
            <a:pPr indent="0" marL="0">
              <a:buNone/>
            </a:pPr>
            <a:r>
              <a:rPr lang="en-US" sz="1300" dirty="0">
                <a:solidFill>
                  <a:srgbClr val="ADB2B9"/>
                </a:solidFill>
                <a:latin typeface="Calibri" pitchFamily="34" charset="0"/>
                <a:ea typeface="Calibri" pitchFamily="34" charset="-122"/>
                <a:cs typeface="Calibri" pitchFamily="34" charset="-120"/>
              </a:rPr>
              <a:t>, soit deux mois d'abonnement.</a:t>
            </a:r>
            <a:endParaRPr lang="en-US" sz="1300" dirty="0"/>
          </a:p>
        </p:txBody>
      </p:sp>
      <p:sp>
        <p:nvSpPr>
          <p:cNvPr id="25" name="Text 23"/>
          <p:cNvSpPr txBox="1"/>
          <p:nvPr/>
        </p:nvSpPr>
        <p:spPr>
          <a:xfrm>
            <a:off x="548640" y="5961888"/>
            <a:ext cx="11091672" cy="310896"/>
          </a:xfrm>
          <a:prstGeom prst="rect">
            <a:avLst/>
          </a:prstGeom>
          <a:noFill/>
          <a:ln/>
        </p:spPr>
        <p:txBody>
          <a:bodyPr wrap="square" lIns="0" tIns="0" rIns="0" bIns="0" rtlCol="0" anchor="ctr"/>
          <a:lstStyle/>
          <a:p>
            <a:pPr indent="0" marL="0">
              <a:buNone/>
            </a:pPr>
            <a:r>
              <a:rPr lang="en-US" sz="950" i="1" dirty="0">
                <a:solidFill>
                  <a:srgbClr val="868E99"/>
                </a:solidFill>
                <a:latin typeface="Calibri" pitchFamily="34" charset="0"/>
                <a:ea typeface="Calibri" pitchFamily="34" charset="-122"/>
                <a:cs typeface="Calibri" pitchFamily="34" charset="-120"/>
              </a:rPr>
              <a:t>Canaux à arbitrer après les dix entretiens du mois 1</a:t>
            </a:r>
            <a:endParaRPr lang="en-US" sz="950" dirty="0"/>
          </a:p>
        </p:txBody>
      </p:sp>
      <p:sp>
        <p:nvSpPr>
          <p:cNvPr id="26" name="Text 24"/>
          <p:cNvSpPr txBox="1"/>
          <p:nvPr/>
        </p:nvSpPr>
        <p:spPr>
          <a:xfrm>
            <a:off x="548640" y="6336792"/>
            <a:ext cx="8229600" cy="274320"/>
          </a:xfrm>
          <a:prstGeom prst="rect">
            <a:avLst/>
          </a:prstGeom>
          <a:noFill/>
          <a:ln/>
        </p:spPr>
        <p:txBody>
          <a:bodyPr wrap="square" lIns="0" tIns="0" rIns="0" bIns="0" rtlCol="0" anchor="ctr"/>
          <a:lstStyle/>
          <a:p>
            <a:pPr algn="l" indent="0" marL="0">
              <a:buNone/>
            </a:pPr>
            <a:r>
              <a:rPr lang="en-US" sz="900" dirty="0">
                <a:solidFill>
                  <a:srgbClr val="868E99"/>
                </a:solidFill>
                <a:latin typeface="Calibri" pitchFamily="34" charset="0"/>
                <a:ea typeface="Calibri" pitchFamily="34" charset="-122"/>
                <a:cs typeface="Calibri" pitchFamily="34" charset="-120"/>
              </a:rPr>
              <a:t>fitcarnet Pro · business plan · 21 septembre 2026</a:t>
            </a:r>
            <a:endParaRPr lang="en-US" sz="900" dirty="0"/>
          </a:p>
        </p:txBody>
      </p:sp>
      <p:sp>
        <p:nvSpPr>
          <p:cNvPr id="27" name="Text 25"/>
          <p:cNvSpPr txBox="1"/>
          <p:nvPr/>
        </p:nvSpPr>
        <p:spPr>
          <a:xfrm>
            <a:off x="8897112" y="6336792"/>
            <a:ext cx="2743200" cy="274320"/>
          </a:xfrm>
          <a:prstGeom prst="rect">
            <a:avLst/>
          </a:prstGeom>
          <a:noFill/>
          <a:ln/>
        </p:spPr>
        <p:txBody>
          <a:bodyPr wrap="square" lIns="0" tIns="0" rIns="0" bIns="0" rtlCol="0" anchor="ctr"/>
          <a:lstStyle/>
          <a:p>
            <a:pPr algn="r" indent="0" marL="0">
              <a:buNone/>
            </a:pPr>
            <a:r>
              <a:rPr lang="en-US" sz="900" dirty="0">
                <a:solidFill>
                  <a:srgbClr val="868E99"/>
                </a:solidFill>
                <a:latin typeface="Calibri" pitchFamily="34" charset="0"/>
                <a:ea typeface="Calibri" pitchFamily="34" charset="-122"/>
                <a:cs typeface="Calibri" pitchFamily="34" charset="-120"/>
              </a:rPr>
              <a:t>12 / 24</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161A"/>
        </a:solidFill>
      </p:bgPr>
    </p:bg>
    <p:spTree>
      <p:nvGrpSpPr>
        <p:cNvPr id="1" name=""/>
        <p:cNvGrpSpPr/>
        <p:nvPr/>
      </p:nvGrpSpPr>
      <p:grpSpPr>
        <a:xfrm>
          <a:off x="0" y="0"/>
          <a:ext cx="0" cy="0"/>
          <a:chOff x="0" y="0"/>
          <a:chExt cx="0" cy="0"/>
        </a:xfrm>
      </p:grpSpPr>
      <p:sp>
        <p:nvSpPr>
          <p:cNvPr id="2" name="Text 0"/>
          <p:cNvSpPr txBox="1"/>
          <p:nvPr/>
        </p:nvSpPr>
        <p:spPr>
          <a:xfrm>
            <a:off x="548640" y="347472"/>
            <a:ext cx="11091672" cy="237744"/>
          </a:xfrm>
          <a:prstGeom prst="rect">
            <a:avLst/>
          </a:prstGeom>
          <a:noFill/>
          <a:ln/>
        </p:spPr>
        <p:txBody>
          <a:bodyPr wrap="square" lIns="0" tIns="0" rIns="0" bIns="0" rtlCol="0" anchor="ctr"/>
          <a:lstStyle/>
          <a:p>
            <a:pPr indent="0" marL="0">
              <a:buNone/>
            </a:pPr>
            <a:r>
              <a:rPr lang="en-US" sz="1050" b="1" spc="200" kern="0" dirty="0">
                <a:solidFill>
                  <a:srgbClr val="E3B23C"/>
                </a:solidFill>
                <a:latin typeface="Calibri" pitchFamily="34" charset="0"/>
                <a:ea typeface="Calibri" pitchFamily="34" charset="-122"/>
                <a:cs typeface="Calibri" pitchFamily="34" charset="-120"/>
              </a:rPr>
              <a:t>MODÈLE ÉCONOMIQUE</a:t>
            </a:r>
            <a:endParaRPr lang="en-US" sz="1050" dirty="0"/>
          </a:p>
        </p:txBody>
      </p:sp>
      <p:sp>
        <p:nvSpPr>
          <p:cNvPr id="3" name="Text 1"/>
          <p:cNvSpPr txBox="1"/>
          <p:nvPr/>
        </p:nvSpPr>
        <p:spPr>
          <a:xfrm>
            <a:off x="548640" y="603504"/>
            <a:ext cx="11091672" cy="566928"/>
          </a:xfrm>
          <a:prstGeom prst="rect">
            <a:avLst/>
          </a:prstGeom>
          <a:noFill/>
          <a:ln/>
        </p:spPr>
        <p:txBody>
          <a:bodyPr wrap="square" lIns="0" tIns="0" rIns="0" bIns="0" rtlCol="0" anchor="ctr"/>
          <a:lstStyle/>
          <a:p>
            <a:pPr indent="0" marL="0">
              <a:buNone/>
            </a:pPr>
            <a:r>
              <a:rPr lang="en-US" sz="3000" b="1" dirty="0">
                <a:solidFill>
                  <a:srgbClr val="E8EAED"/>
                </a:solidFill>
                <a:latin typeface="Arial Narrow" pitchFamily="34" charset="0"/>
                <a:ea typeface="Arial Narrow" pitchFamily="34" charset="-122"/>
                <a:cs typeface="Arial Narrow" pitchFamily="34" charset="-120"/>
              </a:rPr>
              <a:t>Les hypothèses qui portent tout le prévisionnel</a:t>
            </a:r>
            <a:endParaRPr lang="en-US" sz="3000" dirty="0"/>
          </a:p>
        </p:txBody>
      </p:sp>
      <p:sp>
        <p:nvSpPr>
          <p:cNvPr id="4" name="Text 2"/>
          <p:cNvSpPr txBox="1"/>
          <p:nvPr/>
        </p:nvSpPr>
        <p:spPr>
          <a:xfrm>
            <a:off x="548640" y="1700784"/>
            <a:ext cx="3931920" cy="256032"/>
          </a:xfrm>
          <a:prstGeom prst="rect">
            <a:avLst/>
          </a:prstGeom>
          <a:noFill/>
          <a:ln/>
        </p:spPr>
        <p:txBody>
          <a:bodyPr wrap="square" lIns="0" tIns="0" rIns="0" bIns="0" rtlCol="0" anchor="ctr"/>
          <a:lstStyle/>
          <a:p>
            <a:pPr algn="l" indent="0" marL="0">
              <a:buNone/>
            </a:pPr>
            <a:r>
              <a:rPr lang="en-US" sz="850" b="1" spc="100" kern="0" dirty="0">
                <a:solidFill>
                  <a:srgbClr val="868E99"/>
                </a:solidFill>
                <a:latin typeface="Calibri" pitchFamily="34" charset="0"/>
                <a:ea typeface="Calibri" pitchFamily="34" charset="-122"/>
                <a:cs typeface="Calibri" pitchFamily="34" charset="-120"/>
              </a:rPr>
              <a:t>HYPOTHÈSE</a:t>
            </a:r>
            <a:endParaRPr lang="en-US" sz="850" dirty="0"/>
          </a:p>
        </p:txBody>
      </p:sp>
      <p:sp>
        <p:nvSpPr>
          <p:cNvPr id="5" name="Text 3"/>
          <p:cNvSpPr txBox="1"/>
          <p:nvPr/>
        </p:nvSpPr>
        <p:spPr>
          <a:xfrm>
            <a:off x="4480560" y="1700784"/>
            <a:ext cx="2011680" cy="256032"/>
          </a:xfrm>
          <a:prstGeom prst="rect">
            <a:avLst/>
          </a:prstGeom>
          <a:noFill/>
          <a:ln/>
        </p:spPr>
        <p:txBody>
          <a:bodyPr wrap="square" lIns="0" tIns="0" rIns="0" bIns="0" rtlCol="0" anchor="ctr"/>
          <a:lstStyle/>
          <a:p>
            <a:pPr algn="r" indent="0" marL="0">
              <a:buNone/>
            </a:pPr>
            <a:r>
              <a:rPr lang="en-US" sz="850" b="1" spc="100" kern="0" dirty="0">
                <a:solidFill>
                  <a:srgbClr val="868E99"/>
                </a:solidFill>
                <a:latin typeface="Calibri" pitchFamily="34" charset="0"/>
                <a:ea typeface="Calibri" pitchFamily="34" charset="-122"/>
                <a:cs typeface="Calibri" pitchFamily="34" charset="-120"/>
              </a:rPr>
              <a:t>VALEUR</a:t>
            </a:r>
            <a:endParaRPr lang="en-US" sz="850" dirty="0"/>
          </a:p>
        </p:txBody>
      </p:sp>
      <p:sp>
        <p:nvSpPr>
          <p:cNvPr id="6" name="Text 4"/>
          <p:cNvSpPr txBox="1"/>
          <p:nvPr/>
        </p:nvSpPr>
        <p:spPr>
          <a:xfrm>
            <a:off x="6492240" y="1700784"/>
            <a:ext cx="5148072" cy="256032"/>
          </a:xfrm>
          <a:prstGeom prst="rect">
            <a:avLst/>
          </a:prstGeom>
          <a:noFill/>
          <a:ln/>
        </p:spPr>
        <p:txBody>
          <a:bodyPr wrap="square" lIns="0" tIns="0" rIns="0" bIns="0" rtlCol="0" anchor="ctr"/>
          <a:lstStyle/>
          <a:p>
            <a:pPr algn="l" indent="0" marL="0">
              <a:buNone/>
            </a:pPr>
            <a:r>
              <a:rPr lang="en-US" sz="850" b="1" spc="100" kern="0" dirty="0">
                <a:solidFill>
                  <a:srgbClr val="868E99"/>
                </a:solidFill>
                <a:latin typeface="Calibri" pitchFamily="34" charset="0"/>
                <a:ea typeface="Calibri" pitchFamily="34" charset="-122"/>
                <a:cs typeface="Calibri" pitchFamily="34" charset="-120"/>
              </a:rPr>
              <a:t>JUSTIFICATION</a:t>
            </a:r>
            <a:endParaRPr lang="en-US" sz="850" dirty="0"/>
          </a:p>
        </p:txBody>
      </p:sp>
      <p:sp>
        <p:nvSpPr>
          <p:cNvPr id="7" name="Text 5"/>
          <p:cNvSpPr txBox="1"/>
          <p:nvPr/>
        </p:nvSpPr>
        <p:spPr>
          <a:xfrm>
            <a:off x="548640" y="1975104"/>
            <a:ext cx="3931920" cy="365760"/>
          </a:xfrm>
          <a:prstGeom prst="rect">
            <a:avLst/>
          </a:prstGeom>
          <a:noFill/>
          <a:ln/>
        </p:spPr>
        <p:txBody>
          <a:bodyPr wrap="square" lIns="0" tIns="0" rIns="0" bIns="0" rtlCol="0" anchor="ctr"/>
          <a:lstStyle/>
          <a:p>
            <a:pPr algn="l" indent="0" marL="0">
              <a:buNone/>
            </a:pPr>
            <a:r>
              <a:rPr lang="en-US" sz="1150" dirty="0">
                <a:solidFill>
                  <a:srgbClr val="E8EAED"/>
                </a:solidFill>
                <a:latin typeface="Calibri" pitchFamily="34" charset="0"/>
                <a:ea typeface="Calibri" pitchFamily="34" charset="-122"/>
                <a:cs typeface="Calibri" pitchFamily="34" charset="-120"/>
              </a:rPr>
              <a:t>Panier moyen par professionnel</a:t>
            </a:r>
            <a:endParaRPr lang="en-US" sz="1150" dirty="0"/>
          </a:p>
        </p:txBody>
      </p:sp>
      <p:sp>
        <p:nvSpPr>
          <p:cNvPr id="8" name="Text 6"/>
          <p:cNvSpPr txBox="1"/>
          <p:nvPr/>
        </p:nvSpPr>
        <p:spPr>
          <a:xfrm>
            <a:off x="4480560" y="1975104"/>
            <a:ext cx="2011680" cy="365760"/>
          </a:xfrm>
          <a:prstGeom prst="rect">
            <a:avLst/>
          </a:prstGeom>
          <a:noFill/>
          <a:ln/>
        </p:spPr>
        <p:txBody>
          <a:bodyPr wrap="square" lIns="0" tIns="0" rIns="0" bIns="0" rtlCol="0" anchor="ctr"/>
          <a:lstStyle/>
          <a:p>
            <a:pPr algn="r" indent="0" marL="0">
              <a:buNone/>
            </a:pPr>
            <a:r>
              <a:rPr lang="en-US" sz="1150" b="1" dirty="0">
                <a:solidFill>
                  <a:srgbClr val="E3B23C"/>
                </a:solidFill>
                <a:latin typeface="Calibri" pitchFamily="34" charset="0"/>
                <a:ea typeface="Calibri" pitchFamily="34" charset="-122"/>
                <a:cs typeface="Calibri" pitchFamily="34" charset="-120"/>
              </a:rPr>
              <a:t>42 € HT/mois</a:t>
            </a:r>
            <a:endParaRPr lang="en-US" sz="1150" dirty="0"/>
          </a:p>
        </p:txBody>
      </p:sp>
      <p:sp>
        <p:nvSpPr>
          <p:cNvPr id="9" name="Text 7"/>
          <p:cNvSpPr txBox="1"/>
          <p:nvPr/>
        </p:nvSpPr>
        <p:spPr>
          <a:xfrm>
            <a:off x="6492240" y="1975104"/>
            <a:ext cx="5148072" cy="365760"/>
          </a:xfrm>
          <a:prstGeom prst="rect">
            <a:avLst/>
          </a:prstGeom>
          <a:noFill/>
          <a:ln/>
        </p:spPr>
        <p:txBody>
          <a:bodyPr wrap="square" lIns="0" tIns="0" rIns="0" bIns="0" rtlCol="0" anchor="ctr"/>
          <a:lstStyle/>
          <a:p>
            <a:pPr algn="l" indent="0" marL="0">
              <a:buNone/>
            </a:pPr>
            <a:r>
              <a:rPr lang="en-US" sz="1150" dirty="0">
                <a:solidFill>
                  <a:srgbClr val="ADB2B9"/>
                </a:solidFill>
                <a:latin typeface="Calibri" pitchFamily="34" charset="0"/>
                <a:ea typeface="Calibri" pitchFamily="34" charset="-122"/>
                <a:cs typeface="Calibri" pitchFamily="34" charset="-120"/>
              </a:rPr>
              <a:t>Mélange supposé : 45 % Solo, 45 % Pro, 10 % Studio</a:t>
            </a:r>
            <a:endParaRPr lang="en-US" sz="1150" dirty="0"/>
          </a:p>
        </p:txBody>
      </p:sp>
      <p:sp>
        <p:nvSpPr>
          <p:cNvPr id="10" name="Shape 8"/>
          <p:cNvSpPr/>
          <p:nvPr/>
        </p:nvSpPr>
        <p:spPr>
          <a:xfrm>
            <a:off x="475488" y="2340864"/>
            <a:ext cx="11237976" cy="365760"/>
          </a:xfrm>
          <a:prstGeom prst="rect">
            <a:avLst/>
          </a:prstGeom>
          <a:solidFill>
            <a:srgbClr val="1D2026"/>
          </a:solidFill>
          <a:ln w="12700">
            <a:solidFill>
              <a:srgbClr val="1D2026"/>
            </a:solidFill>
            <a:prstDash val="solid"/>
          </a:ln>
        </p:spPr>
      </p:sp>
      <p:sp>
        <p:nvSpPr>
          <p:cNvPr id="11" name="Text 9"/>
          <p:cNvSpPr txBox="1"/>
          <p:nvPr/>
        </p:nvSpPr>
        <p:spPr>
          <a:xfrm>
            <a:off x="548640" y="2340864"/>
            <a:ext cx="3931920" cy="365760"/>
          </a:xfrm>
          <a:prstGeom prst="rect">
            <a:avLst/>
          </a:prstGeom>
          <a:noFill/>
          <a:ln/>
        </p:spPr>
        <p:txBody>
          <a:bodyPr wrap="square" lIns="0" tIns="0" rIns="0" bIns="0" rtlCol="0" anchor="ctr"/>
          <a:lstStyle/>
          <a:p>
            <a:pPr algn="l" indent="0" marL="0">
              <a:buNone/>
            </a:pPr>
            <a:r>
              <a:rPr lang="en-US" sz="1150" dirty="0">
                <a:solidFill>
                  <a:srgbClr val="E8EAED"/>
                </a:solidFill>
                <a:latin typeface="Calibri" pitchFamily="34" charset="0"/>
                <a:ea typeface="Calibri" pitchFamily="34" charset="-122"/>
                <a:cs typeface="Calibri" pitchFamily="34" charset="-120"/>
              </a:rPr>
              <a:t>Premiers clients payants</a:t>
            </a:r>
            <a:endParaRPr lang="en-US" sz="1150" dirty="0"/>
          </a:p>
        </p:txBody>
      </p:sp>
      <p:sp>
        <p:nvSpPr>
          <p:cNvPr id="12" name="Text 10"/>
          <p:cNvSpPr txBox="1"/>
          <p:nvPr/>
        </p:nvSpPr>
        <p:spPr>
          <a:xfrm>
            <a:off x="4480560" y="2340864"/>
            <a:ext cx="2011680" cy="365760"/>
          </a:xfrm>
          <a:prstGeom prst="rect">
            <a:avLst/>
          </a:prstGeom>
          <a:noFill/>
          <a:ln/>
        </p:spPr>
        <p:txBody>
          <a:bodyPr wrap="square" lIns="0" tIns="0" rIns="0" bIns="0" rtlCol="0" anchor="ctr"/>
          <a:lstStyle/>
          <a:p>
            <a:pPr algn="r" indent="0" marL="0">
              <a:buNone/>
            </a:pPr>
            <a:r>
              <a:rPr lang="en-US" sz="1150" dirty="0">
                <a:solidFill>
                  <a:srgbClr val="E8EAED"/>
                </a:solidFill>
                <a:latin typeface="Calibri" pitchFamily="34" charset="0"/>
                <a:ea typeface="Calibri" pitchFamily="34" charset="-122"/>
                <a:cs typeface="Calibri" pitchFamily="34" charset="-120"/>
              </a:rPr>
              <a:t>mois 7</a:t>
            </a:r>
            <a:endParaRPr lang="en-US" sz="1150" dirty="0"/>
          </a:p>
        </p:txBody>
      </p:sp>
      <p:sp>
        <p:nvSpPr>
          <p:cNvPr id="13" name="Text 11"/>
          <p:cNvSpPr txBox="1"/>
          <p:nvPr/>
        </p:nvSpPr>
        <p:spPr>
          <a:xfrm>
            <a:off x="6492240" y="2340864"/>
            <a:ext cx="5148072" cy="365760"/>
          </a:xfrm>
          <a:prstGeom prst="rect">
            <a:avLst/>
          </a:prstGeom>
          <a:noFill/>
          <a:ln/>
        </p:spPr>
        <p:txBody>
          <a:bodyPr wrap="square" lIns="0" tIns="0" rIns="0" bIns="0" rtlCol="0" anchor="ctr"/>
          <a:lstStyle/>
          <a:p>
            <a:pPr algn="l" indent="0" marL="0">
              <a:buNone/>
            </a:pPr>
            <a:r>
              <a:rPr lang="en-US" sz="1150" dirty="0">
                <a:solidFill>
                  <a:srgbClr val="ADB2B9"/>
                </a:solidFill>
                <a:latin typeface="Calibri" pitchFamily="34" charset="0"/>
                <a:ea typeface="Calibri" pitchFamily="34" charset="-122"/>
                <a:cs typeface="Calibri" pitchFamily="34" charset="-120"/>
              </a:rPr>
              <a:t>6 mois de construction et de pilote gratuit</a:t>
            </a:r>
            <a:endParaRPr lang="en-US" sz="1150" dirty="0"/>
          </a:p>
        </p:txBody>
      </p:sp>
      <p:sp>
        <p:nvSpPr>
          <p:cNvPr id="14" name="Text 12"/>
          <p:cNvSpPr txBox="1"/>
          <p:nvPr/>
        </p:nvSpPr>
        <p:spPr>
          <a:xfrm>
            <a:off x="548640" y="2706624"/>
            <a:ext cx="3931920" cy="365760"/>
          </a:xfrm>
          <a:prstGeom prst="rect">
            <a:avLst/>
          </a:prstGeom>
          <a:noFill/>
          <a:ln/>
        </p:spPr>
        <p:txBody>
          <a:bodyPr wrap="square" lIns="0" tIns="0" rIns="0" bIns="0" rtlCol="0" anchor="ctr"/>
          <a:lstStyle/>
          <a:p>
            <a:pPr algn="l" indent="0" marL="0">
              <a:buNone/>
            </a:pPr>
            <a:r>
              <a:rPr lang="en-US" sz="1150" dirty="0">
                <a:solidFill>
                  <a:srgbClr val="E8EAED"/>
                </a:solidFill>
                <a:latin typeface="Calibri" pitchFamily="34" charset="0"/>
                <a:ea typeface="Calibri" pitchFamily="34" charset="-122"/>
                <a:cs typeface="Calibri" pitchFamily="34" charset="-120"/>
              </a:rPr>
              <a:t>Nouveaux professionnels, année 1</a:t>
            </a:r>
            <a:endParaRPr lang="en-US" sz="1150" dirty="0"/>
          </a:p>
        </p:txBody>
      </p:sp>
      <p:sp>
        <p:nvSpPr>
          <p:cNvPr id="15" name="Text 13"/>
          <p:cNvSpPr txBox="1"/>
          <p:nvPr/>
        </p:nvSpPr>
        <p:spPr>
          <a:xfrm>
            <a:off x="4480560" y="2706624"/>
            <a:ext cx="2011680" cy="365760"/>
          </a:xfrm>
          <a:prstGeom prst="rect">
            <a:avLst/>
          </a:prstGeom>
          <a:noFill/>
          <a:ln/>
        </p:spPr>
        <p:txBody>
          <a:bodyPr wrap="square" lIns="0" tIns="0" rIns="0" bIns="0" rtlCol="0" anchor="ctr"/>
          <a:lstStyle/>
          <a:p>
            <a:pPr algn="r" indent="0" marL="0">
              <a:buNone/>
            </a:pPr>
            <a:r>
              <a:rPr lang="en-US" sz="1150" dirty="0">
                <a:solidFill>
                  <a:srgbClr val="E8EAED"/>
                </a:solidFill>
                <a:latin typeface="Calibri" pitchFamily="34" charset="0"/>
                <a:ea typeface="Calibri" pitchFamily="34" charset="-122"/>
                <a:cs typeface="Calibri" pitchFamily="34" charset="-120"/>
              </a:rPr>
              <a:t>4 / mois</a:t>
            </a:r>
            <a:endParaRPr lang="en-US" sz="1150" dirty="0"/>
          </a:p>
        </p:txBody>
      </p:sp>
      <p:sp>
        <p:nvSpPr>
          <p:cNvPr id="16" name="Text 14"/>
          <p:cNvSpPr txBox="1"/>
          <p:nvPr/>
        </p:nvSpPr>
        <p:spPr>
          <a:xfrm>
            <a:off x="6492240" y="2706624"/>
            <a:ext cx="5148072" cy="365760"/>
          </a:xfrm>
          <a:prstGeom prst="rect">
            <a:avLst/>
          </a:prstGeom>
          <a:noFill/>
          <a:ln/>
        </p:spPr>
        <p:txBody>
          <a:bodyPr wrap="square" lIns="0" tIns="0" rIns="0" bIns="0" rtlCol="0" anchor="ctr"/>
          <a:lstStyle/>
          <a:p>
            <a:pPr algn="l" indent="0" marL="0">
              <a:buNone/>
            </a:pPr>
            <a:r>
              <a:rPr lang="en-US" sz="1150" dirty="0">
                <a:solidFill>
                  <a:srgbClr val="ADB2B9"/>
                </a:solidFill>
                <a:latin typeface="Calibri" pitchFamily="34" charset="0"/>
                <a:ea typeface="Calibri" pitchFamily="34" charset="-122"/>
                <a:cs typeface="Calibri" pitchFamily="34" charset="-120"/>
              </a:rPr>
              <a:t>Réseau personnel, salles locales, pilotes</a:t>
            </a:r>
            <a:endParaRPr lang="en-US" sz="1150" dirty="0"/>
          </a:p>
        </p:txBody>
      </p:sp>
      <p:sp>
        <p:nvSpPr>
          <p:cNvPr id="17" name="Shape 15"/>
          <p:cNvSpPr/>
          <p:nvPr/>
        </p:nvSpPr>
        <p:spPr>
          <a:xfrm>
            <a:off x="475488" y="3072384"/>
            <a:ext cx="11237976" cy="365760"/>
          </a:xfrm>
          <a:prstGeom prst="rect">
            <a:avLst/>
          </a:prstGeom>
          <a:solidFill>
            <a:srgbClr val="1D2026"/>
          </a:solidFill>
          <a:ln w="12700">
            <a:solidFill>
              <a:srgbClr val="1D2026"/>
            </a:solidFill>
            <a:prstDash val="solid"/>
          </a:ln>
        </p:spPr>
      </p:sp>
      <p:sp>
        <p:nvSpPr>
          <p:cNvPr id="18" name="Text 16"/>
          <p:cNvSpPr txBox="1"/>
          <p:nvPr/>
        </p:nvSpPr>
        <p:spPr>
          <a:xfrm>
            <a:off x="548640" y="3072384"/>
            <a:ext cx="3931920" cy="365760"/>
          </a:xfrm>
          <a:prstGeom prst="rect">
            <a:avLst/>
          </a:prstGeom>
          <a:noFill/>
          <a:ln/>
        </p:spPr>
        <p:txBody>
          <a:bodyPr wrap="square" lIns="0" tIns="0" rIns="0" bIns="0" rtlCol="0" anchor="ctr"/>
          <a:lstStyle/>
          <a:p>
            <a:pPr algn="l" indent="0" marL="0">
              <a:buNone/>
            </a:pPr>
            <a:r>
              <a:rPr lang="en-US" sz="1150" dirty="0">
                <a:solidFill>
                  <a:srgbClr val="E8EAED"/>
                </a:solidFill>
                <a:latin typeface="Calibri" pitchFamily="34" charset="0"/>
                <a:ea typeface="Calibri" pitchFamily="34" charset="-122"/>
                <a:cs typeface="Calibri" pitchFamily="34" charset="-120"/>
              </a:rPr>
              <a:t>Nouveaux professionnels, année 2</a:t>
            </a:r>
            <a:endParaRPr lang="en-US" sz="1150" dirty="0"/>
          </a:p>
        </p:txBody>
      </p:sp>
      <p:sp>
        <p:nvSpPr>
          <p:cNvPr id="19" name="Text 17"/>
          <p:cNvSpPr txBox="1"/>
          <p:nvPr/>
        </p:nvSpPr>
        <p:spPr>
          <a:xfrm>
            <a:off x="4480560" y="3072384"/>
            <a:ext cx="2011680" cy="365760"/>
          </a:xfrm>
          <a:prstGeom prst="rect">
            <a:avLst/>
          </a:prstGeom>
          <a:noFill/>
          <a:ln/>
        </p:spPr>
        <p:txBody>
          <a:bodyPr wrap="square" lIns="0" tIns="0" rIns="0" bIns="0" rtlCol="0" anchor="ctr"/>
          <a:lstStyle/>
          <a:p>
            <a:pPr algn="r" indent="0" marL="0">
              <a:buNone/>
            </a:pPr>
            <a:r>
              <a:rPr lang="en-US" sz="1150" dirty="0">
                <a:solidFill>
                  <a:srgbClr val="E8EAED"/>
                </a:solidFill>
                <a:latin typeface="Calibri" pitchFamily="34" charset="0"/>
                <a:ea typeface="Calibri" pitchFamily="34" charset="-122"/>
                <a:cs typeface="Calibri" pitchFamily="34" charset="-120"/>
              </a:rPr>
              <a:t>8 / mois</a:t>
            </a:r>
            <a:endParaRPr lang="en-US" sz="1150" dirty="0"/>
          </a:p>
        </p:txBody>
      </p:sp>
      <p:sp>
        <p:nvSpPr>
          <p:cNvPr id="20" name="Text 18"/>
          <p:cNvSpPr txBox="1"/>
          <p:nvPr/>
        </p:nvSpPr>
        <p:spPr>
          <a:xfrm>
            <a:off x="6492240" y="3072384"/>
            <a:ext cx="5148072" cy="365760"/>
          </a:xfrm>
          <a:prstGeom prst="rect">
            <a:avLst/>
          </a:prstGeom>
          <a:noFill/>
          <a:ln/>
        </p:spPr>
        <p:txBody>
          <a:bodyPr wrap="square" lIns="0" tIns="0" rIns="0" bIns="0" rtlCol="0" anchor="ctr"/>
          <a:lstStyle/>
          <a:p>
            <a:pPr algn="l" indent="0" marL="0">
              <a:buNone/>
            </a:pPr>
            <a:r>
              <a:rPr lang="en-US" sz="1150" dirty="0">
                <a:solidFill>
                  <a:srgbClr val="ADB2B9"/>
                </a:solidFill>
                <a:latin typeface="Calibri" pitchFamily="34" charset="0"/>
                <a:ea typeface="Calibri" pitchFamily="34" charset="-122"/>
                <a:cs typeface="Calibri" pitchFamily="34" charset="-120"/>
              </a:rPr>
              <a:t>Contenu, parrainage, écoles de coachs</a:t>
            </a:r>
            <a:endParaRPr lang="en-US" sz="1150" dirty="0"/>
          </a:p>
        </p:txBody>
      </p:sp>
      <p:sp>
        <p:nvSpPr>
          <p:cNvPr id="21" name="Text 19"/>
          <p:cNvSpPr txBox="1"/>
          <p:nvPr/>
        </p:nvSpPr>
        <p:spPr>
          <a:xfrm>
            <a:off x="548640" y="3438144"/>
            <a:ext cx="3931920" cy="365760"/>
          </a:xfrm>
          <a:prstGeom prst="rect">
            <a:avLst/>
          </a:prstGeom>
          <a:noFill/>
          <a:ln/>
        </p:spPr>
        <p:txBody>
          <a:bodyPr wrap="square" lIns="0" tIns="0" rIns="0" bIns="0" rtlCol="0" anchor="ctr"/>
          <a:lstStyle/>
          <a:p>
            <a:pPr algn="l" indent="0" marL="0">
              <a:buNone/>
            </a:pPr>
            <a:r>
              <a:rPr lang="en-US" sz="1150" dirty="0">
                <a:solidFill>
                  <a:srgbClr val="E8EAED"/>
                </a:solidFill>
                <a:latin typeface="Calibri" pitchFamily="34" charset="0"/>
                <a:ea typeface="Calibri" pitchFamily="34" charset="-122"/>
                <a:cs typeface="Calibri" pitchFamily="34" charset="-120"/>
              </a:rPr>
              <a:t>Nouveaux professionnels, année 3</a:t>
            </a:r>
            <a:endParaRPr lang="en-US" sz="1150" dirty="0"/>
          </a:p>
        </p:txBody>
      </p:sp>
      <p:sp>
        <p:nvSpPr>
          <p:cNvPr id="22" name="Text 20"/>
          <p:cNvSpPr txBox="1"/>
          <p:nvPr/>
        </p:nvSpPr>
        <p:spPr>
          <a:xfrm>
            <a:off x="4480560" y="3438144"/>
            <a:ext cx="2011680" cy="365760"/>
          </a:xfrm>
          <a:prstGeom prst="rect">
            <a:avLst/>
          </a:prstGeom>
          <a:noFill/>
          <a:ln/>
        </p:spPr>
        <p:txBody>
          <a:bodyPr wrap="square" lIns="0" tIns="0" rIns="0" bIns="0" rtlCol="0" anchor="ctr"/>
          <a:lstStyle/>
          <a:p>
            <a:pPr algn="r" indent="0" marL="0">
              <a:buNone/>
            </a:pPr>
            <a:r>
              <a:rPr lang="en-US" sz="1150" dirty="0">
                <a:solidFill>
                  <a:srgbClr val="E8EAED"/>
                </a:solidFill>
                <a:latin typeface="Calibri" pitchFamily="34" charset="0"/>
                <a:ea typeface="Calibri" pitchFamily="34" charset="-122"/>
                <a:cs typeface="Calibri" pitchFamily="34" charset="-120"/>
              </a:rPr>
              <a:t>14 / mois</a:t>
            </a:r>
            <a:endParaRPr lang="en-US" sz="1150" dirty="0"/>
          </a:p>
        </p:txBody>
      </p:sp>
      <p:sp>
        <p:nvSpPr>
          <p:cNvPr id="23" name="Text 21"/>
          <p:cNvSpPr txBox="1"/>
          <p:nvPr/>
        </p:nvSpPr>
        <p:spPr>
          <a:xfrm>
            <a:off x="6492240" y="3438144"/>
            <a:ext cx="5148072" cy="365760"/>
          </a:xfrm>
          <a:prstGeom prst="rect">
            <a:avLst/>
          </a:prstGeom>
          <a:noFill/>
          <a:ln/>
        </p:spPr>
        <p:txBody>
          <a:bodyPr wrap="square" lIns="0" tIns="0" rIns="0" bIns="0" rtlCol="0" anchor="ctr"/>
          <a:lstStyle/>
          <a:p>
            <a:pPr algn="l" indent="0" marL="0">
              <a:buNone/>
            </a:pPr>
            <a:r>
              <a:rPr lang="en-US" sz="1150" dirty="0">
                <a:solidFill>
                  <a:srgbClr val="ADB2B9"/>
                </a:solidFill>
                <a:latin typeface="Calibri" pitchFamily="34" charset="0"/>
                <a:ea typeface="Calibri" pitchFamily="34" charset="-122"/>
                <a:cs typeface="Calibri" pitchFamily="34" charset="-120"/>
              </a:rPr>
              <a:t>iOS disponible, notoriété, formule Studio</a:t>
            </a:r>
            <a:endParaRPr lang="en-US" sz="1150" dirty="0"/>
          </a:p>
        </p:txBody>
      </p:sp>
      <p:sp>
        <p:nvSpPr>
          <p:cNvPr id="24" name="Shape 22"/>
          <p:cNvSpPr/>
          <p:nvPr/>
        </p:nvSpPr>
        <p:spPr>
          <a:xfrm>
            <a:off x="475488" y="3803904"/>
            <a:ext cx="11237976" cy="365760"/>
          </a:xfrm>
          <a:prstGeom prst="rect">
            <a:avLst/>
          </a:prstGeom>
          <a:solidFill>
            <a:srgbClr val="1D2026"/>
          </a:solidFill>
          <a:ln w="12700">
            <a:solidFill>
              <a:srgbClr val="1D2026"/>
            </a:solidFill>
            <a:prstDash val="solid"/>
          </a:ln>
        </p:spPr>
      </p:sp>
      <p:sp>
        <p:nvSpPr>
          <p:cNvPr id="25" name="Text 23"/>
          <p:cNvSpPr txBox="1"/>
          <p:nvPr/>
        </p:nvSpPr>
        <p:spPr>
          <a:xfrm>
            <a:off x="548640" y="3803904"/>
            <a:ext cx="3931920" cy="365760"/>
          </a:xfrm>
          <a:prstGeom prst="rect">
            <a:avLst/>
          </a:prstGeom>
          <a:noFill/>
          <a:ln/>
        </p:spPr>
        <p:txBody>
          <a:bodyPr wrap="square" lIns="0" tIns="0" rIns="0" bIns="0" rtlCol="0" anchor="ctr"/>
          <a:lstStyle/>
          <a:p>
            <a:pPr algn="l" indent="0" marL="0">
              <a:buNone/>
            </a:pPr>
            <a:r>
              <a:rPr lang="en-US" sz="1150" dirty="0">
                <a:solidFill>
                  <a:srgbClr val="E8EAED"/>
                </a:solidFill>
                <a:latin typeface="Calibri" pitchFamily="34" charset="0"/>
                <a:ea typeface="Calibri" pitchFamily="34" charset="-122"/>
                <a:cs typeface="Calibri" pitchFamily="34" charset="-120"/>
              </a:rPr>
              <a:t>Résiliation mensuelle</a:t>
            </a:r>
            <a:endParaRPr lang="en-US" sz="1150" dirty="0"/>
          </a:p>
        </p:txBody>
      </p:sp>
      <p:sp>
        <p:nvSpPr>
          <p:cNvPr id="26" name="Text 24"/>
          <p:cNvSpPr txBox="1"/>
          <p:nvPr/>
        </p:nvSpPr>
        <p:spPr>
          <a:xfrm>
            <a:off x="4480560" y="3803904"/>
            <a:ext cx="2011680" cy="365760"/>
          </a:xfrm>
          <a:prstGeom prst="rect">
            <a:avLst/>
          </a:prstGeom>
          <a:noFill/>
          <a:ln/>
        </p:spPr>
        <p:txBody>
          <a:bodyPr wrap="square" lIns="0" tIns="0" rIns="0" bIns="0" rtlCol="0" anchor="ctr"/>
          <a:lstStyle/>
          <a:p>
            <a:pPr algn="r" indent="0" marL="0">
              <a:buNone/>
            </a:pPr>
            <a:r>
              <a:rPr lang="en-US" sz="1150" b="1" dirty="0">
                <a:solidFill>
                  <a:srgbClr val="E3B23C"/>
                </a:solidFill>
                <a:latin typeface="Calibri" pitchFamily="34" charset="0"/>
                <a:ea typeface="Calibri" pitchFamily="34" charset="-122"/>
                <a:cs typeface="Calibri" pitchFamily="34" charset="-120"/>
              </a:rPr>
              <a:t>3 %</a:t>
            </a:r>
            <a:endParaRPr lang="en-US" sz="1150" dirty="0"/>
          </a:p>
        </p:txBody>
      </p:sp>
      <p:sp>
        <p:nvSpPr>
          <p:cNvPr id="27" name="Text 25"/>
          <p:cNvSpPr txBox="1"/>
          <p:nvPr/>
        </p:nvSpPr>
        <p:spPr>
          <a:xfrm>
            <a:off x="6492240" y="3803904"/>
            <a:ext cx="5148072" cy="365760"/>
          </a:xfrm>
          <a:prstGeom prst="rect">
            <a:avLst/>
          </a:prstGeom>
          <a:noFill/>
          <a:ln/>
        </p:spPr>
        <p:txBody>
          <a:bodyPr wrap="square" lIns="0" tIns="0" rIns="0" bIns="0" rtlCol="0" anchor="ctr"/>
          <a:lstStyle/>
          <a:p>
            <a:pPr algn="l" indent="0" marL="0">
              <a:buNone/>
            </a:pPr>
            <a:r>
              <a:rPr lang="en-US" sz="1150" dirty="0">
                <a:solidFill>
                  <a:srgbClr val="ADB2B9"/>
                </a:solidFill>
                <a:latin typeface="Calibri" pitchFamily="34" charset="0"/>
                <a:ea typeface="Calibri" pitchFamily="34" charset="-122"/>
                <a:cs typeface="Calibri" pitchFamily="34" charset="-120"/>
              </a:rPr>
              <a:t>Hypothèse prudente pour un petit logiciel en abonnement</a:t>
            </a:r>
            <a:endParaRPr lang="en-US" sz="1150" dirty="0"/>
          </a:p>
        </p:txBody>
      </p:sp>
      <p:sp>
        <p:nvSpPr>
          <p:cNvPr id="28" name="Text 26"/>
          <p:cNvSpPr txBox="1"/>
          <p:nvPr/>
        </p:nvSpPr>
        <p:spPr>
          <a:xfrm>
            <a:off x="548640" y="4169664"/>
            <a:ext cx="3931920" cy="365760"/>
          </a:xfrm>
          <a:prstGeom prst="rect">
            <a:avLst/>
          </a:prstGeom>
          <a:noFill/>
          <a:ln/>
        </p:spPr>
        <p:txBody>
          <a:bodyPr wrap="square" lIns="0" tIns="0" rIns="0" bIns="0" rtlCol="0" anchor="ctr"/>
          <a:lstStyle/>
          <a:p>
            <a:pPr algn="l" indent="0" marL="0">
              <a:buNone/>
            </a:pPr>
            <a:r>
              <a:rPr lang="en-US" sz="1150" dirty="0">
                <a:solidFill>
                  <a:srgbClr val="E8EAED"/>
                </a:solidFill>
                <a:latin typeface="Calibri" pitchFamily="34" charset="0"/>
                <a:ea typeface="Calibri" pitchFamily="34" charset="-122"/>
                <a:cs typeface="Calibri" pitchFamily="34" charset="-120"/>
              </a:rPr>
              <a:t>Frais de paiement</a:t>
            </a:r>
            <a:endParaRPr lang="en-US" sz="1150" dirty="0"/>
          </a:p>
        </p:txBody>
      </p:sp>
      <p:sp>
        <p:nvSpPr>
          <p:cNvPr id="29" name="Text 27"/>
          <p:cNvSpPr txBox="1"/>
          <p:nvPr/>
        </p:nvSpPr>
        <p:spPr>
          <a:xfrm>
            <a:off x="4480560" y="4169664"/>
            <a:ext cx="2011680" cy="365760"/>
          </a:xfrm>
          <a:prstGeom prst="rect">
            <a:avLst/>
          </a:prstGeom>
          <a:noFill/>
          <a:ln/>
        </p:spPr>
        <p:txBody>
          <a:bodyPr wrap="square" lIns="0" tIns="0" rIns="0" bIns="0" rtlCol="0" anchor="ctr"/>
          <a:lstStyle/>
          <a:p>
            <a:pPr algn="r" indent="0" marL="0">
              <a:buNone/>
            </a:pPr>
            <a:r>
              <a:rPr lang="en-US" sz="1150" dirty="0">
                <a:solidFill>
                  <a:srgbClr val="E8EAED"/>
                </a:solidFill>
                <a:latin typeface="Calibri" pitchFamily="34" charset="0"/>
                <a:ea typeface="Calibri" pitchFamily="34" charset="-122"/>
                <a:cs typeface="Calibri" pitchFamily="34" charset="-120"/>
              </a:rPr>
              <a:t>≈ 2,5 % du CA</a:t>
            </a:r>
            <a:endParaRPr lang="en-US" sz="1150" dirty="0"/>
          </a:p>
        </p:txBody>
      </p:sp>
      <p:sp>
        <p:nvSpPr>
          <p:cNvPr id="30" name="Text 28"/>
          <p:cNvSpPr txBox="1"/>
          <p:nvPr/>
        </p:nvSpPr>
        <p:spPr>
          <a:xfrm>
            <a:off x="6492240" y="4169664"/>
            <a:ext cx="5148072" cy="365760"/>
          </a:xfrm>
          <a:prstGeom prst="rect">
            <a:avLst/>
          </a:prstGeom>
          <a:noFill/>
          <a:ln/>
        </p:spPr>
        <p:txBody>
          <a:bodyPr wrap="square" lIns="0" tIns="0" rIns="0" bIns="0" rtlCol="0" anchor="ctr"/>
          <a:lstStyle/>
          <a:p>
            <a:pPr algn="l" indent="0" marL="0">
              <a:buNone/>
            </a:pPr>
            <a:r>
              <a:rPr lang="en-US" sz="1150" dirty="0">
                <a:solidFill>
                  <a:srgbClr val="ADB2B9"/>
                </a:solidFill>
                <a:latin typeface="Calibri" pitchFamily="34" charset="0"/>
                <a:ea typeface="Calibri" pitchFamily="34" charset="-122"/>
                <a:cs typeface="Calibri" pitchFamily="34" charset="-120"/>
              </a:rPr>
              <a:t>Stripe, cartes européennes</a:t>
            </a:r>
            <a:endParaRPr lang="en-US" sz="1150" dirty="0"/>
          </a:p>
        </p:txBody>
      </p:sp>
      <p:sp>
        <p:nvSpPr>
          <p:cNvPr id="31" name="Shape 29"/>
          <p:cNvSpPr/>
          <p:nvPr/>
        </p:nvSpPr>
        <p:spPr>
          <a:xfrm>
            <a:off x="475488" y="4535424"/>
            <a:ext cx="11237976" cy="365760"/>
          </a:xfrm>
          <a:prstGeom prst="rect">
            <a:avLst/>
          </a:prstGeom>
          <a:solidFill>
            <a:srgbClr val="1D2026"/>
          </a:solidFill>
          <a:ln w="12700">
            <a:solidFill>
              <a:srgbClr val="1D2026"/>
            </a:solidFill>
            <a:prstDash val="solid"/>
          </a:ln>
        </p:spPr>
      </p:sp>
      <p:sp>
        <p:nvSpPr>
          <p:cNvPr id="32" name="Text 30"/>
          <p:cNvSpPr txBox="1"/>
          <p:nvPr/>
        </p:nvSpPr>
        <p:spPr>
          <a:xfrm>
            <a:off x="548640" y="4535424"/>
            <a:ext cx="3931920" cy="365760"/>
          </a:xfrm>
          <a:prstGeom prst="rect">
            <a:avLst/>
          </a:prstGeom>
          <a:noFill/>
          <a:ln/>
        </p:spPr>
        <p:txBody>
          <a:bodyPr wrap="square" lIns="0" tIns="0" rIns="0" bIns="0" rtlCol="0" anchor="ctr"/>
          <a:lstStyle/>
          <a:p>
            <a:pPr algn="l" indent="0" marL="0">
              <a:buNone/>
            </a:pPr>
            <a:r>
              <a:rPr lang="en-US" sz="1150" dirty="0">
                <a:solidFill>
                  <a:srgbClr val="E8EAED"/>
                </a:solidFill>
                <a:latin typeface="Calibri" pitchFamily="34" charset="0"/>
                <a:ea typeface="Calibri" pitchFamily="34" charset="-122"/>
                <a:cs typeface="Calibri" pitchFamily="34" charset="-120"/>
              </a:rPr>
              <a:t>Scénarios prudent / ambitieux</a:t>
            </a:r>
            <a:endParaRPr lang="en-US" sz="1150" dirty="0"/>
          </a:p>
        </p:txBody>
      </p:sp>
      <p:sp>
        <p:nvSpPr>
          <p:cNvPr id="33" name="Text 31"/>
          <p:cNvSpPr txBox="1"/>
          <p:nvPr/>
        </p:nvSpPr>
        <p:spPr>
          <a:xfrm>
            <a:off x="4480560" y="4535424"/>
            <a:ext cx="2011680" cy="365760"/>
          </a:xfrm>
          <a:prstGeom prst="rect">
            <a:avLst/>
          </a:prstGeom>
          <a:noFill/>
          <a:ln/>
        </p:spPr>
        <p:txBody>
          <a:bodyPr wrap="square" lIns="0" tIns="0" rIns="0" bIns="0" rtlCol="0" anchor="ctr"/>
          <a:lstStyle/>
          <a:p>
            <a:pPr algn="r" indent="0" marL="0">
              <a:buNone/>
            </a:pPr>
            <a:r>
              <a:rPr lang="en-US" sz="1150" dirty="0">
                <a:solidFill>
                  <a:srgbClr val="E8EAED"/>
                </a:solidFill>
                <a:latin typeface="Calibri" pitchFamily="34" charset="0"/>
                <a:ea typeface="Calibri" pitchFamily="34" charset="-122"/>
                <a:cs typeface="Calibri" pitchFamily="34" charset="-120"/>
              </a:rPr>
              <a:t>× 0,5 / × 1,6</a:t>
            </a:r>
            <a:endParaRPr lang="en-US" sz="1150" dirty="0"/>
          </a:p>
        </p:txBody>
      </p:sp>
      <p:sp>
        <p:nvSpPr>
          <p:cNvPr id="34" name="Text 32"/>
          <p:cNvSpPr txBox="1"/>
          <p:nvPr/>
        </p:nvSpPr>
        <p:spPr>
          <a:xfrm>
            <a:off x="6492240" y="4535424"/>
            <a:ext cx="5148072" cy="365760"/>
          </a:xfrm>
          <a:prstGeom prst="rect">
            <a:avLst/>
          </a:prstGeom>
          <a:noFill/>
          <a:ln/>
        </p:spPr>
        <p:txBody>
          <a:bodyPr wrap="square" lIns="0" tIns="0" rIns="0" bIns="0" rtlCol="0" anchor="ctr"/>
          <a:lstStyle/>
          <a:p>
            <a:pPr algn="l" indent="0" marL="0">
              <a:buNone/>
            </a:pPr>
            <a:r>
              <a:rPr lang="en-US" sz="1150" dirty="0">
                <a:solidFill>
                  <a:srgbClr val="ADB2B9"/>
                </a:solidFill>
                <a:latin typeface="Calibri" pitchFamily="34" charset="0"/>
                <a:ea typeface="Calibri" pitchFamily="34" charset="-122"/>
                <a:cs typeface="Calibri" pitchFamily="34" charset="-120"/>
              </a:rPr>
              <a:t>Même modèle, acquisitions divisées ou multipliées</a:t>
            </a:r>
            <a:endParaRPr lang="en-US" sz="1150" dirty="0"/>
          </a:p>
        </p:txBody>
      </p:sp>
      <p:sp>
        <p:nvSpPr>
          <p:cNvPr id="35" name="Shape 33"/>
          <p:cNvSpPr/>
          <p:nvPr/>
        </p:nvSpPr>
        <p:spPr>
          <a:xfrm>
            <a:off x="548640" y="4828032"/>
            <a:ext cx="11091672" cy="932688"/>
          </a:xfrm>
          <a:prstGeom prst="roundRect">
            <a:avLst>
              <a:gd name="adj" fmla="val 6863"/>
            </a:avLst>
          </a:prstGeom>
          <a:solidFill>
            <a:srgbClr val="23272E"/>
          </a:solidFill>
          <a:ln w="15875">
            <a:solidFill>
              <a:srgbClr val="E2675F"/>
            </a:solidFill>
            <a:prstDash val="solid"/>
          </a:ln>
        </p:spPr>
      </p:sp>
      <p:sp>
        <p:nvSpPr>
          <p:cNvPr id="36" name="Text 34"/>
          <p:cNvSpPr txBox="1"/>
          <p:nvPr/>
        </p:nvSpPr>
        <p:spPr>
          <a:xfrm>
            <a:off x="877824" y="4828032"/>
            <a:ext cx="10433304" cy="932688"/>
          </a:xfrm>
          <a:prstGeom prst="rect">
            <a:avLst/>
          </a:prstGeom>
          <a:noFill/>
          <a:ln/>
        </p:spPr>
        <p:txBody>
          <a:bodyPr wrap="square" lIns="0" tIns="0" rIns="0" bIns="0" rtlCol="0" anchor="ctr"/>
          <a:lstStyle/>
          <a:p>
            <a:pPr indent="0" marL="0">
              <a:lnSpc>
                <a:spcPts val="1800"/>
              </a:lnSpc>
              <a:buNone/>
            </a:pPr>
            <a:r>
              <a:rPr lang="en-US" sz="1250" b="1" dirty="0">
                <a:solidFill>
                  <a:srgbClr val="E2675F"/>
                </a:solidFill>
                <a:latin typeface="Calibri" pitchFamily="34" charset="0"/>
                <a:ea typeface="Calibri" pitchFamily="34" charset="-122"/>
                <a:cs typeface="Calibri" pitchFamily="34" charset="-120"/>
              </a:rPr>
              <a:t>Aucune de ces valeurs n'est encore mesurée. </a:t>
            </a:r>
            <a:pPr indent="0" marL="0">
              <a:lnSpc>
                <a:spcPts val="1800"/>
              </a:lnSpc>
              <a:buNone/>
            </a:pPr>
            <a:r>
              <a:rPr lang="en-US" sz="1250" dirty="0">
                <a:solidFill>
                  <a:srgbClr val="ADB2B9"/>
                </a:solidFill>
                <a:latin typeface="Calibri" pitchFamily="34" charset="0"/>
                <a:ea typeface="Calibri" pitchFamily="34" charset="-122"/>
                <a:cs typeface="Calibri" pitchFamily="34" charset="-120"/>
              </a:rPr>
              <a:t>Les pilotes des mois 3 à 6 servent à les remplacer par des chiffres réels — en priorité le panier moyen et la résiliation. Les données de marché et les prix des concurrents, eux, viennent de sources publiques citées en annexe.</a:t>
            </a:r>
            <a:endParaRPr lang="en-US" sz="1250" dirty="0"/>
          </a:p>
        </p:txBody>
      </p:sp>
      <p:sp>
        <p:nvSpPr>
          <p:cNvPr id="37" name="Text 35"/>
          <p:cNvSpPr txBox="1"/>
          <p:nvPr/>
        </p:nvSpPr>
        <p:spPr>
          <a:xfrm>
            <a:off x="548640" y="5961888"/>
            <a:ext cx="11091672" cy="310896"/>
          </a:xfrm>
          <a:prstGeom prst="rect">
            <a:avLst/>
          </a:prstGeom>
          <a:noFill/>
          <a:ln/>
        </p:spPr>
        <p:txBody>
          <a:bodyPr wrap="square" lIns="0" tIns="0" rIns="0" bIns="0" rtlCol="0" anchor="ctr"/>
          <a:lstStyle/>
          <a:p>
            <a:pPr indent="0" marL="0">
              <a:buNone/>
            </a:pPr>
            <a:r>
              <a:rPr lang="en-US" sz="950" i="1" dirty="0">
                <a:solidFill>
                  <a:srgbClr val="868E99"/>
                </a:solidFill>
                <a:latin typeface="Calibri" pitchFamily="34" charset="0"/>
                <a:ea typeface="Calibri" pitchFamily="34" charset="-122"/>
                <a:cs typeface="Calibri" pitchFamily="34" charset="-120"/>
              </a:rPr>
              <a:t>Le modèle se recalcule mois par mois :  coachs(m) = coachs(m−1) × 0,97 + nouveaux(m)</a:t>
            </a:r>
            <a:endParaRPr lang="en-US" sz="950" dirty="0"/>
          </a:p>
        </p:txBody>
      </p:sp>
      <p:sp>
        <p:nvSpPr>
          <p:cNvPr id="38" name="Text 36"/>
          <p:cNvSpPr txBox="1"/>
          <p:nvPr/>
        </p:nvSpPr>
        <p:spPr>
          <a:xfrm>
            <a:off x="548640" y="6336792"/>
            <a:ext cx="8229600" cy="274320"/>
          </a:xfrm>
          <a:prstGeom prst="rect">
            <a:avLst/>
          </a:prstGeom>
          <a:noFill/>
          <a:ln/>
        </p:spPr>
        <p:txBody>
          <a:bodyPr wrap="square" lIns="0" tIns="0" rIns="0" bIns="0" rtlCol="0" anchor="ctr"/>
          <a:lstStyle/>
          <a:p>
            <a:pPr algn="l" indent="0" marL="0">
              <a:buNone/>
            </a:pPr>
            <a:r>
              <a:rPr lang="en-US" sz="900" dirty="0">
                <a:solidFill>
                  <a:srgbClr val="868E99"/>
                </a:solidFill>
                <a:latin typeface="Calibri" pitchFamily="34" charset="0"/>
                <a:ea typeface="Calibri" pitchFamily="34" charset="-122"/>
                <a:cs typeface="Calibri" pitchFamily="34" charset="-120"/>
              </a:rPr>
              <a:t>fitcarnet Pro · business plan · 21 septembre 2026</a:t>
            </a:r>
            <a:endParaRPr lang="en-US" sz="900" dirty="0"/>
          </a:p>
        </p:txBody>
      </p:sp>
      <p:sp>
        <p:nvSpPr>
          <p:cNvPr id="39" name="Text 37"/>
          <p:cNvSpPr txBox="1"/>
          <p:nvPr/>
        </p:nvSpPr>
        <p:spPr>
          <a:xfrm>
            <a:off x="8897112" y="6336792"/>
            <a:ext cx="2743200" cy="274320"/>
          </a:xfrm>
          <a:prstGeom prst="rect">
            <a:avLst/>
          </a:prstGeom>
          <a:noFill/>
          <a:ln/>
        </p:spPr>
        <p:txBody>
          <a:bodyPr wrap="square" lIns="0" tIns="0" rIns="0" bIns="0" rtlCol="0" anchor="ctr"/>
          <a:lstStyle/>
          <a:p>
            <a:pPr algn="r" indent="0" marL="0">
              <a:buNone/>
            </a:pPr>
            <a:r>
              <a:rPr lang="en-US" sz="900" dirty="0">
                <a:solidFill>
                  <a:srgbClr val="868E99"/>
                </a:solidFill>
                <a:latin typeface="Calibri" pitchFamily="34" charset="0"/>
                <a:ea typeface="Calibri" pitchFamily="34" charset="-122"/>
                <a:cs typeface="Calibri" pitchFamily="34" charset="-120"/>
              </a:rPr>
              <a:t>13 / 24</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4161A"/>
        </a:solidFill>
      </p:bgPr>
    </p:bg>
    <p:spTree>
      <p:nvGrpSpPr>
        <p:cNvPr id="1" name=""/>
        <p:cNvGrpSpPr/>
        <p:nvPr/>
      </p:nvGrpSpPr>
      <p:grpSpPr>
        <a:xfrm>
          <a:off x="0" y="0"/>
          <a:ext cx="0" cy="0"/>
          <a:chOff x="0" y="0"/>
          <a:chExt cx="0" cy="0"/>
        </a:xfrm>
      </p:grpSpPr>
      <p:sp>
        <p:nvSpPr>
          <p:cNvPr id="2" name="Text 0"/>
          <p:cNvSpPr txBox="1"/>
          <p:nvPr/>
        </p:nvSpPr>
        <p:spPr>
          <a:xfrm>
            <a:off x="548640" y="347472"/>
            <a:ext cx="11091672" cy="237744"/>
          </a:xfrm>
          <a:prstGeom prst="rect">
            <a:avLst/>
          </a:prstGeom>
          <a:noFill/>
          <a:ln/>
        </p:spPr>
        <p:txBody>
          <a:bodyPr wrap="square" lIns="0" tIns="0" rIns="0" bIns="0" rtlCol="0" anchor="ctr"/>
          <a:lstStyle/>
          <a:p>
            <a:pPr indent="0" marL="0">
              <a:buNone/>
            </a:pPr>
            <a:r>
              <a:rPr lang="en-US" sz="1050" b="1" spc="200" kern="0" dirty="0">
                <a:solidFill>
                  <a:srgbClr val="E3B23C"/>
                </a:solidFill>
                <a:latin typeface="Calibri" pitchFamily="34" charset="0"/>
                <a:ea typeface="Calibri" pitchFamily="34" charset="-122"/>
                <a:cs typeface="Calibri" pitchFamily="34" charset="-120"/>
              </a:rPr>
              <a:t>PRÉVISIONNEL · 36 MOIS</a:t>
            </a:r>
            <a:endParaRPr lang="en-US" sz="1050" dirty="0"/>
          </a:p>
        </p:txBody>
      </p:sp>
      <p:sp>
        <p:nvSpPr>
          <p:cNvPr id="3" name="Text 1"/>
          <p:cNvSpPr txBox="1"/>
          <p:nvPr/>
        </p:nvSpPr>
        <p:spPr>
          <a:xfrm>
            <a:off x="548640" y="603504"/>
            <a:ext cx="11091672" cy="566928"/>
          </a:xfrm>
          <a:prstGeom prst="rect">
            <a:avLst/>
          </a:prstGeom>
          <a:noFill/>
          <a:ln/>
        </p:spPr>
        <p:txBody>
          <a:bodyPr wrap="square" lIns="0" tIns="0" rIns="0" bIns="0" rtlCol="0" anchor="ctr"/>
          <a:lstStyle/>
          <a:p>
            <a:pPr indent="0" marL="0">
              <a:buNone/>
            </a:pPr>
            <a:r>
              <a:rPr lang="en-US" sz="3000" b="1" dirty="0">
                <a:solidFill>
                  <a:srgbClr val="E8EAED"/>
                </a:solidFill>
                <a:latin typeface="Arial Narrow" pitchFamily="34" charset="0"/>
                <a:ea typeface="Arial Narrow" pitchFamily="34" charset="-122"/>
                <a:cs typeface="Arial Narrow" pitchFamily="34" charset="-120"/>
              </a:rPr>
              <a:t>Du prudent à l'ambitieux, le plan ne dépasse jamais 336 abonnés</a:t>
            </a:r>
            <a:endParaRPr lang="en-US" sz="3000" dirty="0"/>
          </a:p>
        </p:txBody>
      </p:sp>
      <p:graphicFrame>
        <p:nvGraphicFramePr>
          <p:cNvPr id="4" name="Chart 0" descr=""/>
          <p:cNvGraphicFramePr/>
          <p:nvPr/>
        </p:nvGraphicFramePr>
        <p:xfrm>
          <a:off x="548640" y="1719072"/>
          <a:ext cx="6858000" cy="39319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772400" y="1719072"/>
            <a:ext cx="3867912" cy="1645920"/>
          </a:xfrm>
          <a:prstGeom prst="roundRect">
            <a:avLst>
              <a:gd name="adj" fmla="val 3889"/>
            </a:avLst>
          </a:prstGeom>
          <a:solidFill>
            <a:srgbClr val="1D2026"/>
          </a:solidFill>
          <a:ln w="15875">
            <a:solidFill>
              <a:srgbClr val="E3B23C"/>
            </a:solidFill>
            <a:prstDash val="solid"/>
          </a:ln>
        </p:spPr>
      </p:sp>
      <p:sp>
        <p:nvSpPr>
          <p:cNvPr id="6" name="Text 3"/>
          <p:cNvSpPr txBox="1"/>
          <p:nvPr/>
        </p:nvSpPr>
        <p:spPr>
          <a:xfrm>
            <a:off x="8028432" y="1847088"/>
            <a:ext cx="3355848" cy="237744"/>
          </a:xfrm>
          <a:prstGeom prst="rect">
            <a:avLst/>
          </a:prstGeom>
          <a:noFill/>
          <a:ln/>
        </p:spPr>
        <p:txBody>
          <a:bodyPr wrap="square" lIns="0" tIns="0" rIns="0" bIns="0" rtlCol="0" anchor="ctr"/>
          <a:lstStyle/>
          <a:p>
            <a:pPr indent="0" marL="0">
              <a:buNone/>
            </a:pPr>
            <a:r>
              <a:rPr lang="en-US" sz="900" b="1" spc="150" kern="0" dirty="0">
                <a:solidFill>
                  <a:srgbClr val="E3B23C"/>
                </a:solidFill>
                <a:latin typeface="Calibri" pitchFamily="34" charset="0"/>
                <a:ea typeface="Calibri" pitchFamily="34" charset="-122"/>
                <a:cs typeface="Calibri" pitchFamily="34" charset="-120"/>
              </a:rPr>
              <a:t>SCÉNARIO CENTRAL · FIN D'ANNÉE 3</a:t>
            </a:r>
            <a:endParaRPr lang="en-US" sz="900" dirty="0"/>
          </a:p>
        </p:txBody>
      </p:sp>
      <p:sp>
        <p:nvSpPr>
          <p:cNvPr id="7" name="Text 4"/>
          <p:cNvSpPr txBox="1"/>
          <p:nvPr/>
        </p:nvSpPr>
        <p:spPr>
          <a:xfrm>
            <a:off x="8028432" y="2121408"/>
            <a:ext cx="3355848" cy="768096"/>
          </a:xfrm>
          <a:prstGeom prst="rect">
            <a:avLst/>
          </a:prstGeom>
          <a:noFill/>
          <a:ln/>
        </p:spPr>
        <p:txBody>
          <a:bodyPr wrap="square" lIns="0" tIns="0" rIns="0" bIns="0" rtlCol="0" anchor="ctr"/>
          <a:lstStyle/>
          <a:p>
            <a:pPr indent="0" marL="0">
              <a:buNone/>
            </a:pPr>
            <a:r>
              <a:rPr lang="en-US" sz="4800" b="1" dirty="0">
                <a:solidFill>
                  <a:srgbClr val="E8EAED"/>
                </a:solidFill>
                <a:latin typeface="Arial Narrow" pitchFamily="34" charset="0"/>
                <a:ea typeface="Arial Narrow" pitchFamily="34" charset="-122"/>
                <a:cs typeface="Arial Narrow" pitchFamily="34" charset="-120"/>
              </a:rPr>
              <a:t>210</a:t>
            </a:r>
            <a:endParaRPr lang="en-US" sz="4800" dirty="0"/>
          </a:p>
        </p:txBody>
      </p:sp>
      <p:sp>
        <p:nvSpPr>
          <p:cNvPr id="8" name="Text 5"/>
          <p:cNvSpPr txBox="1"/>
          <p:nvPr/>
        </p:nvSpPr>
        <p:spPr>
          <a:xfrm>
            <a:off x="8028432" y="2889504"/>
            <a:ext cx="3355848" cy="420624"/>
          </a:xfrm>
          <a:prstGeom prst="rect">
            <a:avLst/>
          </a:prstGeom>
          <a:noFill/>
          <a:ln/>
        </p:spPr>
        <p:txBody>
          <a:bodyPr wrap="square" lIns="0" tIns="0" rIns="0" bIns="0" rtlCol="0" anchor="t"/>
          <a:lstStyle/>
          <a:p>
            <a:pPr indent="0" marL="0">
              <a:lnSpc>
                <a:spcPts val="1600"/>
              </a:lnSpc>
              <a:buNone/>
            </a:pPr>
            <a:r>
              <a:rPr lang="en-US" sz="1100" dirty="0">
                <a:solidFill>
                  <a:srgbClr val="ADB2B9"/>
                </a:solidFill>
                <a:latin typeface="Calibri" pitchFamily="34" charset="0"/>
                <a:ea typeface="Calibri" pitchFamily="34" charset="-122"/>
                <a:cs typeface="Calibri" pitchFamily="34" charset="-120"/>
              </a:rPr>
              <a:t>professionnels abonnés, soit 0,5 % des 37 000 à 47 000 visés</a:t>
            </a:r>
            <a:endParaRPr lang="en-US" sz="1100" dirty="0"/>
          </a:p>
        </p:txBody>
      </p:sp>
      <p:sp>
        <p:nvSpPr>
          <p:cNvPr id="9" name="Shape 6"/>
          <p:cNvSpPr/>
          <p:nvPr/>
        </p:nvSpPr>
        <p:spPr>
          <a:xfrm>
            <a:off x="7772400" y="3493008"/>
            <a:ext cx="3867912" cy="2157984"/>
          </a:xfrm>
          <a:prstGeom prst="roundRect">
            <a:avLst>
              <a:gd name="adj" fmla="val 2966"/>
            </a:avLst>
          </a:prstGeom>
          <a:solidFill>
            <a:srgbClr val="1D2026"/>
          </a:solidFill>
          <a:ln w="9525">
            <a:solidFill>
              <a:srgbClr val="2F343D"/>
            </a:solidFill>
            <a:prstDash val="solid"/>
          </a:ln>
        </p:spPr>
      </p:sp>
      <p:sp>
        <p:nvSpPr>
          <p:cNvPr id="10" name="Text 7"/>
          <p:cNvSpPr txBox="1"/>
          <p:nvPr/>
        </p:nvSpPr>
        <p:spPr>
          <a:xfrm>
            <a:off x="8028432" y="3621024"/>
            <a:ext cx="3355848" cy="274320"/>
          </a:xfrm>
          <a:prstGeom prst="rect">
            <a:avLst/>
          </a:prstGeom>
          <a:noFill/>
          <a:ln/>
        </p:spPr>
        <p:txBody>
          <a:bodyPr wrap="square" lIns="0" tIns="0" rIns="0" bIns="0" rtlCol="0" anchor="ctr"/>
          <a:lstStyle/>
          <a:p>
            <a:pPr indent="0" marL="0">
              <a:buNone/>
            </a:pPr>
            <a:r>
              <a:rPr lang="en-US" sz="1800" b="1" dirty="0">
                <a:solidFill>
                  <a:srgbClr val="E8EAED"/>
                </a:solidFill>
                <a:latin typeface="Arial Narrow" pitchFamily="34" charset="0"/>
                <a:ea typeface="Arial Narrow" pitchFamily="34" charset="-122"/>
                <a:cs typeface="Arial Narrow" pitchFamily="34" charset="-120"/>
              </a:rPr>
              <a:t>Ce que dit la fourchette</a:t>
            </a:r>
            <a:endParaRPr lang="en-US" sz="1800" dirty="0"/>
          </a:p>
        </p:txBody>
      </p:sp>
      <p:sp>
        <p:nvSpPr>
          <p:cNvPr id="11" name="Text 8"/>
          <p:cNvSpPr txBox="1"/>
          <p:nvPr/>
        </p:nvSpPr>
        <p:spPr>
          <a:xfrm>
            <a:off x="8028432" y="3950208"/>
            <a:ext cx="3355848" cy="1554480"/>
          </a:xfrm>
          <a:prstGeom prst="rect">
            <a:avLst/>
          </a:prstGeom>
          <a:noFill/>
          <a:ln/>
        </p:spPr>
        <p:txBody>
          <a:bodyPr wrap="square" lIns="0" tIns="0" rIns="0" bIns="0" rtlCol="0" anchor="t"/>
          <a:lstStyle/>
          <a:p>
            <a:pPr indent="0" marL="0">
              <a:lnSpc>
                <a:spcPts val="1700"/>
              </a:lnSpc>
              <a:buNone/>
            </a:pPr>
            <a:r>
              <a:rPr lang="en-US" sz="1150" dirty="0">
                <a:solidFill>
                  <a:srgbClr val="ADB2B9"/>
                </a:solidFill>
                <a:latin typeface="Calibri" pitchFamily="34" charset="0"/>
                <a:ea typeface="Calibri" pitchFamily="34" charset="-122"/>
                <a:cs typeface="Calibri" pitchFamily="34" charset="-120"/>
              </a:rPr>
              <a:t>Le même modèle, avec des acquisitions divisées par deux ou multipliées par 1,6. Même le scénario prudent (105 abonnés à 36 mois) reste au-dessus du point mort. C'est le rythme d'acquisition qui varie, jamais le prix ni la résiliation.</a:t>
            </a:r>
            <a:endParaRPr lang="en-US" sz="1150" dirty="0"/>
          </a:p>
        </p:txBody>
      </p:sp>
      <p:sp>
        <p:nvSpPr>
          <p:cNvPr id="12" name="Text 9"/>
          <p:cNvSpPr txBox="1"/>
          <p:nvPr/>
        </p:nvSpPr>
        <p:spPr>
          <a:xfrm>
            <a:off x="548640" y="5961888"/>
            <a:ext cx="11091672" cy="310896"/>
          </a:xfrm>
          <a:prstGeom prst="rect">
            <a:avLst/>
          </a:prstGeom>
          <a:noFill/>
          <a:ln/>
        </p:spPr>
        <p:txBody>
          <a:bodyPr wrap="square" lIns="0" tIns="0" rIns="0" bIns="0" rtlCol="0" anchor="ctr"/>
          <a:lstStyle/>
          <a:p>
            <a:pPr indent="0" marL="0">
              <a:buNone/>
            </a:pPr>
            <a:r>
              <a:rPr lang="en-US" sz="950" i="1" dirty="0">
                <a:solidFill>
                  <a:srgbClr val="868E99"/>
                </a:solidFill>
                <a:latin typeface="Calibri" pitchFamily="34" charset="0"/>
                <a:ea typeface="Calibri" pitchFamily="34" charset="-122"/>
                <a:cs typeface="Calibri" pitchFamily="34" charset="-120"/>
              </a:rPr>
              <a:t>Hypothèses de travail non mesurées — voir diapositive 13</a:t>
            </a:r>
            <a:endParaRPr lang="en-US" sz="950" dirty="0"/>
          </a:p>
        </p:txBody>
      </p:sp>
      <p:sp>
        <p:nvSpPr>
          <p:cNvPr id="13" name="Text 10"/>
          <p:cNvSpPr txBox="1"/>
          <p:nvPr/>
        </p:nvSpPr>
        <p:spPr>
          <a:xfrm>
            <a:off x="548640" y="6336792"/>
            <a:ext cx="8229600" cy="274320"/>
          </a:xfrm>
          <a:prstGeom prst="rect">
            <a:avLst/>
          </a:prstGeom>
          <a:noFill/>
          <a:ln/>
        </p:spPr>
        <p:txBody>
          <a:bodyPr wrap="square" lIns="0" tIns="0" rIns="0" bIns="0" rtlCol="0" anchor="ctr"/>
          <a:lstStyle/>
          <a:p>
            <a:pPr algn="l" indent="0" marL="0">
              <a:buNone/>
            </a:pPr>
            <a:r>
              <a:rPr lang="en-US" sz="900" dirty="0">
                <a:solidFill>
                  <a:srgbClr val="868E99"/>
                </a:solidFill>
                <a:latin typeface="Calibri" pitchFamily="34" charset="0"/>
                <a:ea typeface="Calibri" pitchFamily="34" charset="-122"/>
                <a:cs typeface="Calibri" pitchFamily="34" charset="-120"/>
              </a:rPr>
              <a:t>fitcarnet Pro · business plan · 21 septembre 2026</a:t>
            </a:r>
            <a:endParaRPr lang="en-US" sz="900" dirty="0"/>
          </a:p>
        </p:txBody>
      </p:sp>
      <p:sp>
        <p:nvSpPr>
          <p:cNvPr id="14" name="Text 11"/>
          <p:cNvSpPr txBox="1"/>
          <p:nvPr/>
        </p:nvSpPr>
        <p:spPr>
          <a:xfrm>
            <a:off x="8897112" y="6336792"/>
            <a:ext cx="2743200" cy="274320"/>
          </a:xfrm>
          <a:prstGeom prst="rect">
            <a:avLst/>
          </a:prstGeom>
          <a:noFill/>
          <a:ln/>
        </p:spPr>
        <p:txBody>
          <a:bodyPr wrap="square" lIns="0" tIns="0" rIns="0" bIns="0" rtlCol="0" anchor="ctr"/>
          <a:lstStyle/>
          <a:p>
            <a:pPr algn="r" indent="0" marL="0">
              <a:buNone/>
            </a:pPr>
            <a:r>
              <a:rPr lang="en-US" sz="900" dirty="0">
                <a:solidFill>
                  <a:srgbClr val="868E99"/>
                </a:solidFill>
                <a:latin typeface="Calibri" pitchFamily="34" charset="0"/>
                <a:ea typeface="Calibri" pitchFamily="34" charset="-122"/>
                <a:cs typeface="Calibri" pitchFamily="34" charset="-120"/>
              </a:rPr>
              <a:t>14 / 24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4161A"/>
        </a:solidFill>
      </p:bgPr>
    </p:bg>
    <p:spTree>
      <p:nvGrpSpPr>
        <p:cNvPr id="1" name=""/>
        <p:cNvGrpSpPr/>
        <p:nvPr/>
      </p:nvGrpSpPr>
      <p:grpSpPr>
        <a:xfrm>
          <a:off x="0" y="0"/>
          <a:ext cx="0" cy="0"/>
          <a:chOff x="0" y="0"/>
          <a:chExt cx="0" cy="0"/>
        </a:xfrm>
      </p:grpSpPr>
      <p:sp>
        <p:nvSpPr>
          <p:cNvPr id="2" name="Text 0"/>
          <p:cNvSpPr txBox="1"/>
          <p:nvPr/>
        </p:nvSpPr>
        <p:spPr>
          <a:xfrm>
            <a:off x="548640" y="347472"/>
            <a:ext cx="11091672" cy="237744"/>
          </a:xfrm>
          <a:prstGeom prst="rect">
            <a:avLst/>
          </a:prstGeom>
          <a:noFill/>
          <a:ln/>
        </p:spPr>
        <p:txBody>
          <a:bodyPr wrap="square" lIns="0" tIns="0" rIns="0" bIns="0" rtlCol="0" anchor="ctr"/>
          <a:lstStyle/>
          <a:p>
            <a:pPr indent="0" marL="0">
              <a:buNone/>
            </a:pPr>
            <a:r>
              <a:rPr lang="en-US" sz="1050" b="1" spc="200" kern="0" dirty="0">
                <a:solidFill>
                  <a:srgbClr val="E3B23C"/>
                </a:solidFill>
                <a:latin typeface="Calibri" pitchFamily="34" charset="0"/>
                <a:ea typeface="Calibri" pitchFamily="34" charset="-122"/>
                <a:cs typeface="Calibri" pitchFamily="34" charset="-120"/>
              </a:rPr>
              <a:t>PRÉVISIONNEL · SCÉNARIO CENTRAL</a:t>
            </a:r>
            <a:endParaRPr lang="en-US" sz="1050" dirty="0"/>
          </a:p>
        </p:txBody>
      </p:sp>
      <p:sp>
        <p:nvSpPr>
          <p:cNvPr id="3" name="Text 1"/>
          <p:cNvSpPr txBox="1"/>
          <p:nvPr/>
        </p:nvSpPr>
        <p:spPr>
          <a:xfrm>
            <a:off x="548640" y="603504"/>
            <a:ext cx="11091672" cy="566928"/>
          </a:xfrm>
          <a:prstGeom prst="rect">
            <a:avLst/>
          </a:prstGeom>
          <a:noFill/>
          <a:ln/>
        </p:spPr>
        <p:txBody>
          <a:bodyPr wrap="square" lIns="0" tIns="0" rIns="0" bIns="0" rtlCol="0" anchor="ctr"/>
          <a:lstStyle/>
          <a:p>
            <a:pPr indent="0" marL="0">
              <a:buNone/>
            </a:pPr>
            <a:r>
              <a:rPr lang="en-US" sz="3000" b="1" dirty="0">
                <a:solidFill>
                  <a:srgbClr val="E8EAED"/>
                </a:solidFill>
                <a:latin typeface="Arial Narrow" pitchFamily="34" charset="0"/>
                <a:ea typeface="Arial Narrow" pitchFamily="34" charset="-122"/>
                <a:cs typeface="Arial Narrow" pitchFamily="34" charset="-120"/>
              </a:rPr>
              <a:t>Déficitaire la première année, rentable dès la deuxième</a:t>
            </a:r>
            <a:endParaRPr lang="en-US" sz="3000" dirty="0"/>
          </a:p>
        </p:txBody>
      </p:sp>
      <p:graphicFrame>
        <p:nvGraphicFramePr>
          <p:cNvPr id="4" name="Chart 0" descr=""/>
          <p:cNvGraphicFramePr/>
          <p:nvPr/>
        </p:nvGraphicFramePr>
        <p:xfrm>
          <a:off x="548640" y="1700784"/>
          <a:ext cx="6858000" cy="393192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7772400" y="1737360"/>
            <a:ext cx="3867912" cy="237744"/>
          </a:xfrm>
          <a:prstGeom prst="rect">
            <a:avLst/>
          </a:prstGeom>
          <a:noFill/>
          <a:ln/>
        </p:spPr>
        <p:txBody>
          <a:bodyPr wrap="square" lIns="0" tIns="0" rIns="0" bIns="0" rtlCol="0" anchor="ctr"/>
          <a:lstStyle/>
          <a:p>
            <a:pPr indent="0" marL="0">
              <a:buNone/>
            </a:pPr>
            <a:r>
              <a:rPr lang="en-US" sz="900" b="1" spc="120" kern="0" dirty="0">
                <a:solidFill>
                  <a:srgbClr val="E3B23C"/>
                </a:solidFill>
                <a:latin typeface="Calibri" pitchFamily="34" charset="0"/>
                <a:ea typeface="Calibri" pitchFamily="34" charset="-122"/>
                <a:cs typeface="Calibri" pitchFamily="34" charset="-120"/>
              </a:rPr>
              <a:t>RÉSULTAT AVANT RÉMUNÉRATION DU FONDATEUR</a:t>
            </a:r>
            <a:endParaRPr lang="en-US" sz="900" dirty="0"/>
          </a:p>
        </p:txBody>
      </p:sp>
      <p:sp>
        <p:nvSpPr>
          <p:cNvPr id="6" name="Shape 3"/>
          <p:cNvSpPr/>
          <p:nvPr/>
        </p:nvSpPr>
        <p:spPr>
          <a:xfrm>
            <a:off x="7772400" y="2066544"/>
            <a:ext cx="3867912" cy="768096"/>
          </a:xfrm>
          <a:prstGeom prst="roundRect">
            <a:avLst>
              <a:gd name="adj" fmla="val 8333"/>
            </a:avLst>
          </a:prstGeom>
          <a:solidFill>
            <a:srgbClr val="1D2026"/>
          </a:solidFill>
          <a:ln w="15875">
            <a:solidFill>
              <a:srgbClr val="E2675F"/>
            </a:solidFill>
            <a:prstDash val="solid"/>
          </a:ln>
        </p:spPr>
      </p:sp>
      <p:sp>
        <p:nvSpPr>
          <p:cNvPr id="7" name="Text 4"/>
          <p:cNvSpPr txBox="1"/>
          <p:nvPr/>
        </p:nvSpPr>
        <p:spPr>
          <a:xfrm>
            <a:off x="8028432" y="2066544"/>
            <a:ext cx="1280160" cy="768096"/>
          </a:xfrm>
          <a:prstGeom prst="rect">
            <a:avLst/>
          </a:prstGeom>
          <a:noFill/>
          <a:ln/>
        </p:spPr>
        <p:txBody>
          <a:bodyPr wrap="square" lIns="0" tIns="0" rIns="0" bIns="0" rtlCol="0" anchor="ctr"/>
          <a:lstStyle/>
          <a:p>
            <a:pPr indent="0" marL="0">
              <a:buNone/>
            </a:pPr>
            <a:r>
              <a:rPr lang="en-US" sz="1200" dirty="0">
                <a:solidFill>
                  <a:srgbClr val="868E99"/>
                </a:solidFill>
                <a:latin typeface="Calibri" pitchFamily="34" charset="0"/>
                <a:ea typeface="Calibri" pitchFamily="34" charset="-122"/>
                <a:cs typeface="Calibri" pitchFamily="34" charset="-120"/>
              </a:rPr>
              <a:t>Année 1</a:t>
            </a:r>
            <a:endParaRPr lang="en-US" sz="1200" dirty="0"/>
          </a:p>
        </p:txBody>
      </p:sp>
      <p:sp>
        <p:nvSpPr>
          <p:cNvPr id="8" name="Text 5"/>
          <p:cNvSpPr txBox="1"/>
          <p:nvPr/>
        </p:nvSpPr>
        <p:spPr>
          <a:xfrm>
            <a:off x="9235440" y="2066544"/>
            <a:ext cx="2130552" cy="768096"/>
          </a:xfrm>
          <a:prstGeom prst="rect">
            <a:avLst/>
          </a:prstGeom>
          <a:noFill/>
          <a:ln/>
        </p:spPr>
        <p:txBody>
          <a:bodyPr wrap="square" lIns="0" tIns="0" rIns="0" bIns="0" rtlCol="0" anchor="ctr"/>
          <a:lstStyle/>
          <a:p>
            <a:pPr algn="r" indent="0" marL="0">
              <a:buNone/>
            </a:pPr>
            <a:r>
              <a:rPr lang="en-US" sz="2800" b="1" dirty="0">
                <a:solidFill>
                  <a:srgbClr val="E2675F"/>
                </a:solidFill>
                <a:latin typeface="Arial Narrow" pitchFamily="34" charset="0"/>
                <a:ea typeface="Arial Narrow" pitchFamily="34" charset="-122"/>
                <a:cs typeface="Arial Narrow" pitchFamily="34" charset="-120"/>
              </a:rPr>
              <a:t>− 5 647 €</a:t>
            </a:r>
            <a:endParaRPr lang="en-US" sz="2800" dirty="0"/>
          </a:p>
        </p:txBody>
      </p:sp>
      <p:sp>
        <p:nvSpPr>
          <p:cNvPr id="9" name="Shape 6"/>
          <p:cNvSpPr/>
          <p:nvPr/>
        </p:nvSpPr>
        <p:spPr>
          <a:xfrm>
            <a:off x="7772400" y="2962656"/>
            <a:ext cx="3867912" cy="768096"/>
          </a:xfrm>
          <a:prstGeom prst="roundRect">
            <a:avLst>
              <a:gd name="adj" fmla="val 8333"/>
            </a:avLst>
          </a:prstGeom>
          <a:solidFill>
            <a:srgbClr val="1D2026"/>
          </a:solidFill>
          <a:ln w="9525">
            <a:solidFill>
              <a:srgbClr val="2F343D"/>
            </a:solidFill>
            <a:prstDash val="solid"/>
          </a:ln>
        </p:spPr>
      </p:sp>
      <p:sp>
        <p:nvSpPr>
          <p:cNvPr id="10" name="Text 7"/>
          <p:cNvSpPr txBox="1"/>
          <p:nvPr/>
        </p:nvSpPr>
        <p:spPr>
          <a:xfrm>
            <a:off x="8028432" y="2962656"/>
            <a:ext cx="1280160" cy="768096"/>
          </a:xfrm>
          <a:prstGeom prst="rect">
            <a:avLst/>
          </a:prstGeom>
          <a:noFill/>
          <a:ln/>
        </p:spPr>
        <p:txBody>
          <a:bodyPr wrap="square" lIns="0" tIns="0" rIns="0" bIns="0" rtlCol="0" anchor="ctr"/>
          <a:lstStyle/>
          <a:p>
            <a:pPr indent="0" marL="0">
              <a:buNone/>
            </a:pPr>
            <a:r>
              <a:rPr lang="en-US" sz="1200" dirty="0">
                <a:solidFill>
                  <a:srgbClr val="868E99"/>
                </a:solidFill>
                <a:latin typeface="Calibri" pitchFamily="34" charset="0"/>
                <a:ea typeface="Calibri" pitchFamily="34" charset="-122"/>
                <a:cs typeface="Calibri" pitchFamily="34" charset="-120"/>
              </a:rPr>
              <a:t>Année 2</a:t>
            </a:r>
            <a:endParaRPr lang="en-US" sz="1200" dirty="0"/>
          </a:p>
        </p:txBody>
      </p:sp>
      <p:sp>
        <p:nvSpPr>
          <p:cNvPr id="11" name="Text 8"/>
          <p:cNvSpPr txBox="1"/>
          <p:nvPr/>
        </p:nvSpPr>
        <p:spPr>
          <a:xfrm>
            <a:off x="9235440" y="2962656"/>
            <a:ext cx="2130552" cy="768096"/>
          </a:xfrm>
          <a:prstGeom prst="rect">
            <a:avLst/>
          </a:prstGeom>
          <a:noFill/>
          <a:ln/>
        </p:spPr>
        <p:txBody>
          <a:bodyPr wrap="square" lIns="0" tIns="0" rIns="0" bIns="0" rtlCol="0" anchor="ctr"/>
          <a:lstStyle/>
          <a:p>
            <a:pPr algn="r" indent="0" marL="0">
              <a:buNone/>
            </a:pPr>
            <a:r>
              <a:rPr lang="en-US" sz="2800" b="1" dirty="0">
                <a:solidFill>
                  <a:srgbClr val="5EC080"/>
                </a:solidFill>
                <a:latin typeface="Arial Narrow" pitchFamily="34" charset="0"/>
                <a:ea typeface="Arial Narrow" pitchFamily="34" charset="-122"/>
                <a:cs typeface="Arial Narrow" pitchFamily="34" charset="-120"/>
              </a:rPr>
              <a:t>+ 20 069 €</a:t>
            </a:r>
            <a:endParaRPr lang="en-US" sz="2800" dirty="0"/>
          </a:p>
        </p:txBody>
      </p:sp>
      <p:sp>
        <p:nvSpPr>
          <p:cNvPr id="12" name="Shape 9"/>
          <p:cNvSpPr/>
          <p:nvPr/>
        </p:nvSpPr>
        <p:spPr>
          <a:xfrm>
            <a:off x="7772400" y="3858768"/>
            <a:ext cx="3867912" cy="768096"/>
          </a:xfrm>
          <a:prstGeom prst="roundRect">
            <a:avLst>
              <a:gd name="adj" fmla="val 8333"/>
            </a:avLst>
          </a:prstGeom>
          <a:solidFill>
            <a:srgbClr val="1D2026"/>
          </a:solidFill>
          <a:ln w="9525">
            <a:solidFill>
              <a:srgbClr val="2F343D"/>
            </a:solidFill>
            <a:prstDash val="solid"/>
          </a:ln>
        </p:spPr>
      </p:sp>
      <p:sp>
        <p:nvSpPr>
          <p:cNvPr id="13" name="Text 10"/>
          <p:cNvSpPr txBox="1"/>
          <p:nvPr/>
        </p:nvSpPr>
        <p:spPr>
          <a:xfrm>
            <a:off x="8028432" y="3858768"/>
            <a:ext cx="1280160" cy="768096"/>
          </a:xfrm>
          <a:prstGeom prst="rect">
            <a:avLst/>
          </a:prstGeom>
          <a:noFill/>
          <a:ln/>
        </p:spPr>
        <p:txBody>
          <a:bodyPr wrap="square" lIns="0" tIns="0" rIns="0" bIns="0" rtlCol="0" anchor="ctr"/>
          <a:lstStyle/>
          <a:p>
            <a:pPr indent="0" marL="0">
              <a:buNone/>
            </a:pPr>
            <a:r>
              <a:rPr lang="en-US" sz="1200" dirty="0">
                <a:solidFill>
                  <a:srgbClr val="868E99"/>
                </a:solidFill>
                <a:latin typeface="Calibri" pitchFamily="34" charset="0"/>
                <a:ea typeface="Calibri" pitchFamily="34" charset="-122"/>
                <a:cs typeface="Calibri" pitchFamily="34" charset="-120"/>
              </a:rPr>
              <a:t>Année 3</a:t>
            </a:r>
            <a:endParaRPr lang="en-US" sz="1200" dirty="0"/>
          </a:p>
        </p:txBody>
      </p:sp>
      <p:sp>
        <p:nvSpPr>
          <p:cNvPr id="14" name="Text 11"/>
          <p:cNvSpPr txBox="1"/>
          <p:nvPr/>
        </p:nvSpPr>
        <p:spPr>
          <a:xfrm>
            <a:off x="9235440" y="3858768"/>
            <a:ext cx="2130552" cy="768096"/>
          </a:xfrm>
          <a:prstGeom prst="rect">
            <a:avLst/>
          </a:prstGeom>
          <a:noFill/>
          <a:ln/>
        </p:spPr>
        <p:txBody>
          <a:bodyPr wrap="square" lIns="0" tIns="0" rIns="0" bIns="0" rtlCol="0" anchor="ctr"/>
          <a:lstStyle/>
          <a:p>
            <a:pPr algn="r" indent="0" marL="0">
              <a:buNone/>
            </a:pPr>
            <a:r>
              <a:rPr lang="en-US" sz="2800" b="1" dirty="0">
                <a:solidFill>
                  <a:srgbClr val="5EC080"/>
                </a:solidFill>
                <a:latin typeface="Arial Narrow" pitchFamily="34" charset="0"/>
                <a:ea typeface="Arial Narrow" pitchFamily="34" charset="-122"/>
                <a:cs typeface="Arial Narrow" pitchFamily="34" charset="-120"/>
              </a:rPr>
              <a:t>+ 51 806 €</a:t>
            </a:r>
            <a:endParaRPr lang="en-US" sz="2800" dirty="0"/>
          </a:p>
        </p:txBody>
      </p:sp>
      <p:sp>
        <p:nvSpPr>
          <p:cNvPr id="15" name="Shape 12"/>
          <p:cNvSpPr/>
          <p:nvPr/>
        </p:nvSpPr>
        <p:spPr>
          <a:xfrm>
            <a:off x="7772400" y="4754880"/>
            <a:ext cx="3867912" cy="896112"/>
          </a:xfrm>
          <a:prstGeom prst="roundRect">
            <a:avLst>
              <a:gd name="adj" fmla="val 7143"/>
            </a:avLst>
          </a:prstGeom>
          <a:solidFill>
            <a:srgbClr val="23272E"/>
          </a:solidFill>
          <a:ln w="15875">
            <a:solidFill>
              <a:srgbClr val="E3B23C"/>
            </a:solidFill>
            <a:prstDash val="solid"/>
          </a:ln>
        </p:spPr>
      </p:sp>
      <p:sp>
        <p:nvSpPr>
          <p:cNvPr id="16" name="Text 13"/>
          <p:cNvSpPr txBox="1"/>
          <p:nvPr/>
        </p:nvSpPr>
        <p:spPr>
          <a:xfrm>
            <a:off x="8028432" y="4754880"/>
            <a:ext cx="3355848" cy="896112"/>
          </a:xfrm>
          <a:prstGeom prst="rect">
            <a:avLst/>
          </a:prstGeom>
          <a:noFill/>
          <a:ln/>
        </p:spPr>
        <p:txBody>
          <a:bodyPr wrap="square" lIns="0" tIns="0" rIns="0" bIns="0" rtlCol="0" anchor="ctr"/>
          <a:lstStyle/>
          <a:p>
            <a:pPr indent="0" marL="0">
              <a:lnSpc>
                <a:spcPts val="1700"/>
              </a:lnSpc>
              <a:buNone/>
            </a:pPr>
            <a:r>
              <a:rPr lang="en-US" sz="1200" dirty="0">
                <a:solidFill>
                  <a:srgbClr val="ADB2B9"/>
                </a:solidFill>
                <a:latin typeface="Calibri" pitchFamily="34" charset="0"/>
                <a:ea typeface="Calibri" pitchFamily="34" charset="-122"/>
                <a:cs typeface="Calibri" pitchFamily="34" charset="-120"/>
              </a:rPr>
              <a:t>Besoin de financement : </a:t>
            </a:r>
            <a:pPr indent="0" marL="0">
              <a:lnSpc>
                <a:spcPts val="1700"/>
              </a:lnSpc>
              <a:buNone/>
            </a:pPr>
            <a:r>
              <a:rPr lang="en-US" sz="1200" b="1" dirty="0">
                <a:solidFill>
                  <a:srgbClr val="E3B23C"/>
                </a:solidFill>
                <a:latin typeface="Calibri" pitchFamily="34" charset="0"/>
                <a:ea typeface="Calibri" pitchFamily="34" charset="-122"/>
                <a:cs typeface="Calibri" pitchFamily="34" charset="-120"/>
              </a:rPr>
              <a:t>≈ 6 000 €</a:t>
            </a:r>
            <a:pPr indent="0" marL="0">
              <a:lnSpc>
                <a:spcPts val="1700"/>
              </a:lnSpc>
              <a:buNone/>
            </a:pPr>
            <a:r>
              <a:rPr lang="en-US" sz="1200" dirty="0">
                <a:solidFill>
                  <a:srgbClr val="ADB2B9"/>
                </a:solidFill>
                <a:latin typeface="Calibri" pitchFamily="34" charset="0"/>
                <a:ea typeface="Calibri" pitchFamily="34" charset="-122"/>
                <a:cs typeface="Calibri" pitchFamily="34" charset="-120"/>
              </a:rPr>
              <a:t> la première année. Point mort atteint vers le mois 13.</a:t>
            </a:r>
            <a:endParaRPr lang="en-US" sz="1200" dirty="0"/>
          </a:p>
        </p:txBody>
      </p:sp>
      <p:sp>
        <p:nvSpPr>
          <p:cNvPr id="17" name="Text 14"/>
          <p:cNvSpPr txBox="1"/>
          <p:nvPr/>
        </p:nvSpPr>
        <p:spPr>
          <a:xfrm>
            <a:off x="548640" y="5961888"/>
            <a:ext cx="11091672" cy="310896"/>
          </a:xfrm>
          <a:prstGeom prst="rect">
            <a:avLst/>
          </a:prstGeom>
          <a:noFill/>
          <a:ln/>
        </p:spPr>
        <p:txBody>
          <a:bodyPr wrap="square" lIns="0" tIns="0" rIns="0" bIns="0" rtlCol="0" anchor="ctr"/>
          <a:lstStyle/>
          <a:p>
            <a:pPr indent="0" marL="0">
              <a:buNone/>
            </a:pPr>
            <a:r>
              <a:rPr lang="en-US" sz="950" i="1" dirty="0">
                <a:solidFill>
                  <a:srgbClr val="868E99"/>
                </a:solidFill>
                <a:latin typeface="Calibri" pitchFamily="34" charset="0"/>
                <a:ea typeface="Calibri" pitchFamily="34" charset="-122"/>
                <a:cs typeface="Calibri" pitchFamily="34" charset="-120"/>
              </a:rPr>
              <a:t>Montants hors TVA · détail des charges en annexe · hypothèses diapositive 13</a:t>
            </a:r>
            <a:endParaRPr lang="en-US" sz="950" dirty="0"/>
          </a:p>
        </p:txBody>
      </p:sp>
      <p:sp>
        <p:nvSpPr>
          <p:cNvPr id="18" name="Text 15"/>
          <p:cNvSpPr txBox="1"/>
          <p:nvPr/>
        </p:nvSpPr>
        <p:spPr>
          <a:xfrm>
            <a:off x="548640" y="6336792"/>
            <a:ext cx="8229600" cy="274320"/>
          </a:xfrm>
          <a:prstGeom prst="rect">
            <a:avLst/>
          </a:prstGeom>
          <a:noFill/>
          <a:ln/>
        </p:spPr>
        <p:txBody>
          <a:bodyPr wrap="square" lIns="0" tIns="0" rIns="0" bIns="0" rtlCol="0" anchor="ctr"/>
          <a:lstStyle/>
          <a:p>
            <a:pPr algn="l" indent="0" marL="0">
              <a:buNone/>
            </a:pPr>
            <a:r>
              <a:rPr lang="en-US" sz="900" dirty="0">
                <a:solidFill>
                  <a:srgbClr val="868E99"/>
                </a:solidFill>
                <a:latin typeface="Calibri" pitchFamily="34" charset="0"/>
                <a:ea typeface="Calibri" pitchFamily="34" charset="-122"/>
                <a:cs typeface="Calibri" pitchFamily="34" charset="-120"/>
              </a:rPr>
              <a:t>fitcarnet Pro · business plan · 21 septembre 2026</a:t>
            </a:r>
            <a:endParaRPr lang="en-US" sz="900" dirty="0"/>
          </a:p>
        </p:txBody>
      </p:sp>
      <p:sp>
        <p:nvSpPr>
          <p:cNvPr id="19" name="Text 16"/>
          <p:cNvSpPr txBox="1"/>
          <p:nvPr/>
        </p:nvSpPr>
        <p:spPr>
          <a:xfrm>
            <a:off x="8897112" y="6336792"/>
            <a:ext cx="2743200" cy="274320"/>
          </a:xfrm>
          <a:prstGeom prst="rect">
            <a:avLst/>
          </a:prstGeom>
          <a:noFill/>
          <a:ln/>
        </p:spPr>
        <p:txBody>
          <a:bodyPr wrap="square" lIns="0" tIns="0" rIns="0" bIns="0" rtlCol="0" anchor="ctr"/>
          <a:lstStyle/>
          <a:p>
            <a:pPr algn="r" indent="0" marL="0">
              <a:buNone/>
            </a:pPr>
            <a:r>
              <a:rPr lang="en-US" sz="900" dirty="0">
                <a:solidFill>
                  <a:srgbClr val="868E99"/>
                </a:solidFill>
                <a:latin typeface="Calibri" pitchFamily="34" charset="0"/>
                <a:ea typeface="Calibri" pitchFamily="34" charset="-122"/>
                <a:cs typeface="Calibri" pitchFamily="34" charset="-120"/>
              </a:rPr>
              <a:t>15 / 24</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4161A"/>
        </a:solidFill>
      </p:bgPr>
    </p:bg>
    <p:spTree>
      <p:nvGrpSpPr>
        <p:cNvPr id="1" name=""/>
        <p:cNvGrpSpPr/>
        <p:nvPr/>
      </p:nvGrpSpPr>
      <p:grpSpPr>
        <a:xfrm>
          <a:off x="0" y="0"/>
          <a:ext cx="0" cy="0"/>
          <a:chOff x="0" y="0"/>
          <a:chExt cx="0" cy="0"/>
        </a:xfrm>
      </p:grpSpPr>
      <p:sp>
        <p:nvSpPr>
          <p:cNvPr id="2" name="Text 0"/>
          <p:cNvSpPr txBox="1"/>
          <p:nvPr/>
        </p:nvSpPr>
        <p:spPr>
          <a:xfrm>
            <a:off x="548640" y="347472"/>
            <a:ext cx="11091672" cy="237744"/>
          </a:xfrm>
          <a:prstGeom prst="rect">
            <a:avLst/>
          </a:prstGeom>
          <a:noFill/>
          <a:ln/>
        </p:spPr>
        <p:txBody>
          <a:bodyPr wrap="square" lIns="0" tIns="0" rIns="0" bIns="0" rtlCol="0" anchor="ctr"/>
          <a:lstStyle/>
          <a:p>
            <a:pPr indent="0" marL="0">
              <a:buNone/>
            </a:pPr>
            <a:r>
              <a:rPr lang="en-US" sz="1050" b="1" spc="200" kern="0" dirty="0">
                <a:solidFill>
                  <a:srgbClr val="E3B23C"/>
                </a:solidFill>
                <a:latin typeface="Calibri" pitchFamily="34" charset="0"/>
                <a:ea typeface="Calibri" pitchFamily="34" charset="-122"/>
                <a:cs typeface="Calibri" pitchFamily="34" charset="-120"/>
              </a:rPr>
              <a:t>RISQUES ET PARADES</a:t>
            </a:r>
            <a:endParaRPr lang="en-US" sz="1050" dirty="0"/>
          </a:p>
        </p:txBody>
      </p:sp>
      <p:sp>
        <p:nvSpPr>
          <p:cNvPr id="3" name="Text 1"/>
          <p:cNvSpPr txBox="1"/>
          <p:nvPr/>
        </p:nvSpPr>
        <p:spPr>
          <a:xfrm>
            <a:off x="548640" y="603504"/>
            <a:ext cx="11091672" cy="566928"/>
          </a:xfrm>
          <a:prstGeom prst="rect">
            <a:avLst/>
          </a:prstGeom>
          <a:noFill/>
          <a:ln/>
        </p:spPr>
        <p:txBody>
          <a:bodyPr wrap="square" lIns="0" tIns="0" rIns="0" bIns="0" rtlCol="0" anchor="ctr"/>
          <a:lstStyle/>
          <a:p>
            <a:pPr indent="0" marL="0">
              <a:buNone/>
            </a:pPr>
            <a:r>
              <a:rPr lang="en-US" sz="3000" b="1" dirty="0">
                <a:solidFill>
                  <a:srgbClr val="E8EAED"/>
                </a:solidFill>
                <a:latin typeface="Arial Narrow" pitchFamily="34" charset="0"/>
                <a:ea typeface="Arial Narrow" pitchFamily="34" charset="-122"/>
                <a:cs typeface="Arial Narrow" pitchFamily="34" charset="-120"/>
              </a:rPr>
              <a:t>Ce qui peut faire échouer le projet, et la parade de chacun</a:t>
            </a:r>
            <a:endParaRPr lang="en-US" sz="3000" dirty="0"/>
          </a:p>
        </p:txBody>
      </p:sp>
      <p:sp>
        <p:nvSpPr>
          <p:cNvPr id="4" name="Shape 2"/>
          <p:cNvSpPr/>
          <p:nvPr/>
        </p:nvSpPr>
        <p:spPr>
          <a:xfrm>
            <a:off x="548640" y="1837944"/>
            <a:ext cx="896112" cy="237744"/>
          </a:xfrm>
          <a:prstGeom prst="roundRect">
            <a:avLst>
              <a:gd name="adj" fmla="val 50000"/>
            </a:avLst>
          </a:prstGeom>
          <a:solidFill>
            <a:srgbClr val="23272E"/>
          </a:solidFill>
          <a:ln w="12700">
            <a:solidFill>
              <a:srgbClr val="E2675F"/>
            </a:solidFill>
            <a:prstDash val="solid"/>
          </a:ln>
        </p:spPr>
      </p:sp>
      <p:sp>
        <p:nvSpPr>
          <p:cNvPr id="5" name="Text 3"/>
          <p:cNvSpPr txBox="1"/>
          <p:nvPr/>
        </p:nvSpPr>
        <p:spPr>
          <a:xfrm>
            <a:off x="548640" y="1837944"/>
            <a:ext cx="896112" cy="237744"/>
          </a:xfrm>
          <a:prstGeom prst="rect">
            <a:avLst/>
          </a:prstGeom>
          <a:noFill/>
          <a:ln/>
        </p:spPr>
        <p:txBody>
          <a:bodyPr wrap="square" lIns="0" tIns="0" rIns="0" bIns="0" rtlCol="0" anchor="ctr"/>
          <a:lstStyle/>
          <a:p>
            <a:pPr algn="ctr" indent="0" marL="0">
              <a:buNone/>
            </a:pPr>
            <a:r>
              <a:rPr lang="en-US" sz="850" b="1" dirty="0">
                <a:solidFill>
                  <a:srgbClr val="E2675F"/>
                </a:solidFill>
                <a:latin typeface="Calibri" pitchFamily="34" charset="0"/>
                <a:ea typeface="Calibri" pitchFamily="34" charset="-122"/>
                <a:cs typeface="Calibri" pitchFamily="34" charset="-120"/>
              </a:rPr>
              <a:t>BLOQUANT</a:t>
            </a:r>
            <a:endParaRPr lang="en-US" sz="850" dirty="0"/>
          </a:p>
        </p:txBody>
      </p:sp>
      <p:sp>
        <p:nvSpPr>
          <p:cNvPr id="6" name="Text 4"/>
          <p:cNvSpPr txBox="1"/>
          <p:nvPr/>
        </p:nvSpPr>
        <p:spPr>
          <a:xfrm>
            <a:off x="1609344" y="1700784"/>
            <a:ext cx="3200400" cy="512064"/>
          </a:xfrm>
          <a:prstGeom prst="rect">
            <a:avLst/>
          </a:prstGeom>
          <a:noFill/>
          <a:ln/>
        </p:spPr>
        <p:txBody>
          <a:bodyPr wrap="square" lIns="0" tIns="0" rIns="0" bIns="0" rtlCol="0" anchor="ctr"/>
          <a:lstStyle/>
          <a:p>
            <a:pPr indent="0" marL="0">
              <a:buNone/>
            </a:pPr>
            <a:r>
              <a:rPr lang="en-US" sz="1200" b="1" dirty="0">
                <a:solidFill>
                  <a:srgbClr val="E8EAED"/>
                </a:solidFill>
                <a:latin typeface="Calibri" pitchFamily="34" charset="0"/>
                <a:ea typeface="Calibri" pitchFamily="34" charset="-122"/>
                <a:cs typeface="Calibri" pitchFamily="34" charset="-120"/>
              </a:rPr>
              <a:t>Droits sur le catalogue d'exercices</a:t>
            </a:r>
            <a:endParaRPr lang="en-US" sz="1200" dirty="0"/>
          </a:p>
        </p:txBody>
      </p:sp>
      <p:sp>
        <p:nvSpPr>
          <p:cNvPr id="7" name="Text 5"/>
          <p:cNvSpPr txBox="1"/>
          <p:nvPr/>
        </p:nvSpPr>
        <p:spPr>
          <a:xfrm>
            <a:off x="4919472" y="1700784"/>
            <a:ext cx="6720840" cy="512064"/>
          </a:xfrm>
          <a:prstGeom prst="rect">
            <a:avLst/>
          </a:prstGeom>
          <a:noFill/>
          <a:ln/>
        </p:spPr>
        <p:txBody>
          <a:bodyPr wrap="square" lIns="0" tIns="0" rIns="0" bIns="0" rtlCol="0" anchor="ctr"/>
          <a:lstStyle/>
          <a:p>
            <a:pPr indent="0" marL="0">
              <a:lnSpc>
                <a:spcPts val="1400"/>
              </a:lnSpc>
              <a:buNone/>
            </a:pPr>
            <a:r>
              <a:rPr lang="en-US" sz="1050" dirty="0">
                <a:solidFill>
                  <a:srgbClr val="ADB2B9"/>
                </a:solidFill>
                <a:latin typeface="Calibri" pitchFamily="34" charset="0"/>
                <a:ea typeface="Calibri" pitchFamily="34" charset="-122"/>
                <a:cs typeface="Calibri" pitchFamily="34" charset="-120"/>
              </a:rPr>
              <a:t>Le format de exercises.json ressemble à celui d'ExerciseDB, vendu sous licence commerciale. Vérifier la provenance ; acheter la licence (paiement unique) ou passer à un jeu de données libre.</a:t>
            </a:r>
            <a:endParaRPr lang="en-US" sz="1050" dirty="0"/>
          </a:p>
        </p:txBody>
      </p:sp>
      <p:sp>
        <p:nvSpPr>
          <p:cNvPr id="8" name="Shape 6"/>
          <p:cNvSpPr/>
          <p:nvPr/>
        </p:nvSpPr>
        <p:spPr>
          <a:xfrm>
            <a:off x="475488" y="2212848"/>
            <a:ext cx="11237976" cy="512064"/>
          </a:xfrm>
          <a:prstGeom prst="rect">
            <a:avLst/>
          </a:prstGeom>
          <a:solidFill>
            <a:srgbClr val="1D2026"/>
          </a:solidFill>
          <a:ln w="12700">
            <a:solidFill>
              <a:srgbClr val="1D2026"/>
            </a:solidFill>
            <a:prstDash val="solid"/>
          </a:ln>
        </p:spPr>
      </p:sp>
      <p:sp>
        <p:nvSpPr>
          <p:cNvPr id="9" name="Shape 7"/>
          <p:cNvSpPr/>
          <p:nvPr/>
        </p:nvSpPr>
        <p:spPr>
          <a:xfrm>
            <a:off x="548640" y="2350008"/>
            <a:ext cx="896112" cy="237744"/>
          </a:xfrm>
          <a:prstGeom prst="roundRect">
            <a:avLst>
              <a:gd name="adj" fmla="val 50000"/>
            </a:avLst>
          </a:prstGeom>
          <a:solidFill>
            <a:srgbClr val="23272E"/>
          </a:solidFill>
          <a:ln w="12700">
            <a:solidFill>
              <a:srgbClr val="E3B23C"/>
            </a:solidFill>
            <a:prstDash val="solid"/>
          </a:ln>
        </p:spPr>
      </p:sp>
      <p:sp>
        <p:nvSpPr>
          <p:cNvPr id="10" name="Text 8"/>
          <p:cNvSpPr txBox="1"/>
          <p:nvPr/>
        </p:nvSpPr>
        <p:spPr>
          <a:xfrm>
            <a:off x="548640" y="2350008"/>
            <a:ext cx="896112" cy="237744"/>
          </a:xfrm>
          <a:prstGeom prst="rect">
            <a:avLst/>
          </a:prstGeom>
          <a:noFill/>
          <a:ln/>
        </p:spPr>
        <p:txBody>
          <a:bodyPr wrap="square" lIns="0" tIns="0" rIns="0" bIns="0" rtlCol="0" anchor="ctr"/>
          <a:lstStyle/>
          <a:p>
            <a:pPr algn="ctr" indent="0" marL="0">
              <a:buNone/>
            </a:pPr>
            <a:r>
              <a:rPr lang="en-US" sz="850" b="1" dirty="0">
                <a:solidFill>
                  <a:srgbClr val="E3B23C"/>
                </a:solidFill>
                <a:latin typeface="Calibri" pitchFamily="34" charset="0"/>
                <a:ea typeface="Calibri" pitchFamily="34" charset="-122"/>
                <a:cs typeface="Calibri" pitchFamily="34" charset="-120"/>
              </a:rPr>
              <a:t>ÉLEVÉ</a:t>
            </a:r>
            <a:endParaRPr lang="en-US" sz="850" dirty="0"/>
          </a:p>
        </p:txBody>
      </p:sp>
      <p:sp>
        <p:nvSpPr>
          <p:cNvPr id="11" name="Text 9"/>
          <p:cNvSpPr txBox="1"/>
          <p:nvPr/>
        </p:nvSpPr>
        <p:spPr>
          <a:xfrm>
            <a:off x="1609344" y="2212848"/>
            <a:ext cx="3200400" cy="512064"/>
          </a:xfrm>
          <a:prstGeom prst="rect">
            <a:avLst/>
          </a:prstGeom>
          <a:noFill/>
          <a:ln/>
        </p:spPr>
        <p:txBody>
          <a:bodyPr wrap="square" lIns="0" tIns="0" rIns="0" bIns="0" rtlCol="0" anchor="ctr"/>
          <a:lstStyle/>
          <a:p>
            <a:pPr indent="0" marL="0">
              <a:buNone/>
            </a:pPr>
            <a:r>
              <a:rPr lang="en-US" sz="1200" b="1" dirty="0">
                <a:solidFill>
                  <a:srgbClr val="E8EAED"/>
                </a:solidFill>
                <a:latin typeface="Calibri" pitchFamily="34" charset="0"/>
                <a:ea typeface="Calibri" pitchFamily="34" charset="-122"/>
                <a:cs typeface="Calibri" pitchFamily="34" charset="-120"/>
              </a:rPr>
              <a:t>Données de santé</a:t>
            </a:r>
            <a:endParaRPr lang="en-US" sz="1200" dirty="0"/>
          </a:p>
        </p:txBody>
      </p:sp>
      <p:sp>
        <p:nvSpPr>
          <p:cNvPr id="12" name="Text 10"/>
          <p:cNvSpPr txBox="1"/>
          <p:nvPr/>
        </p:nvSpPr>
        <p:spPr>
          <a:xfrm>
            <a:off x="4919472" y="2212848"/>
            <a:ext cx="6720840" cy="512064"/>
          </a:xfrm>
          <a:prstGeom prst="rect">
            <a:avLst/>
          </a:prstGeom>
          <a:noFill/>
          <a:ln/>
        </p:spPr>
        <p:txBody>
          <a:bodyPr wrap="square" lIns="0" tIns="0" rIns="0" bIns="0" rtlCol="0" anchor="ctr"/>
          <a:lstStyle/>
          <a:p>
            <a:pPr indent="0" marL="0">
              <a:lnSpc>
                <a:spcPts val="1400"/>
              </a:lnSpc>
              <a:buNone/>
            </a:pPr>
            <a:r>
              <a:rPr lang="en-US" sz="1050" dirty="0">
                <a:solidFill>
                  <a:srgbClr val="ADB2B9"/>
                </a:solidFill>
                <a:latin typeface="Calibri" pitchFamily="34" charset="0"/>
                <a:ea typeface="Calibri" pitchFamily="34" charset="-122"/>
                <a:cs typeface="Calibri" pitchFamily="34" charset="-120"/>
              </a:rPr>
              <a:t>Poids, objectifs et alimentation peuvent relever de l'article 9 du RGPD. Analyse d'impact, consentement explicite, hébergeur adapté ; faire trancher la question HDS par un juriste.</a:t>
            </a:r>
            <a:endParaRPr lang="en-US" sz="1050" dirty="0"/>
          </a:p>
        </p:txBody>
      </p:sp>
      <p:sp>
        <p:nvSpPr>
          <p:cNvPr id="13" name="Shape 11"/>
          <p:cNvSpPr/>
          <p:nvPr/>
        </p:nvSpPr>
        <p:spPr>
          <a:xfrm>
            <a:off x="548640" y="2862072"/>
            <a:ext cx="896112" cy="237744"/>
          </a:xfrm>
          <a:prstGeom prst="roundRect">
            <a:avLst>
              <a:gd name="adj" fmla="val 50000"/>
            </a:avLst>
          </a:prstGeom>
          <a:solidFill>
            <a:srgbClr val="23272E"/>
          </a:solidFill>
          <a:ln w="12700">
            <a:solidFill>
              <a:srgbClr val="E3B23C"/>
            </a:solidFill>
            <a:prstDash val="solid"/>
          </a:ln>
        </p:spPr>
      </p:sp>
      <p:sp>
        <p:nvSpPr>
          <p:cNvPr id="14" name="Text 12"/>
          <p:cNvSpPr txBox="1"/>
          <p:nvPr/>
        </p:nvSpPr>
        <p:spPr>
          <a:xfrm>
            <a:off x="548640" y="2862072"/>
            <a:ext cx="896112" cy="237744"/>
          </a:xfrm>
          <a:prstGeom prst="rect">
            <a:avLst/>
          </a:prstGeom>
          <a:noFill/>
          <a:ln/>
        </p:spPr>
        <p:txBody>
          <a:bodyPr wrap="square" lIns="0" tIns="0" rIns="0" bIns="0" rtlCol="0" anchor="ctr"/>
          <a:lstStyle/>
          <a:p>
            <a:pPr algn="ctr" indent="0" marL="0">
              <a:buNone/>
            </a:pPr>
            <a:r>
              <a:rPr lang="en-US" sz="850" b="1" dirty="0">
                <a:solidFill>
                  <a:srgbClr val="E3B23C"/>
                </a:solidFill>
                <a:latin typeface="Calibri" pitchFamily="34" charset="0"/>
                <a:ea typeface="Calibri" pitchFamily="34" charset="-122"/>
                <a:cs typeface="Calibri" pitchFamily="34" charset="-120"/>
              </a:rPr>
              <a:t>ÉLEVÉ</a:t>
            </a:r>
            <a:endParaRPr lang="en-US" sz="850" dirty="0"/>
          </a:p>
        </p:txBody>
      </p:sp>
      <p:sp>
        <p:nvSpPr>
          <p:cNvPr id="15" name="Text 13"/>
          <p:cNvSpPr txBox="1"/>
          <p:nvPr/>
        </p:nvSpPr>
        <p:spPr>
          <a:xfrm>
            <a:off x="1609344" y="2724912"/>
            <a:ext cx="3200400" cy="512064"/>
          </a:xfrm>
          <a:prstGeom prst="rect">
            <a:avLst/>
          </a:prstGeom>
          <a:noFill/>
          <a:ln/>
        </p:spPr>
        <p:txBody>
          <a:bodyPr wrap="square" lIns="0" tIns="0" rIns="0" bIns="0" rtlCol="0" anchor="ctr"/>
          <a:lstStyle/>
          <a:p>
            <a:pPr indent="0" marL="0">
              <a:buNone/>
            </a:pPr>
            <a:r>
              <a:rPr lang="en-US" sz="1200" b="1" dirty="0">
                <a:solidFill>
                  <a:srgbClr val="E8EAED"/>
                </a:solidFill>
                <a:latin typeface="Calibri" pitchFamily="34" charset="0"/>
                <a:ea typeface="Calibri" pitchFamily="34" charset="-122"/>
                <a:cs typeface="Calibri" pitchFamily="34" charset="-120"/>
              </a:rPr>
              <a:t>Fuite entre coachs ou entre clients</a:t>
            </a:r>
            <a:endParaRPr lang="en-US" sz="1200" dirty="0"/>
          </a:p>
        </p:txBody>
      </p:sp>
      <p:sp>
        <p:nvSpPr>
          <p:cNvPr id="16" name="Text 14"/>
          <p:cNvSpPr txBox="1"/>
          <p:nvPr/>
        </p:nvSpPr>
        <p:spPr>
          <a:xfrm>
            <a:off x="4919472" y="2724912"/>
            <a:ext cx="6720840" cy="512064"/>
          </a:xfrm>
          <a:prstGeom prst="rect">
            <a:avLst/>
          </a:prstGeom>
          <a:noFill/>
          <a:ln/>
        </p:spPr>
        <p:txBody>
          <a:bodyPr wrap="square" lIns="0" tIns="0" rIns="0" bIns="0" rtlCol="0" anchor="ctr"/>
          <a:lstStyle/>
          <a:p>
            <a:pPr indent="0" marL="0">
              <a:lnSpc>
                <a:spcPts val="1400"/>
              </a:lnSpc>
              <a:buNone/>
            </a:pPr>
            <a:r>
              <a:rPr lang="en-US" sz="1050" dirty="0">
                <a:solidFill>
                  <a:srgbClr val="ADB2B9"/>
                </a:solidFill>
                <a:latin typeface="Calibri" pitchFamily="34" charset="0"/>
                <a:ea typeface="Calibri" pitchFamily="34" charset="-122"/>
                <a:cs typeface="Calibri" pitchFamily="34" charset="-120"/>
              </a:rPr>
              <a:t>Le partage coach ↔ client ouvre une porte dans une isolation aujourd'hui étanche. Partage explicite et révocable, testé comme l'isolation actuelle (18 tests).</a:t>
            </a:r>
            <a:endParaRPr lang="en-US" sz="1050" dirty="0"/>
          </a:p>
        </p:txBody>
      </p:sp>
      <p:sp>
        <p:nvSpPr>
          <p:cNvPr id="17" name="Shape 15"/>
          <p:cNvSpPr/>
          <p:nvPr/>
        </p:nvSpPr>
        <p:spPr>
          <a:xfrm>
            <a:off x="475488" y="3236976"/>
            <a:ext cx="11237976" cy="512064"/>
          </a:xfrm>
          <a:prstGeom prst="rect">
            <a:avLst/>
          </a:prstGeom>
          <a:solidFill>
            <a:srgbClr val="1D2026"/>
          </a:solidFill>
          <a:ln w="12700">
            <a:solidFill>
              <a:srgbClr val="1D2026"/>
            </a:solidFill>
            <a:prstDash val="solid"/>
          </a:ln>
        </p:spPr>
      </p:sp>
      <p:sp>
        <p:nvSpPr>
          <p:cNvPr id="18" name="Shape 16"/>
          <p:cNvSpPr/>
          <p:nvPr/>
        </p:nvSpPr>
        <p:spPr>
          <a:xfrm>
            <a:off x="548640" y="3374136"/>
            <a:ext cx="896112" cy="237744"/>
          </a:xfrm>
          <a:prstGeom prst="roundRect">
            <a:avLst>
              <a:gd name="adj" fmla="val 50000"/>
            </a:avLst>
          </a:prstGeom>
          <a:solidFill>
            <a:srgbClr val="23272E"/>
          </a:solidFill>
          <a:ln w="12700">
            <a:solidFill>
              <a:srgbClr val="7BA7DD"/>
            </a:solidFill>
            <a:prstDash val="solid"/>
          </a:ln>
        </p:spPr>
      </p:sp>
      <p:sp>
        <p:nvSpPr>
          <p:cNvPr id="19" name="Text 17"/>
          <p:cNvSpPr txBox="1"/>
          <p:nvPr/>
        </p:nvSpPr>
        <p:spPr>
          <a:xfrm>
            <a:off x="548640" y="3374136"/>
            <a:ext cx="896112" cy="237744"/>
          </a:xfrm>
          <a:prstGeom prst="rect">
            <a:avLst/>
          </a:prstGeom>
          <a:noFill/>
          <a:ln/>
        </p:spPr>
        <p:txBody>
          <a:bodyPr wrap="square" lIns="0" tIns="0" rIns="0" bIns="0" rtlCol="0" anchor="ctr"/>
          <a:lstStyle/>
          <a:p>
            <a:pPr algn="ctr" indent="0" marL="0">
              <a:buNone/>
            </a:pPr>
            <a:r>
              <a:rPr lang="en-US" sz="850" b="1" dirty="0">
                <a:solidFill>
                  <a:srgbClr val="7BA7DD"/>
                </a:solidFill>
                <a:latin typeface="Calibri" pitchFamily="34" charset="0"/>
                <a:ea typeface="Calibri" pitchFamily="34" charset="-122"/>
                <a:cs typeface="Calibri" pitchFamily="34" charset="-120"/>
              </a:rPr>
              <a:t>MOYEN</a:t>
            </a:r>
            <a:endParaRPr lang="en-US" sz="850" dirty="0"/>
          </a:p>
        </p:txBody>
      </p:sp>
      <p:sp>
        <p:nvSpPr>
          <p:cNvPr id="20" name="Text 18"/>
          <p:cNvSpPr txBox="1"/>
          <p:nvPr/>
        </p:nvSpPr>
        <p:spPr>
          <a:xfrm>
            <a:off x="1609344" y="3236976"/>
            <a:ext cx="3200400" cy="512064"/>
          </a:xfrm>
          <a:prstGeom prst="rect">
            <a:avLst/>
          </a:prstGeom>
          <a:noFill/>
          <a:ln/>
        </p:spPr>
        <p:txBody>
          <a:bodyPr wrap="square" lIns="0" tIns="0" rIns="0" bIns="0" rtlCol="0" anchor="ctr"/>
          <a:lstStyle/>
          <a:p>
            <a:pPr indent="0" marL="0">
              <a:buNone/>
            </a:pPr>
            <a:r>
              <a:rPr lang="en-US" sz="1200" b="1" dirty="0">
                <a:solidFill>
                  <a:srgbClr val="E8EAED"/>
                </a:solidFill>
                <a:latin typeface="Calibri" pitchFamily="34" charset="0"/>
                <a:ea typeface="Calibri" pitchFamily="34" charset="-122"/>
                <a:cs typeface="Calibri" pitchFamily="34" charset="-120"/>
              </a:rPr>
              <a:t>Pas d'iOS</a:t>
            </a:r>
            <a:endParaRPr lang="en-US" sz="1200" dirty="0"/>
          </a:p>
        </p:txBody>
      </p:sp>
      <p:sp>
        <p:nvSpPr>
          <p:cNvPr id="21" name="Text 19"/>
          <p:cNvSpPr txBox="1"/>
          <p:nvPr/>
        </p:nvSpPr>
        <p:spPr>
          <a:xfrm>
            <a:off x="4919472" y="3236976"/>
            <a:ext cx="6720840" cy="512064"/>
          </a:xfrm>
          <a:prstGeom prst="rect">
            <a:avLst/>
          </a:prstGeom>
          <a:noFill/>
          <a:ln/>
        </p:spPr>
        <p:txBody>
          <a:bodyPr wrap="square" lIns="0" tIns="0" rIns="0" bIns="0" rtlCol="0" anchor="ctr"/>
          <a:lstStyle/>
          <a:p>
            <a:pPr indent="0" marL="0">
              <a:lnSpc>
                <a:spcPts val="1400"/>
              </a:lnSpc>
              <a:buNone/>
            </a:pPr>
            <a:r>
              <a:rPr lang="en-US" sz="1050" dirty="0">
                <a:solidFill>
                  <a:srgbClr val="ADB2B9"/>
                </a:solidFill>
                <a:latin typeface="Calibri" pitchFamily="34" charset="0"/>
                <a:ea typeface="Calibri" pitchFamily="34" charset="-122"/>
                <a:cs typeface="Calibri" pitchFamily="34" charset="-120"/>
              </a:rPr>
              <a:t>Un tiers des clients finaux est sur iPhone. Publication iOS avant la fin de l'année 1.</a:t>
            </a:r>
            <a:endParaRPr lang="en-US" sz="1050" dirty="0"/>
          </a:p>
        </p:txBody>
      </p:sp>
      <p:sp>
        <p:nvSpPr>
          <p:cNvPr id="22" name="Shape 20"/>
          <p:cNvSpPr/>
          <p:nvPr/>
        </p:nvSpPr>
        <p:spPr>
          <a:xfrm>
            <a:off x="548640" y="3886200"/>
            <a:ext cx="896112" cy="237744"/>
          </a:xfrm>
          <a:prstGeom prst="roundRect">
            <a:avLst>
              <a:gd name="adj" fmla="val 50000"/>
            </a:avLst>
          </a:prstGeom>
          <a:solidFill>
            <a:srgbClr val="23272E"/>
          </a:solidFill>
          <a:ln w="12700">
            <a:solidFill>
              <a:srgbClr val="7BA7DD"/>
            </a:solidFill>
            <a:prstDash val="solid"/>
          </a:ln>
        </p:spPr>
      </p:sp>
      <p:sp>
        <p:nvSpPr>
          <p:cNvPr id="23" name="Text 21"/>
          <p:cNvSpPr txBox="1"/>
          <p:nvPr/>
        </p:nvSpPr>
        <p:spPr>
          <a:xfrm>
            <a:off x="548640" y="3886200"/>
            <a:ext cx="896112" cy="237744"/>
          </a:xfrm>
          <a:prstGeom prst="rect">
            <a:avLst/>
          </a:prstGeom>
          <a:noFill/>
          <a:ln/>
        </p:spPr>
        <p:txBody>
          <a:bodyPr wrap="square" lIns="0" tIns="0" rIns="0" bIns="0" rtlCol="0" anchor="ctr"/>
          <a:lstStyle/>
          <a:p>
            <a:pPr algn="ctr" indent="0" marL="0">
              <a:buNone/>
            </a:pPr>
            <a:r>
              <a:rPr lang="en-US" sz="850" b="1" dirty="0">
                <a:solidFill>
                  <a:srgbClr val="7BA7DD"/>
                </a:solidFill>
                <a:latin typeface="Calibri" pitchFamily="34" charset="0"/>
                <a:ea typeface="Calibri" pitchFamily="34" charset="-122"/>
                <a:cs typeface="Calibri" pitchFamily="34" charset="-120"/>
              </a:rPr>
              <a:t>MOYEN</a:t>
            </a:r>
            <a:endParaRPr lang="en-US" sz="850" dirty="0"/>
          </a:p>
        </p:txBody>
      </p:sp>
      <p:sp>
        <p:nvSpPr>
          <p:cNvPr id="24" name="Text 22"/>
          <p:cNvSpPr txBox="1"/>
          <p:nvPr/>
        </p:nvSpPr>
        <p:spPr>
          <a:xfrm>
            <a:off x="1609344" y="3749040"/>
            <a:ext cx="3200400" cy="512064"/>
          </a:xfrm>
          <a:prstGeom prst="rect">
            <a:avLst/>
          </a:prstGeom>
          <a:noFill/>
          <a:ln/>
        </p:spPr>
        <p:txBody>
          <a:bodyPr wrap="square" lIns="0" tIns="0" rIns="0" bIns="0" rtlCol="0" anchor="ctr"/>
          <a:lstStyle/>
          <a:p>
            <a:pPr indent="0" marL="0">
              <a:buNone/>
            </a:pPr>
            <a:r>
              <a:rPr lang="en-US" sz="1200" b="1" dirty="0">
                <a:solidFill>
                  <a:srgbClr val="E8EAED"/>
                </a:solidFill>
                <a:latin typeface="Calibri" pitchFamily="34" charset="0"/>
                <a:ea typeface="Calibri" pitchFamily="34" charset="-122"/>
                <a:cs typeface="Calibri" pitchFamily="34" charset="-120"/>
              </a:rPr>
              <a:t>Personne n'en veut au prix prévu</a:t>
            </a:r>
            <a:endParaRPr lang="en-US" sz="1200" dirty="0"/>
          </a:p>
        </p:txBody>
      </p:sp>
      <p:sp>
        <p:nvSpPr>
          <p:cNvPr id="25" name="Text 23"/>
          <p:cNvSpPr txBox="1"/>
          <p:nvPr/>
        </p:nvSpPr>
        <p:spPr>
          <a:xfrm>
            <a:off x="4919472" y="3749040"/>
            <a:ext cx="6720840" cy="512064"/>
          </a:xfrm>
          <a:prstGeom prst="rect">
            <a:avLst/>
          </a:prstGeom>
          <a:noFill/>
          <a:ln/>
        </p:spPr>
        <p:txBody>
          <a:bodyPr wrap="square" lIns="0" tIns="0" rIns="0" bIns="0" rtlCol="0" anchor="ctr"/>
          <a:lstStyle/>
          <a:p>
            <a:pPr indent="0" marL="0">
              <a:lnSpc>
                <a:spcPts val="1400"/>
              </a:lnSpc>
              <a:buNone/>
            </a:pPr>
            <a:r>
              <a:rPr lang="en-US" sz="1050" dirty="0">
                <a:solidFill>
                  <a:srgbClr val="ADB2B9"/>
                </a:solidFill>
                <a:latin typeface="Calibri" pitchFamily="34" charset="0"/>
                <a:ea typeface="Calibri" pitchFamily="34" charset="-122"/>
                <a:cs typeface="Calibri" pitchFamily="34" charset="-120"/>
              </a:rPr>
              <a:t>Entretiens et pilotes avant tout développement lourd ; décision de lancement explicite au mois 6.</a:t>
            </a:r>
            <a:endParaRPr lang="en-US" sz="1050" dirty="0"/>
          </a:p>
        </p:txBody>
      </p:sp>
      <p:sp>
        <p:nvSpPr>
          <p:cNvPr id="26" name="Shape 24"/>
          <p:cNvSpPr/>
          <p:nvPr/>
        </p:nvSpPr>
        <p:spPr>
          <a:xfrm>
            <a:off x="475488" y="4261104"/>
            <a:ext cx="11237976" cy="512064"/>
          </a:xfrm>
          <a:prstGeom prst="rect">
            <a:avLst/>
          </a:prstGeom>
          <a:solidFill>
            <a:srgbClr val="1D2026"/>
          </a:solidFill>
          <a:ln w="12700">
            <a:solidFill>
              <a:srgbClr val="1D2026"/>
            </a:solidFill>
            <a:prstDash val="solid"/>
          </a:ln>
        </p:spPr>
      </p:sp>
      <p:sp>
        <p:nvSpPr>
          <p:cNvPr id="27" name="Shape 25"/>
          <p:cNvSpPr/>
          <p:nvPr/>
        </p:nvSpPr>
        <p:spPr>
          <a:xfrm>
            <a:off x="548640" y="4398264"/>
            <a:ext cx="896112" cy="237744"/>
          </a:xfrm>
          <a:prstGeom prst="roundRect">
            <a:avLst>
              <a:gd name="adj" fmla="val 50000"/>
            </a:avLst>
          </a:prstGeom>
          <a:solidFill>
            <a:srgbClr val="23272E"/>
          </a:solidFill>
          <a:ln w="12700">
            <a:solidFill>
              <a:srgbClr val="7BA7DD"/>
            </a:solidFill>
            <a:prstDash val="solid"/>
          </a:ln>
        </p:spPr>
      </p:sp>
      <p:sp>
        <p:nvSpPr>
          <p:cNvPr id="28" name="Text 26"/>
          <p:cNvSpPr txBox="1"/>
          <p:nvPr/>
        </p:nvSpPr>
        <p:spPr>
          <a:xfrm>
            <a:off x="548640" y="4398264"/>
            <a:ext cx="896112" cy="237744"/>
          </a:xfrm>
          <a:prstGeom prst="rect">
            <a:avLst/>
          </a:prstGeom>
          <a:noFill/>
          <a:ln/>
        </p:spPr>
        <p:txBody>
          <a:bodyPr wrap="square" lIns="0" tIns="0" rIns="0" bIns="0" rtlCol="0" anchor="ctr"/>
          <a:lstStyle/>
          <a:p>
            <a:pPr algn="ctr" indent="0" marL="0">
              <a:buNone/>
            </a:pPr>
            <a:r>
              <a:rPr lang="en-US" sz="850" b="1" dirty="0">
                <a:solidFill>
                  <a:srgbClr val="7BA7DD"/>
                </a:solidFill>
                <a:latin typeface="Calibri" pitchFamily="34" charset="0"/>
                <a:ea typeface="Calibri" pitchFamily="34" charset="-122"/>
                <a:cs typeface="Calibri" pitchFamily="34" charset="-120"/>
              </a:rPr>
              <a:t>MOYEN</a:t>
            </a:r>
            <a:endParaRPr lang="en-US" sz="850" dirty="0"/>
          </a:p>
        </p:txBody>
      </p:sp>
      <p:sp>
        <p:nvSpPr>
          <p:cNvPr id="29" name="Text 27"/>
          <p:cNvSpPr txBox="1"/>
          <p:nvPr/>
        </p:nvSpPr>
        <p:spPr>
          <a:xfrm>
            <a:off x="1609344" y="4261104"/>
            <a:ext cx="3200400" cy="512064"/>
          </a:xfrm>
          <a:prstGeom prst="rect">
            <a:avLst/>
          </a:prstGeom>
          <a:noFill/>
          <a:ln/>
        </p:spPr>
        <p:txBody>
          <a:bodyPr wrap="square" lIns="0" tIns="0" rIns="0" bIns="0" rtlCol="0" anchor="ctr"/>
          <a:lstStyle/>
          <a:p>
            <a:pPr indent="0" marL="0">
              <a:buNone/>
            </a:pPr>
            <a:r>
              <a:rPr lang="en-US" sz="1200" b="1" dirty="0">
                <a:solidFill>
                  <a:srgbClr val="E8EAED"/>
                </a:solidFill>
                <a:latin typeface="Calibri" pitchFamily="34" charset="0"/>
                <a:ea typeface="Calibri" pitchFamily="34" charset="-122"/>
                <a:cs typeface="Calibri" pitchFamily="34" charset="-120"/>
              </a:rPr>
              <a:t>Un fondateur seul, à temps partiel</a:t>
            </a:r>
            <a:endParaRPr lang="en-US" sz="1200" dirty="0"/>
          </a:p>
        </p:txBody>
      </p:sp>
      <p:sp>
        <p:nvSpPr>
          <p:cNvPr id="30" name="Text 28"/>
          <p:cNvSpPr txBox="1"/>
          <p:nvPr/>
        </p:nvSpPr>
        <p:spPr>
          <a:xfrm>
            <a:off x="4919472" y="4261104"/>
            <a:ext cx="6720840" cy="512064"/>
          </a:xfrm>
          <a:prstGeom prst="rect">
            <a:avLst/>
          </a:prstGeom>
          <a:noFill/>
          <a:ln/>
        </p:spPr>
        <p:txBody>
          <a:bodyPr wrap="square" lIns="0" tIns="0" rIns="0" bIns="0" rtlCol="0" anchor="ctr"/>
          <a:lstStyle/>
          <a:p>
            <a:pPr indent="0" marL="0">
              <a:lnSpc>
                <a:spcPts val="1400"/>
              </a:lnSpc>
              <a:buNone/>
            </a:pPr>
            <a:r>
              <a:rPr lang="en-US" sz="1050" dirty="0">
                <a:solidFill>
                  <a:srgbClr val="ADB2B9"/>
                </a:solidFill>
                <a:latin typeface="Calibri" pitchFamily="34" charset="0"/>
                <a:ea typeface="Calibri" pitchFamily="34" charset="-122"/>
                <a:cs typeface="Calibri" pitchFamily="34" charset="-120"/>
              </a:rPr>
              <a:t>Rythme réaliste, support externalisé en année 3, outillage de test et d'audit déjà en place.</a:t>
            </a:r>
            <a:endParaRPr lang="en-US" sz="1050" dirty="0"/>
          </a:p>
        </p:txBody>
      </p:sp>
      <p:sp>
        <p:nvSpPr>
          <p:cNvPr id="31" name="Shape 29"/>
          <p:cNvSpPr/>
          <p:nvPr/>
        </p:nvSpPr>
        <p:spPr>
          <a:xfrm>
            <a:off x="548640" y="4910328"/>
            <a:ext cx="896112" cy="237744"/>
          </a:xfrm>
          <a:prstGeom prst="roundRect">
            <a:avLst>
              <a:gd name="adj" fmla="val 50000"/>
            </a:avLst>
          </a:prstGeom>
          <a:solidFill>
            <a:srgbClr val="23272E"/>
          </a:solidFill>
          <a:ln w="12700">
            <a:solidFill>
              <a:srgbClr val="7BA7DD"/>
            </a:solidFill>
            <a:prstDash val="solid"/>
          </a:ln>
        </p:spPr>
      </p:sp>
      <p:sp>
        <p:nvSpPr>
          <p:cNvPr id="32" name="Text 30"/>
          <p:cNvSpPr txBox="1"/>
          <p:nvPr/>
        </p:nvSpPr>
        <p:spPr>
          <a:xfrm>
            <a:off x="548640" y="4910328"/>
            <a:ext cx="896112" cy="237744"/>
          </a:xfrm>
          <a:prstGeom prst="rect">
            <a:avLst/>
          </a:prstGeom>
          <a:noFill/>
          <a:ln/>
        </p:spPr>
        <p:txBody>
          <a:bodyPr wrap="square" lIns="0" tIns="0" rIns="0" bIns="0" rtlCol="0" anchor="ctr"/>
          <a:lstStyle/>
          <a:p>
            <a:pPr algn="ctr" indent="0" marL="0">
              <a:buNone/>
            </a:pPr>
            <a:r>
              <a:rPr lang="en-US" sz="850" b="1" dirty="0">
                <a:solidFill>
                  <a:srgbClr val="7BA7DD"/>
                </a:solidFill>
                <a:latin typeface="Calibri" pitchFamily="34" charset="0"/>
                <a:ea typeface="Calibri" pitchFamily="34" charset="-122"/>
                <a:cs typeface="Calibri" pitchFamily="34" charset="-120"/>
              </a:rPr>
              <a:t>MOYEN</a:t>
            </a:r>
            <a:endParaRPr lang="en-US" sz="850" dirty="0"/>
          </a:p>
        </p:txBody>
      </p:sp>
      <p:sp>
        <p:nvSpPr>
          <p:cNvPr id="33" name="Text 31"/>
          <p:cNvSpPr txBox="1"/>
          <p:nvPr/>
        </p:nvSpPr>
        <p:spPr>
          <a:xfrm>
            <a:off x="1609344" y="4773168"/>
            <a:ext cx="3200400" cy="512064"/>
          </a:xfrm>
          <a:prstGeom prst="rect">
            <a:avLst/>
          </a:prstGeom>
          <a:noFill/>
          <a:ln/>
        </p:spPr>
        <p:txBody>
          <a:bodyPr wrap="square" lIns="0" tIns="0" rIns="0" bIns="0" rtlCol="0" anchor="ctr"/>
          <a:lstStyle/>
          <a:p>
            <a:pPr indent="0" marL="0">
              <a:buNone/>
            </a:pPr>
            <a:r>
              <a:rPr lang="en-US" sz="1200" b="1" dirty="0">
                <a:solidFill>
                  <a:srgbClr val="E8EAED"/>
                </a:solidFill>
                <a:latin typeface="Calibri" pitchFamily="34" charset="0"/>
                <a:ea typeface="Calibri" pitchFamily="34" charset="-122"/>
                <a:cs typeface="Calibri" pitchFamily="34" charset="-120"/>
              </a:rPr>
              <a:t>Un concurrent ajoute la même fonction</a:t>
            </a:r>
            <a:endParaRPr lang="en-US" sz="1200" dirty="0"/>
          </a:p>
        </p:txBody>
      </p:sp>
      <p:sp>
        <p:nvSpPr>
          <p:cNvPr id="34" name="Text 32"/>
          <p:cNvSpPr txBox="1"/>
          <p:nvPr/>
        </p:nvSpPr>
        <p:spPr>
          <a:xfrm>
            <a:off x="4919472" y="4773168"/>
            <a:ext cx="6720840" cy="512064"/>
          </a:xfrm>
          <a:prstGeom prst="rect">
            <a:avLst/>
          </a:prstGeom>
          <a:noFill/>
          <a:ln/>
        </p:spPr>
        <p:txBody>
          <a:bodyPr wrap="square" lIns="0" tIns="0" rIns="0" bIns="0" rtlCol="0" anchor="ctr"/>
          <a:lstStyle/>
          <a:p>
            <a:pPr indent="0" marL="0">
              <a:lnSpc>
                <a:spcPts val="1400"/>
              </a:lnSpc>
              <a:buNone/>
            </a:pPr>
            <a:r>
              <a:rPr lang="en-US" sz="1050" dirty="0">
                <a:solidFill>
                  <a:srgbClr val="ADB2B9"/>
                </a:solidFill>
                <a:latin typeface="Calibri" pitchFamily="34" charset="0"/>
                <a:ea typeface="Calibri" pitchFamily="34" charset="-122"/>
                <a:cs typeface="Calibri" pitchFamily="34" charset="-120"/>
              </a:rPr>
              <a:t>L'avance tient à la rigueur des calculs plus qu'à l'idée : garder la référence CIQUAL et les explications d'écart.</a:t>
            </a:r>
            <a:endParaRPr lang="en-US" sz="1050" dirty="0"/>
          </a:p>
        </p:txBody>
      </p:sp>
      <p:sp>
        <p:nvSpPr>
          <p:cNvPr id="35" name="Shape 33"/>
          <p:cNvSpPr/>
          <p:nvPr/>
        </p:nvSpPr>
        <p:spPr>
          <a:xfrm>
            <a:off x="475488" y="5285232"/>
            <a:ext cx="11237976" cy="512064"/>
          </a:xfrm>
          <a:prstGeom prst="rect">
            <a:avLst/>
          </a:prstGeom>
          <a:solidFill>
            <a:srgbClr val="1D2026"/>
          </a:solidFill>
          <a:ln w="12700">
            <a:solidFill>
              <a:srgbClr val="1D2026"/>
            </a:solidFill>
            <a:prstDash val="solid"/>
          </a:ln>
        </p:spPr>
      </p:sp>
      <p:sp>
        <p:nvSpPr>
          <p:cNvPr id="36" name="Shape 34"/>
          <p:cNvSpPr/>
          <p:nvPr/>
        </p:nvSpPr>
        <p:spPr>
          <a:xfrm>
            <a:off x="548640" y="5422392"/>
            <a:ext cx="896112" cy="237744"/>
          </a:xfrm>
          <a:prstGeom prst="roundRect">
            <a:avLst>
              <a:gd name="adj" fmla="val 50000"/>
            </a:avLst>
          </a:prstGeom>
          <a:solidFill>
            <a:srgbClr val="23272E"/>
          </a:solidFill>
          <a:ln w="12700">
            <a:solidFill>
              <a:srgbClr val="868E99"/>
            </a:solidFill>
            <a:prstDash val="solid"/>
          </a:ln>
        </p:spPr>
      </p:sp>
      <p:sp>
        <p:nvSpPr>
          <p:cNvPr id="37" name="Text 35"/>
          <p:cNvSpPr txBox="1"/>
          <p:nvPr/>
        </p:nvSpPr>
        <p:spPr>
          <a:xfrm>
            <a:off x="548640" y="5422392"/>
            <a:ext cx="896112" cy="237744"/>
          </a:xfrm>
          <a:prstGeom prst="rect">
            <a:avLst/>
          </a:prstGeom>
          <a:noFill/>
          <a:ln/>
        </p:spPr>
        <p:txBody>
          <a:bodyPr wrap="square" lIns="0" tIns="0" rIns="0" bIns="0" rtlCol="0" anchor="ctr"/>
          <a:lstStyle/>
          <a:p>
            <a:pPr algn="ctr" indent="0" marL="0">
              <a:buNone/>
            </a:pPr>
            <a:r>
              <a:rPr lang="en-US" sz="850" b="1" dirty="0">
                <a:solidFill>
                  <a:srgbClr val="868E99"/>
                </a:solidFill>
                <a:latin typeface="Calibri" pitchFamily="34" charset="0"/>
                <a:ea typeface="Calibri" pitchFamily="34" charset="-122"/>
                <a:cs typeface="Calibri" pitchFamily="34" charset="-120"/>
              </a:rPr>
              <a:t>FAIBLE</a:t>
            </a:r>
            <a:endParaRPr lang="en-US" sz="850" dirty="0"/>
          </a:p>
        </p:txBody>
      </p:sp>
      <p:sp>
        <p:nvSpPr>
          <p:cNvPr id="38" name="Text 36"/>
          <p:cNvSpPr txBox="1"/>
          <p:nvPr/>
        </p:nvSpPr>
        <p:spPr>
          <a:xfrm>
            <a:off x="1609344" y="5285232"/>
            <a:ext cx="3200400" cy="512064"/>
          </a:xfrm>
          <a:prstGeom prst="rect">
            <a:avLst/>
          </a:prstGeom>
          <a:noFill/>
          <a:ln/>
        </p:spPr>
        <p:txBody>
          <a:bodyPr wrap="square" lIns="0" tIns="0" rIns="0" bIns="0" rtlCol="0" anchor="ctr"/>
          <a:lstStyle/>
          <a:p>
            <a:pPr indent="0" marL="0">
              <a:buNone/>
            </a:pPr>
            <a:r>
              <a:rPr lang="en-US" sz="1200" b="1" dirty="0">
                <a:solidFill>
                  <a:srgbClr val="E8EAED"/>
                </a:solidFill>
                <a:latin typeface="Calibri" pitchFamily="34" charset="0"/>
                <a:ea typeface="Calibri" pitchFamily="34" charset="-122"/>
                <a:cs typeface="Calibri" pitchFamily="34" charset="-120"/>
              </a:rPr>
              <a:t>Un chiffre faux affiché à un client</a:t>
            </a:r>
            <a:endParaRPr lang="en-US" sz="1200" dirty="0"/>
          </a:p>
        </p:txBody>
      </p:sp>
      <p:sp>
        <p:nvSpPr>
          <p:cNvPr id="39" name="Text 37"/>
          <p:cNvSpPr txBox="1"/>
          <p:nvPr/>
        </p:nvSpPr>
        <p:spPr>
          <a:xfrm>
            <a:off x="4919472" y="5285232"/>
            <a:ext cx="6720840" cy="512064"/>
          </a:xfrm>
          <a:prstGeom prst="rect">
            <a:avLst/>
          </a:prstGeom>
          <a:noFill/>
          <a:ln/>
        </p:spPr>
        <p:txBody>
          <a:bodyPr wrap="square" lIns="0" tIns="0" rIns="0" bIns="0" rtlCol="0" anchor="ctr"/>
          <a:lstStyle/>
          <a:p>
            <a:pPr indent="0" marL="0">
              <a:lnSpc>
                <a:spcPts val="1400"/>
              </a:lnSpc>
              <a:buNone/>
            </a:pPr>
            <a:r>
              <a:rPr lang="en-US" sz="1050" dirty="0">
                <a:solidFill>
                  <a:srgbClr val="ADB2B9"/>
                </a:solidFill>
                <a:latin typeface="Calibri" pitchFamily="34" charset="0"/>
                <a:ea typeface="Calibri" pitchFamily="34" charset="-122"/>
                <a:cs typeface="Calibri" pitchFamily="34" charset="-120"/>
              </a:rPr>
              <a:t>Règle interne déjà appliquée : afficher l'incertitude ou refuser plutôt qu'une valeur non vérifiée.</a:t>
            </a:r>
            <a:endParaRPr lang="en-US" sz="1050" dirty="0"/>
          </a:p>
        </p:txBody>
      </p:sp>
      <p:sp>
        <p:nvSpPr>
          <p:cNvPr id="40" name="Shape 38"/>
          <p:cNvSpPr/>
          <p:nvPr/>
        </p:nvSpPr>
        <p:spPr>
          <a:xfrm>
            <a:off x="548640" y="5870448"/>
            <a:ext cx="11091672" cy="402336"/>
          </a:xfrm>
          <a:prstGeom prst="roundRect">
            <a:avLst>
              <a:gd name="adj" fmla="val 15909"/>
            </a:avLst>
          </a:prstGeom>
          <a:solidFill>
            <a:srgbClr val="23272E"/>
          </a:solidFill>
          <a:ln w="15875">
            <a:solidFill>
              <a:srgbClr val="E3B23C"/>
            </a:solidFill>
            <a:prstDash val="solid"/>
          </a:ln>
        </p:spPr>
      </p:sp>
      <p:sp>
        <p:nvSpPr>
          <p:cNvPr id="41" name="Text 39"/>
          <p:cNvSpPr txBox="1"/>
          <p:nvPr/>
        </p:nvSpPr>
        <p:spPr>
          <a:xfrm>
            <a:off x="822960" y="5870448"/>
            <a:ext cx="10543032" cy="402336"/>
          </a:xfrm>
          <a:prstGeom prst="rect">
            <a:avLst/>
          </a:prstGeom>
          <a:noFill/>
          <a:ln/>
        </p:spPr>
        <p:txBody>
          <a:bodyPr wrap="square" lIns="0" tIns="0" rIns="0" bIns="0" rtlCol="0" anchor="ctr"/>
          <a:lstStyle/>
          <a:p>
            <a:pPr indent="0" marL="0">
              <a:buNone/>
            </a:pPr>
            <a:r>
              <a:rPr lang="en-US" sz="1150" b="1" dirty="0">
                <a:solidFill>
                  <a:srgbClr val="E3B23C"/>
                </a:solidFill>
                <a:latin typeface="Calibri" pitchFamily="34" charset="0"/>
                <a:ea typeface="Calibri" pitchFamily="34" charset="-122"/>
                <a:cs typeface="Calibri" pitchFamily="34" charset="-120"/>
              </a:rPr>
              <a:t>Chaque risque bloquant ou élevé est traité avant le premier client payant.</a:t>
            </a:r>
            <a:endParaRPr lang="en-US" sz="1150" dirty="0"/>
          </a:p>
        </p:txBody>
      </p:sp>
      <p:sp>
        <p:nvSpPr>
          <p:cNvPr id="42" name="Text 40"/>
          <p:cNvSpPr txBox="1"/>
          <p:nvPr/>
        </p:nvSpPr>
        <p:spPr>
          <a:xfrm>
            <a:off x="548640" y="6336792"/>
            <a:ext cx="8229600" cy="274320"/>
          </a:xfrm>
          <a:prstGeom prst="rect">
            <a:avLst/>
          </a:prstGeom>
          <a:noFill/>
          <a:ln/>
        </p:spPr>
        <p:txBody>
          <a:bodyPr wrap="square" lIns="0" tIns="0" rIns="0" bIns="0" rtlCol="0" anchor="ctr"/>
          <a:lstStyle/>
          <a:p>
            <a:pPr algn="l" indent="0" marL="0">
              <a:buNone/>
            </a:pPr>
            <a:r>
              <a:rPr lang="en-US" sz="900" dirty="0">
                <a:solidFill>
                  <a:srgbClr val="868E99"/>
                </a:solidFill>
                <a:latin typeface="Calibri" pitchFamily="34" charset="0"/>
                <a:ea typeface="Calibri" pitchFamily="34" charset="-122"/>
                <a:cs typeface="Calibri" pitchFamily="34" charset="-120"/>
              </a:rPr>
              <a:t>fitcarnet Pro · business plan · 21 septembre 2026</a:t>
            </a:r>
            <a:endParaRPr lang="en-US" sz="900" dirty="0"/>
          </a:p>
        </p:txBody>
      </p:sp>
      <p:sp>
        <p:nvSpPr>
          <p:cNvPr id="43" name="Text 41"/>
          <p:cNvSpPr txBox="1"/>
          <p:nvPr/>
        </p:nvSpPr>
        <p:spPr>
          <a:xfrm>
            <a:off x="8897112" y="6336792"/>
            <a:ext cx="2743200" cy="274320"/>
          </a:xfrm>
          <a:prstGeom prst="rect">
            <a:avLst/>
          </a:prstGeom>
          <a:noFill/>
          <a:ln/>
        </p:spPr>
        <p:txBody>
          <a:bodyPr wrap="square" lIns="0" tIns="0" rIns="0" bIns="0" rtlCol="0" anchor="ctr"/>
          <a:lstStyle/>
          <a:p>
            <a:pPr algn="r" indent="0" marL="0">
              <a:buNone/>
            </a:pPr>
            <a:r>
              <a:rPr lang="en-US" sz="900" dirty="0">
                <a:solidFill>
                  <a:srgbClr val="868E99"/>
                </a:solidFill>
                <a:latin typeface="Calibri" pitchFamily="34" charset="0"/>
                <a:ea typeface="Calibri" pitchFamily="34" charset="-122"/>
                <a:cs typeface="Calibri" pitchFamily="34" charset="-120"/>
              </a:rPr>
              <a:t>16 / 24</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4161A"/>
        </a:solidFill>
      </p:bgPr>
    </p:bg>
    <p:spTree>
      <p:nvGrpSpPr>
        <p:cNvPr id="1" name=""/>
        <p:cNvGrpSpPr/>
        <p:nvPr/>
      </p:nvGrpSpPr>
      <p:grpSpPr>
        <a:xfrm>
          <a:off x="0" y="0"/>
          <a:ext cx="0" cy="0"/>
          <a:chOff x="0" y="0"/>
          <a:chExt cx="0" cy="0"/>
        </a:xfrm>
      </p:grpSpPr>
      <p:sp>
        <p:nvSpPr>
          <p:cNvPr id="2" name="Text 0"/>
          <p:cNvSpPr txBox="1"/>
          <p:nvPr/>
        </p:nvSpPr>
        <p:spPr>
          <a:xfrm>
            <a:off x="548640" y="347472"/>
            <a:ext cx="11091672" cy="237744"/>
          </a:xfrm>
          <a:prstGeom prst="rect">
            <a:avLst/>
          </a:prstGeom>
          <a:noFill/>
          <a:ln/>
        </p:spPr>
        <p:txBody>
          <a:bodyPr wrap="square" lIns="0" tIns="0" rIns="0" bIns="0" rtlCol="0" anchor="ctr"/>
          <a:lstStyle/>
          <a:p>
            <a:pPr indent="0" marL="0">
              <a:buNone/>
            </a:pPr>
            <a:r>
              <a:rPr lang="en-US" sz="1050" b="1" spc="200" kern="0" dirty="0">
                <a:solidFill>
                  <a:srgbClr val="E3B23C"/>
                </a:solidFill>
                <a:latin typeface="Calibri" pitchFamily="34" charset="0"/>
                <a:ea typeface="Calibri" pitchFamily="34" charset="-122"/>
                <a:cs typeface="Calibri" pitchFamily="34" charset="-120"/>
              </a:rPr>
              <a:t>FEUILLE DE ROUTE</a:t>
            </a:r>
            <a:endParaRPr lang="en-US" sz="1050" dirty="0"/>
          </a:p>
        </p:txBody>
      </p:sp>
      <p:sp>
        <p:nvSpPr>
          <p:cNvPr id="3" name="Text 1"/>
          <p:cNvSpPr txBox="1"/>
          <p:nvPr/>
        </p:nvSpPr>
        <p:spPr>
          <a:xfrm>
            <a:off x="548640" y="603504"/>
            <a:ext cx="11091672" cy="566928"/>
          </a:xfrm>
          <a:prstGeom prst="rect">
            <a:avLst/>
          </a:prstGeom>
          <a:noFill/>
          <a:ln/>
        </p:spPr>
        <p:txBody>
          <a:bodyPr wrap="square" lIns="0" tIns="0" rIns="0" bIns="0" rtlCol="0" anchor="ctr"/>
          <a:lstStyle/>
          <a:p>
            <a:pPr indent="0" marL="0">
              <a:buNone/>
            </a:pPr>
            <a:r>
              <a:rPr lang="en-US" sz="3000" b="1" dirty="0">
                <a:solidFill>
                  <a:srgbClr val="E8EAED"/>
                </a:solidFill>
                <a:latin typeface="Arial Narrow" pitchFamily="34" charset="0"/>
                <a:ea typeface="Arial Narrow" pitchFamily="34" charset="-122"/>
                <a:cs typeface="Arial Narrow" pitchFamily="34" charset="-120"/>
              </a:rPr>
              <a:t>Six mois pour savoir si ça se vend, trois ans pour s'installer</a:t>
            </a:r>
            <a:endParaRPr lang="en-US" sz="3000" dirty="0"/>
          </a:p>
        </p:txBody>
      </p:sp>
      <p:sp>
        <p:nvSpPr>
          <p:cNvPr id="4" name="Shape 2"/>
          <p:cNvSpPr/>
          <p:nvPr/>
        </p:nvSpPr>
        <p:spPr>
          <a:xfrm>
            <a:off x="548640" y="1783080"/>
            <a:ext cx="2112264" cy="3291840"/>
          </a:xfrm>
          <a:prstGeom prst="roundRect">
            <a:avLst>
              <a:gd name="adj" fmla="val 3030"/>
            </a:avLst>
          </a:prstGeom>
          <a:solidFill>
            <a:srgbClr val="1D2026"/>
          </a:solidFill>
          <a:ln w="9525">
            <a:solidFill>
              <a:srgbClr val="2F343D"/>
            </a:solidFill>
            <a:prstDash val="solid"/>
          </a:ln>
        </p:spPr>
      </p:sp>
      <p:sp>
        <p:nvSpPr>
          <p:cNvPr id="5" name="Shape 3"/>
          <p:cNvSpPr/>
          <p:nvPr/>
        </p:nvSpPr>
        <p:spPr>
          <a:xfrm>
            <a:off x="749808" y="1956816"/>
            <a:ext cx="1709928" cy="41148"/>
          </a:xfrm>
          <a:prstGeom prst="rect">
            <a:avLst/>
          </a:prstGeom>
          <a:solidFill>
            <a:srgbClr val="5EC080"/>
          </a:solidFill>
          <a:ln w="12700">
            <a:solidFill>
              <a:srgbClr val="5EC080"/>
            </a:solidFill>
            <a:prstDash val="solid"/>
          </a:ln>
        </p:spPr>
      </p:sp>
      <p:sp>
        <p:nvSpPr>
          <p:cNvPr id="6" name="Text 4"/>
          <p:cNvSpPr txBox="1"/>
          <p:nvPr/>
        </p:nvSpPr>
        <p:spPr>
          <a:xfrm>
            <a:off x="749808" y="2066544"/>
            <a:ext cx="1709928" cy="237744"/>
          </a:xfrm>
          <a:prstGeom prst="rect">
            <a:avLst/>
          </a:prstGeom>
          <a:noFill/>
          <a:ln/>
        </p:spPr>
        <p:txBody>
          <a:bodyPr wrap="square" lIns="0" tIns="0" rIns="0" bIns="0" rtlCol="0" anchor="ctr"/>
          <a:lstStyle/>
          <a:p>
            <a:pPr indent="0" marL="0">
              <a:buNone/>
            </a:pPr>
            <a:r>
              <a:rPr lang="en-US" sz="850" b="1" spc="100" kern="0" dirty="0">
                <a:solidFill>
                  <a:srgbClr val="5EC080"/>
                </a:solidFill>
                <a:latin typeface="Calibri" pitchFamily="34" charset="0"/>
                <a:ea typeface="Calibri" pitchFamily="34" charset="-122"/>
                <a:cs typeface="Calibri" pitchFamily="34" charset="-120"/>
              </a:rPr>
              <a:t>FAIT · SEPT. 2026</a:t>
            </a:r>
            <a:endParaRPr lang="en-US" sz="850" dirty="0"/>
          </a:p>
        </p:txBody>
      </p:sp>
      <p:sp>
        <p:nvSpPr>
          <p:cNvPr id="7" name="Text 5"/>
          <p:cNvSpPr txBox="1"/>
          <p:nvPr/>
        </p:nvSpPr>
        <p:spPr>
          <a:xfrm>
            <a:off x="749808" y="2322576"/>
            <a:ext cx="1709928" cy="603504"/>
          </a:xfrm>
          <a:prstGeom prst="rect">
            <a:avLst/>
          </a:prstGeom>
          <a:noFill/>
          <a:ln/>
        </p:spPr>
        <p:txBody>
          <a:bodyPr wrap="square" lIns="0" tIns="0" rIns="0" bIns="0" rtlCol="0" anchor="t"/>
          <a:lstStyle/>
          <a:p>
            <a:pPr indent="0" marL="0">
              <a:lnSpc>
                <a:spcPts val="2100"/>
              </a:lnSpc>
              <a:buNone/>
            </a:pPr>
            <a:r>
              <a:rPr lang="en-US" sz="1900" b="1" dirty="0">
                <a:solidFill>
                  <a:srgbClr val="E8EAED"/>
                </a:solidFill>
                <a:latin typeface="Arial Narrow" pitchFamily="34" charset="0"/>
                <a:ea typeface="Arial Narrow" pitchFamily="34" charset="-122"/>
                <a:cs typeface="Arial Narrow" pitchFamily="34" charset="-120"/>
              </a:rPr>
              <a:t>Le produit personnel</a:t>
            </a:r>
            <a:endParaRPr lang="en-US" sz="1900" dirty="0"/>
          </a:p>
        </p:txBody>
      </p:sp>
      <p:sp>
        <p:nvSpPr>
          <p:cNvPr id="8" name="Text 6"/>
          <p:cNvSpPr txBox="1"/>
          <p:nvPr/>
        </p:nvSpPr>
        <p:spPr>
          <a:xfrm>
            <a:off x="749808" y="2889504"/>
            <a:ext cx="1709928" cy="512064"/>
          </a:xfrm>
          <a:prstGeom prst="rect">
            <a:avLst/>
          </a:prstGeom>
          <a:noFill/>
          <a:ln/>
        </p:spPr>
        <p:txBody>
          <a:bodyPr wrap="square" lIns="0" tIns="0" rIns="0" bIns="0" rtlCol="0" anchor="t"/>
          <a:lstStyle/>
          <a:p>
            <a:pPr indent="0" marL="0">
              <a:lnSpc>
                <a:spcPts val="1400"/>
              </a:lnSpc>
              <a:buNone/>
            </a:pPr>
            <a:r>
              <a:rPr lang="en-US" sz="1050" dirty="0">
                <a:solidFill>
                  <a:srgbClr val="ADB2B9"/>
                </a:solidFill>
                <a:latin typeface="Calibri" pitchFamily="34" charset="0"/>
                <a:ea typeface="Calibri" pitchFamily="34" charset="-122"/>
                <a:cs typeface="Calibri" pitchFamily="34" charset="-120"/>
              </a:rPr>
              <a:t>· Calculateur, batch cooking, frigo</a:t>
            </a:r>
            <a:endParaRPr lang="en-US" sz="1050" dirty="0"/>
          </a:p>
        </p:txBody>
      </p:sp>
      <p:sp>
        <p:nvSpPr>
          <p:cNvPr id="9" name="Text 7"/>
          <p:cNvSpPr txBox="1"/>
          <p:nvPr/>
        </p:nvSpPr>
        <p:spPr>
          <a:xfrm>
            <a:off x="749808" y="3401568"/>
            <a:ext cx="1709928" cy="512064"/>
          </a:xfrm>
          <a:prstGeom prst="rect">
            <a:avLst/>
          </a:prstGeom>
          <a:noFill/>
          <a:ln/>
        </p:spPr>
        <p:txBody>
          <a:bodyPr wrap="square" lIns="0" tIns="0" rIns="0" bIns="0" rtlCol="0" anchor="t"/>
          <a:lstStyle/>
          <a:p>
            <a:pPr indent="0" marL="0">
              <a:lnSpc>
                <a:spcPts val="1400"/>
              </a:lnSpc>
              <a:buNone/>
            </a:pPr>
            <a:r>
              <a:rPr lang="en-US" sz="1050" dirty="0">
                <a:solidFill>
                  <a:srgbClr val="ADB2B9"/>
                </a:solidFill>
                <a:latin typeface="Calibri" pitchFamily="34" charset="0"/>
                <a:ea typeface="Calibri" pitchFamily="34" charset="-122"/>
                <a:cs typeface="Calibri" pitchFamily="34" charset="-120"/>
              </a:rPr>
              <a:t>· Séances et progression</a:t>
            </a:r>
            <a:endParaRPr lang="en-US" sz="1050" dirty="0"/>
          </a:p>
        </p:txBody>
      </p:sp>
      <p:sp>
        <p:nvSpPr>
          <p:cNvPr id="10" name="Text 8"/>
          <p:cNvSpPr txBox="1"/>
          <p:nvPr/>
        </p:nvSpPr>
        <p:spPr>
          <a:xfrm>
            <a:off x="749808" y="3913632"/>
            <a:ext cx="1709928" cy="512064"/>
          </a:xfrm>
          <a:prstGeom prst="rect">
            <a:avLst/>
          </a:prstGeom>
          <a:noFill/>
          <a:ln/>
        </p:spPr>
        <p:txBody>
          <a:bodyPr wrap="square" lIns="0" tIns="0" rIns="0" bIns="0" rtlCol="0" anchor="t"/>
          <a:lstStyle/>
          <a:p>
            <a:pPr indent="0" marL="0">
              <a:lnSpc>
                <a:spcPts val="1400"/>
              </a:lnSpc>
              <a:buNone/>
            </a:pPr>
            <a:r>
              <a:rPr lang="en-US" sz="1050" dirty="0">
                <a:solidFill>
                  <a:srgbClr val="ADB2B9"/>
                </a:solidFill>
                <a:latin typeface="Calibri" pitchFamily="34" charset="0"/>
                <a:ea typeface="Calibri" pitchFamily="34" charset="-122"/>
                <a:cs typeface="Calibri" pitchFamily="34" charset="-120"/>
              </a:rPr>
              <a:t>· Audit de 84 constats clos</a:t>
            </a:r>
            <a:endParaRPr lang="en-US" sz="1050" dirty="0"/>
          </a:p>
        </p:txBody>
      </p:sp>
      <p:sp>
        <p:nvSpPr>
          <p:cNvPr id="11" name="Shape 9"/>
          <p:cNvSpPr/>
          <p:nvPr/>
        </p:nvSpPr>
        <p:spPr>
          <a:xfrm>
            <a:off x="2798064" y="1783080"/>
            <a:ext cx="2112264" cy="3291840"/>
          </a:xfrm>
          <a:prstGeom prst="roundRect">
            <a:avLst>
              <a:gd name="adj" fmla="val 3030"/>
            </a:avLst>
          </a:prstGeom>
          <a:solidFill>
            <a:srgbClr val="1D2026"/>
          </a:solidFill>
          <a:ln w="15875">
            <a:solidFill>
              <a:srgbClr val="E3B23C"/>
            </a:solidFill>
            <a:prstDash val="solid"/>
          </a:ln>
        </p:spPr>
      </p:sp>
      <p:sp>
        <p:nvSpPr>
          <p:cNvPr id="12" name="Shape 10"/>
          <p:cNvSpPr/>
          <p:nvPr/>
        </p:nvSpPr>
        <p:spPr>
          <a:xfrm>
            <a:off x="2999232" y="1956816"/>
            <a:ext cx="1709928" cy="41148"/>
          </a:xfrm>
          <a:prstGeom prst="rect">
            <a:avLst/>
          </a:prstGeom>
          <a:solidFill>
            <a:srgbClr val="E3B23C"/>
          </a:solidFill>
          <a:ln w="12700">
            <a:solidFill>
              <a:srgbClr val="E3B23C"/>
            </a:solidFill>
            <a:prstDash val="solid"/>
          </a:ln>
        </p:spPr>
      </p:sp>
      <p:sp>
        <p:nvSpPr>
          <p:cNvPr id="13" name="Text 11"/>
          <p:cNvSpPr txBox="1"/>
          <p:nvPr/>
        </p:nvSpPr>
        <p:spPr>
          <a:xfrm>
            <a:off x="2999232" y="2066544"/>
            <a:ext cx="1709928" cy="237744"/>
          </a:xfrm>
          <a:prstGeom prst="rect">
            <a:avLst/>
          </a:prstGeom>
          <a:noFill/>
          <a:ln/>
        </p:spPr>
        <p:txBody>
          <a:bodyPr wrap="square" lIns="0" tIns="0" rIns="0" bIns="0" rtlCol="0" anchor="ctr"/>
          <a:lstStyle/>
          <a:p>
            <a:pPr indent="0" marL="0">
              <a:buNone/>
            </a:pPr>
            <a:r>
              <a:rPr lang="en-US" sz="850" b="1" spc="100" kern="0" dirty="0">
                <a:solidFill>
                  <a:srgbClr val="E3B23C"/>
                </a:solidFill>
                <a:latin typeface="Calibri" pitchFamily="34" charset="0"/>
                <a:ea typeface="Calibri" pitchFamily="34" charset="-122"/>
                <a:cs typeface="Calibri" pitchFamily="34" charset="-120"/>
              </a:rPr>
              <a:t>MOIS 0 – 1</a:t>
            </a:r>
            <a:endParaRPr lang="en-US" sz="850" dirty="0"/>
          </a:p>
        </p:txBody>
      </p:sp>
      <p:sp>
        <p:nvSpPr>
          <p:cNvPr id="14" name="Text 12"/>
          <p:cNvSpPr txBox="1"/>
          <p:nvPr/>
        </p:nvSpPr>
        <p:spPr>
          <a:xfrm>
            <a:off x="2999232" y="2322576"/>
            <a:ext cx="1709928" cy="603504"/>
          </a:xfrm>
          <a:prstGeom prst="rect">
            <a:avLst/>
          </a:prstGeom>
          <a:noFill/>
          <a:ln/>
        </p:spPr>
        <p:txBody>
          <a:bodyPr wrap="square" lIns="0" tIns="0" rIns="0" bIns="0" rtlCol="0" anchor="t"/>
          <a:lstStyle/>
          <a:p>
            <a:pPr indent="0" marL="0">
              <a:lnSpc>
                <a:spcPts val="2100"/>
              </a:lnSpc>
              <a:buNone/>
            </a:pPr>
            <a:r>
              <a:rPr lang="en-US" sz="1900" b="1" dirty="0">
                <a:solidFill>
                  <a:srgbClr val="E8EAED"/>
                </a:solidFill>
                <a:latin typeface="Arial Narrow" pitchFamily="34" charset="0"/>
                <a:ea typeface="Arial Narrow" pitchFamily="34" charset="-122"/>
                <a:cs typeface="Arial Narrow" pitchFamily="34" charset="-120"/>
              </a:rPr>
              <a:t>Valider</a:t>
            </a:r>
            <a:endParaRPr lang="en-US" sz="1900" dirty="0"/>
          </a:p>
        </p:txBody>
      </p:sp>
      <p:sp>
        <p:nvSpPr>
          <p:cNvPr id="15" name="Text 13"/>
          <p:cNvSpPr txBox="1"/>
          <p:nvPr/>
        </p:nvSpPr>
        <p:spPr>
          <a:xfrm>
            <a:off x="2999232" y="2889504"/>
            <a:ext cx="1709928" cy="512064"/>
          </a:xfrm>
          <a:prstGeom prst="rect">
            <a:avLst/>
          </a:prstGeom>
          <a:noFill/>
          <a:ln/>
        </p:spPr>
        <p:txBody>
          <a:bodyPr wrap="square" lIns="0" tIns="0" rIns="0" bIns="0" rtlCol="0" anchor="t"/>
          <a:lstStyle/>
          <a:p>
            <a:pPr indent="0" marL="0">
              <a:lnSpc>
                <a:spcPts val="1400"/>
              </a:lnSpc>
              <a:buNone/>
            </a:pPr>
            <a:r>
              <a:rPr lang="en-US" sz="1050" dirty="0">
                <a:solidFill>
                  <a:srgbClr val="ADB2B9"/>
                </a:solidFill>
                <a:latin typeface="Calibri" pitchFamily="34" charset="0"/>
                <a:ea typeface="Calibri" pitchFamily="34" charset="-122"/>
                <a:cs typeface="Calibri" pitchFamily="34" charset="-120"/>
              </a:rPr>
              <a:t>· Licences des données tierces</a:t>
            </a:r>
            <a:endParaRPr lang="en-US" sz="1050" dirty="0"/>
          </a:p>
        </p:txBody>
      </p:sp>
      <p:sp>
        <p:nvSpPr>
          <p:cNvPr id="16" name="Text 14"/>
          <p:cNvSpPr txBox="1"/>
          <p:nvPr/>
        </p:nvSpPr>
        <p:spPr>
          <a:xfrm>
            <a:off x="2999232" y="3401568"/>
            <a:ext cx="1709928" cy="512064"/>
          </a:xfrm>
          <a:prstGeom prst="rect">
            <a:avLst/>
          </a:prstGeom>
          <a:noFill/>
          <a:ln/>
        </p:spPr>
        <p:txBody>
          <a:bodyPr wrap="square" lIns="0" tIns="0" rIns="0" bIns="0" rtlCol="0" anchor="t"/>
          <a:lstStyle/>
          <a:p>
            <a:pPr indent="0" marL="0">
              <a:lnSpc>
                <a:spcPts val="1400"/>
              </a:lnSpc>
              <a:buNone/>
            </a:pPr>
            <a:r>
              <a:rPr lang="en-US" sz="1050" dirty="0">
                <a:solidFill>
                  <a:srgbClr val="ADB2B9"/>
                </a:solidFill>
                <a:latin typeface="Calibri" pitchFamily="34" charset="0"/>
                <a:ea typeface="Calibri" pitchFamily="34" charset="-122"/>
                <a:cs typeface="Calibri" pitchFamily="34" charset="-120"/>
              </a:rPr>
              <a:t>· 10 entretiens de coachs</a:t>
            </a:r>
            <a:endParaRPr lang="en-US" sz="1050" dirty="0"/>
          </a:p>
        </p:txBody>
      </p:sp>
      <p:sp>
        <p:nvSpPr>
          <p:cNvPr id="17" name="Text 15"/>
          <p:cNvSpPr txBox="1"/>
          <p:nvPr/>
        </p:nvSpPr>
        <p:spPr>
          <a:xfrm>
            <a:off x="2999232" y="3913632"/>
            <a:ext cx="1709928" cy="512064"/>
          </a:xfrm>
          <a:prstGeom prst="rect">
            <a:avLst/>
          </a:prstGeom>
          <a:noFill/>
          <a:ln/>
        </p:spPr>
        <p:txBody>
          <a:bodyPr wrap="square" lIns="0" tIns="0" rIns="0" bIns="0" rtlCol="0" anchor="t"/>
          <a:lstStyle/>
          <a:p>
            <a:pPr indent="0" marL="0">
              <a:lnSpc>
                <a:spcPts val="1400"/>
              </a:lnSpc>
              <a:buNone/>
            </a:pPr>
            <a:r>
              <a:rPr lang="en-US" sz="1050" dirty="0">
                <a:solidFill>
                  <a:srgbClr val="ADB2B9"/>
                </a:solidFill>
                <a:latin typeface="Calibri" pitchFamily="34" charset="0"/>
                <a:ea typeface="Calibri" pitchFamily="34" charset="-122"/>
                <a:cs typeface="Calibri" pitchFamily="34" charset="-120"/>
              </a:rPr>
              <a:t>· Grille de prix testée</a:t>
            </a:r>
            <a:endParaRPr lang="en-US" sz="1050" dirty="0"/>
          </a:p>
        </p:txBody>
      </p:sp>
      <p:sp>
        <p:nvSpPr>
          <p:cNvPr id="18" name="Shape 16"/>
          <p:cNvSpPr/>
          <p:nvPr/>
        </p:nvSpPr>
        <p:spPr>
          <a:xfrm>
            <a:off x="5047488" y="1783080"/>
            <a:ext cx="2112264" cy="3291840"/>
          </a:xfrm>
          <a:prstGeom prst="roundRect">
            <a:avLst>
              <a:gd name="adj" fmla="val 3030"/>
            </a:avLst>
          </a:prstGeom>
          <a:solidFill>
            <a:srgbClr val="1D2026"/>
          </a:solidFill>
          <a:ln w="9525">
            <a:solidFill>
              <a:srgbClr val="2F343D"/>
            </a:solidFill>
            <a:prstDash val="solid"/>
          </a:ln>
        </p:spPr>
      </p:sp>
      <p:sp>
        <p:nvSpPr>
          <p:cNvPr id="19" name="Shape 17"/>
          <p:cNvSpPr/>
          <p:nvPr/>
        </p:nvSpPr>
        <p:spPr>
          <a:xfrm>
            <a:off x="5248656" y="1956816"/>
            <a:ext cx="1709928" cy="41148"/>
          </a:xfrm>
          <a:prstGeom prst="rect">
            <a:avLst/>
          </a:prstGeom>
          <a:solidFill>
            <a:srgbClr val="ADB2B9"/>
          </a:solidFill>
          <a:ln w="12700">
            <a:solidFill>
              <a:srgbClr val="ADB2B9"/>
            </a:solidFill>
            <a:prstDash val="solid"/>
          </a:ln>
        </p:spPr>
      </p:sp>
      <p:sp>
        <p:nvSpPr>
          <p:cNvPr id="20" name="Text 18"/>
          <p:cNvSpPr txBox="1"/>
          <p:nvPr/>
        </p:nvSpPr>
        <p:spPr>
          <a:xfrm>
            <a:off x="5248656" y="2066544"/>
            <a:ext cx="1709928" cy="237744"/>
          </a:xfrm>
          <a:prstGeom prst="rect">
            <a:avLst/>
          </a:prstGeom>
          <a:noFill/>
          <a:ln/>
        </p:spPr>
        <p:txBody>
          <a:bodyPr wrap="square" lIns="0" tIns="0" rIns="0" bIns="0" rtlCol="0" anchor="ctr"/>
          <a:lstStyle/>
          <a:p>
            <a:pPr indent="0" marL="0">
              <a:buNone/>
            </a:pPr>
            <a:r>
              <a:rPr lang="en-US" sz="850" b="1" spc="100" kern="0" dirty="0">
                <a:solidFill>
                  <a:srgbClr val="ADB2B9"/>
                </a:solidFill>
                <a:latin typeface="Calibri" pitchFamily="34" charset="0"/>
                <a:ea typeface="Calibri" pitchFamily="34" charset="-122"/>
                <a:cs typeface="Calibri" pitchFamily="34" charset="-120"/>
              </a:rPr>
              <a:t>MOIS 1 – 3</a:t>
            </a:r>
            <a:endParaRPr lang="en-US" sz="850" dirty="0"/>
          </a:p>
        </p:txBody>
      </p:sp>
      <p:sp>
        <p:nvSpPr>
          <p:cNvPr id="21" name="Text 19"/>
          <p:cNvSpPr txBox="1"/>
          <p:nvPr/>
        </p:nvSpPr>
        <p:spPr>
          <a:xfrm>
            <a:off x="5248656" y="2322576"/>
            <a:ext cx="1709928" cy="603504"/>
          </a:xfrm>
          <a:prstGeom prst="rect">
            <a:avLst/>
          </a:prstGeom>
          <a:noFill/>
          <a:ln/>
        </p:spPr>
        <p:txBody>
          <a:bodyPr wrap="square" lIns="0" tIns="0" rIns="0" bIns="0" rtlCol="0" anchor="t"/>
          <a:lstStyle/>
          <a:p>
            <a:pPr indent="0" marL="0">
              <a:lnSpc>
                <a:spcPts val="2100"/>
              </a:lnSpc>
              <a:buNone/>
            </a:pPr>
            <a:r>
              <a:rPr lang="en-US" sz="1900" b="1" dirty="0">
                <a:solidFill>
                  <a:srgbClr val="E8EAED"/>
                </a:solidFill>
                <a:latin typeface="Arial Narrow" pitchFamily="34" charset="0"/>
                <a:ea typeface="Arial Narrow" pitchFamily="34" charset="-122"/>
                <a:cs typeface="Arial Narrow" pitchFamily="34" charset="-120"/>
              </a:rPr>
              <a:t>Construire</a:t>
            </a:r>
            <a:endParaRPr lang="en-US" sz="1900" dirty="0"/>
          </a:p>
        </p:txBody>
      </p:sp>
      <p:sp>
        <p:nvSpPr>
          <p:cNvPr id="22" name="Text 20"/>
          <p:cNvSpPr txBox="1"/>
          <p:nvPr/>
        </p:nvSpPr>
        <p:spPr>
          <a:xfrm>
            <a:off x="5248656" y="2889504"/>
            <a:ext cx="1709928" cy="512064"/>
          </a:xfrm>
          <a:prstGeom prst="rect">
            <a:avLst/>
          </a:prstGeom>
          <a:noFill/>
          <a:ln/>
        </p:spPr>
        <p:txBody>
          <a:bodyPr wrap="square" lIns="0" tIns="0" rIns="0" bIns="0" rtlCol="0" anchor="t"/>
          <a:lstStyle/>
          <a:p>
            <a:pPr indent="0" marL="0">
              <a:lnSpc>
                <a:spcPts val="1400"/>
              </a:lnSpc>
              <a:buNone/>
            </a:pPr>
            <a:r>
              <a:rPr lang="en-US" sz="1050" dirty="0">
                <a:solidFill>
                  <a:srgbClr val="ADB2B9"/>
                </a:solidFill>
                <a:latin typeface="Calibri" pitchFamily="34" charset="0"/>
                <a:ea typeface="Calibri" pitchFamily="34" charset="-122"/>
                <a:cs typeface="Calibri" pitchFamily="34" charset="-120"/>
              </a:rPr>
              <a:t>· Partage coach ↔ client</a:t>
            </a:r>
            <a:endParaRPr lang="en-US" sz="1050" dirty="0"/>
          </a:p>
        </p:txBody>
      </p:sp>
      <p:sp>
        <p:nvSpPr>
          <p:cNvPr id="23" name="Text 21"/>
          <p:cNvSpPr txBox="1"/>
          <p:nvPr/>
        </p:nvSpPr>
        <p:spPr>
          <a:xfrm>
            <a:off x="5248656" y="3401568"/>
            <a:ext cx="1709928" cy="512064"/>
          </a:xfrm>
          <a:prstGeom prst="rect">
            <a:avLst/>
          </a:prstGeom>
          <a:noFill/>
          <a:ln/>
        </p:spPr>
        <p:txBody>
          <a:bodyPr wrap="square" lIns="0" tIns="0" rIns="0" bIns="0" rtlCol="0" anchor="t"/>
          <a:lstStyle/>
          <a:p>
            <a:pPr indent="0" marL="0">
              <a:lnSpc>
                <a:spcPts val="1400"/>
              </a:lnSpc>
              <a:buNone/>
            </a:pPr>
            <a:r>
              <a:rPr lang="en-US" sz="1050" dirty="0">
                <a:solidFill>
                  <a:srgbClr val="ADB2B9"/>
                </a:solidFill>
                <a:latin typeface="Calibri" pitchFamily="34" charset="0"/>
                <a:ea typeface="Calibri" pitchFamily="34" charset="-122"/>
                <a:cs typeface="Calibri" pitchFamily="34" charset="-120"/>
              </a:rPr>
              <a:t>· Tableau de bord du coach</a:t>
            </a:r>
            <a:endParaRPr lang="en-US" sz="1050" dirty="0"/>
          </a:p>
        </p:txBody>
      </p:sp>
      <p:sp>
        <p:nvSpPr>
          <p:cNvPr id="24" name="Text 22"/>
          <p:cNvSpPr txBox="1"/>
          <p:nvPr/>
        </p:nvSpPr>
        <p:spPr>
          <a:xfrm>
            <a:off x="5248656" y="3913632"/>
            <a:ext cx="1709928" cy="512064"/>
          </a:xfrm>
          <a:prstGeom prst="rect">
            <a:avLst/>
          </a:prstGeom>
          <a:noFill/>
          <a:ln/>
        </p:spPr>
        <p:txBody>
          <a:bodyPr wrap="square" lIns="0" tIns="0" rIns="0" bIns="0" rtlCol="0" anchor="t"/>
          <a:lstStyle/>
          <a:p>
            <a:pPr indent="0" marL="0">
              <a:lnSpc>
                <a:spcPts val="1400"/>
              </a:lnSpc>
              <a:buNone/>
            </a:pPr>
            <a:r>
              <a:rPr lang="en-US" sz="1050" dirty="0">
                <a:solidFill>
                  <a:srgbClr val="ADB2B9"/>
                </a:solidFill>
                <a:latin typeface="Calibri" pitchFamily="34" charset="0"/>
                <a:ea typeface="Calibri" pitchFamily="34" charset="-122"/>
                <a:cs typeface="Calibri" pitchFamily="34" charset="-120"/>
              </a:rPr>
              <a:t>· Stripe, hébergeur français</a:t>
            </a:r>
            <a:endParaRPr lang="en-US" sz="1050" dirty="0"/>
          </a:p>
        </p:txBody>
      </p:sp>
      <p:sp>
        <p:nvSpPr>
          <p:cNvPr id="25" name="Text 23"/>
          <p:cNvSpPr txBox="1"/>
          <p:nvPr/>
        </p:nvSpPr>
        <p:spPr>
          <a:xfrm>
            <a:off x="5248656" y="4425696"/>
            <a:ext cx="1709928" cy="512064"/>
          </a:xfrm>
          <a:prstGeom prst="rect">
            <a:avLst/>
          </a:prstGeom>
          <a:noFill/>
          <a:ln/>
        </p:spPr>
        <p:txBody>
          <a:bodyPr wrap="square" lIns="0" tIns="0" rIns="0" bIns="0" rtlCol="0" anchor="t"/>
          <a:lstStyle/>
          <a:p>
            <a:pPr indent="0" marL="0">
              <a:lnSpc>
                <a:spcPts val="1400"/>
              </a:lnSpc>
              <a:buNone/>
            </a:pPr>
            <a:r>
              <a:rPr lang="en-US" sz="1050" dirty="0">
                <a:solidFill>
                  <a:srgbClr val="ADB2B9"/>
                </a:solidFill>
                <a:latin typeface="Calibri" pitchFamily="34" charset="0"/>
                <a:ea typeface="Calibri" pitchFamily="34" charset="-122"/>
                <a:cs typeface="Calibri" pitchFamily="34" charset="-120"/>
              </a:rPr>
              <a:t>· CGU, RGPD</a:t>
            </a:r>
            <a:endParaRPr lang="en-US" sz="1050" dirty="0"/>
          </a:p>
        </p:txBody>
      </p:sp>
      <p:sp>
        <p:nvSpPr>
          <p:cNvPr id="26" name="Shape 24"/>
          <p:cNvSpPr/>
          <p:nvPr/>
        </p:nvSpPr>
        <p:spPr>
          <a:xfrm>
            <a:off x="7296912" y="1783080"/>
            <a:ext cx="2112264" cy="3291840"/>
          </a:xfrm>
          <a:prstGeom prst="roundRect">
            <a:avLst>
              <a:gd name="adj" fmla="val 3030"/>
            </a:avLst>
          </a:prstGeom>
          <a:solidFill>
            <a:srgbClr val="1D2026"/>
          </a:solidFill>
          <a:ln w="9525">
            <a:solidFill>
              <a:srgbClr val="2F343D"/>
            </a:solidFill>
            <a:prstDash val="solid"/>
          </a:ln>
        </p:spPr>
      </p:sp>
      <p:sp>
        <p:nvSpPr>
          <p:cNvPr id="27" name="Shape 25"/>
          <p:cNvSpPr/>
          <p:nvPr/>
        </p:nvSpPr>
        <p:spPr>
          <a:xfrm>
            <a:off x="7498080" y="1956816"/>
            <a:ext cx="1709928" cy="41148"/>
          </a:xfrm>
          <a:prstGeom prst="rect">
            <a:avLst/>
          </a:prstGeom>
          <a:solidFill>
            <a:srgbClr val="ADB2B9"/>
          </a:solidFill>
          <a:ln w="12700">
            <a:solidFill>
              <a:srgbClr val="ADB2B9"/>
            </a:solidFill>
            <a:prstDash val="solid"/>
          </a:ln>
        </p:spPr>
      </p:sp>
      <p:sp>
        <p:nvSpPr>
          <p:cNvPr id="28" name="Text 26"/>
          <p:cNvSpPr txBox="1"/>
          <p:nvPr/>
        </p:nvSpPr>
        <p:spPr>
          <a:xfrm>
            <a:off x="7498080" y="2066544"/>
            <a:ext cx="1709928" cy="237744"/>
          </a:xfrm>
          <a:prstGeom prst="rect">
            <a:avLst/>
          </a:prstGeom>
          <a:noFill/>
          <a:ln/>
        </p:spPr>
        <p:txBody>
          <a:bodyPr wrap="square" lIns="0" tIns="0" rIns="0" bIns="0" rtlCol="0" anchor="ctr"/>
          <a:lstStyle/>
          <a:p>
            <a:pPr indent="0" marL="0">
              <a:buNone/>
            </a:pPr>
            <a:r>
              <a:rPr lang="en-US" sz="850" b="1" spc="100" kern="0" dirty="0">
                <a:solidFill>
                  <a:srgbClr val="ADB2B9"/>
                </a:solidFill>
                <a:latin typeface="Calibri" pitchFamily="34" charset="0"/>
                <a:ea typeface="Calibri" pitchFamily="34" charset="-122"/>
                <a:cs typeface="Calibri" pitchFamily="34" charset="-120"/>
              </a:rPr>
              <a:t>MOIS 3 – 6</a:t>
            </a:r>
            <a:endParaRPr lang="en-US" sz="850" dirty="0"/>
          </a:p>
        </p:txBody>
      </p:sp>
      <p:sp>
        <p:nvSpPr>
          <p:cNvPr id="29" name="Text 27"/>
          <p:cNvSpPr txBox="1"/>
          <p:nvPr/>
        </p:nvSpPr>
        <p:spPr>
          <a:xfrm>
            <a:off x="7498080" y="2322576"/>
            <a:ext cx="1709928" cy="603504"/>
          </a:xfrm>
          <a:prstGeom prst="rect">
            <a:avLst/>
          </a:prstGeom>
          <a:noFill/>
          <a:ln/>
        </p:spPr>
        <p:txBody>
          <a:bodyPr wrap="square" lIns="0" tIns="0" rIns="0" bIns="0" rtlCol="0" anchor="t"/>
          <a:lstStyle/>
          <a:p>
            <a:pPr indent="0" marL="0">
              <a:lnSpc>
                <a:spcPts val="2100"/>
              </a:lnSpc>
              <a:buNone/>
            </a:pPr>
            <a:r>
              <a:rPr lang="en-US" sz="1900" b="1" dirty="0">
                <a:solidFill>
                  <a:srgbClr val="E8EAED"/>
                </a:solidFill>
                <a:latin typeface="Arial Narrow" pitchFamily="34" charset="0"/>
                <a:ea typeface="Arial Narrow" pitchFamily="34" charset="-122"/>
                <a:cs typeface="Arial Narrow" pitchFamily="34" charset="-120"/>
              </a:rPr>
              <a:t>Piloter</a:t>
            </a:r>
            <a:endParaRPr lang="en-US" sz="1900" dirty="0"/>
          </a:p>
        </p:txBody>
      </p:sp>
      <p:sp>
        <p:nvSpPr>
          <p:cNvPr id="30" name="Text 28"/>
          <p:cNvSpPr txBox="1"/>
          <p:nvPr/>
        </p:nvSpPr>
        <p:spPr>
          <a:xfrm>
            <a:off x="7498080" y="2889504"/>
            <a:ext cx="1709928" cy="512064"/>
          </a:xfrm>
          <a:prstGeom prst="rect">
            <a:avLst/>
          </a:prstGeom>
          <a:noFill/>
          <a:ln/>
        </p:spPr>
        <p:txBody>
          <a:bodyPr wrap="square" lIns="0" tIns="0" rIns="0" bIns="0" rtlCol="0" anchor="t"/>
          <a:lstStyle/>
          <a:p>
            <a:pPr indent="0" marL="0">
              <a:lnSpc>
                <a:spcPts val="1400"/>
              </a:lnSpc>
              <a:buNone/>
            </a:pPr>
            <a:r>
              <a:rPr lang="en-US" sz="1050" dirty="0">
                <a:solidFill>
                  <a:srgbClr val="ADB2B9"/>
                </a:solidFill>
                <a:latin typeface="Calibri" pitchFamily="34" charset="0"/>
                <a:ea typeface="Calibri" pitchFamily="34" charset="-122"/>
                <a:cs typeface="Calibri" pitchFamily="34" charset="-120"/>
              </a:rPr>
              <a:t>· 5 pilotes gratuits</a:t>
            </a:r>
            <a:endParaRPr lang="en-US" sz="1050" dirty="0"/>
          </a:p>
        </p:txBody>
      </p:sp>
      <p:sp>
        <p:nvSpPr>
          <p:cNvPr id="31" name="Text 29"/>
          <p:cNvSpPr txBox="1"/>
          <p:nvPr/>
        </p:nvSpPr>
        <p:spPr>
          <a:xfrm>
            <a:off x="7498080" y="3401568"/>
            <a:ext cx="1709928" cy="512064"/>
          </a:xfrm>
          <a:prstGeom prst="rect">
            <a:avLst/>
          </a:prstGeom>
          <a:noFill/>
          <a:ln/>
        </p:spPr>
        <p:txBody>
          <a:bodyPr wrap="square" lIns="0" tIns="0" rIns="0" bIns="0" rtlCol="0" anchor="t"/>
          <a:lstStyle/>
          <a:p>
            <a:pPr indent="0" marL="0">
              <a:lnSpc>
                <a:spcPts val="1400"/>
              </a:lnSpc>
              <a:buNone/>
            </a:pPr>
            <a:r>
              <a:rPr lang="en-US" sz="1050" dirty="0">
                <a:solidFill>
                  <a:srgbClr val="ADB2B9"/>
                </a:solidFill>
                <a:latin typeface="Calibri" pitchFamily="34" charset="0"/>
                <a:ea typeface="Calibri" pitchFamily="34" charset="-122"/>
                <a:cs typeface="Calibri" pitchFamily="34" charset="-120"/>
              </a:rPr>
              <a:t>· Mesure de l'usage réel</a:t>
            </a:r>
            <a:endParaRPr lang="en-US" sz="1050" dirty="0"/>
          </a:p>
        </p:txBody>
      </p:sp>
      <p:sp>
        <p:nvSpPr>
          <p:cNvPr id="32" name="Text 30"/>
          <p:cNvSpPr txBox="1"/>
          <p:nvPr/>
        </p:nvSpPr>
        <p:spPr>
          <a:xfrm>
            <a:off x="7498080" y="3913632"/>
            <a:ext cx="1709928" cy="512064"/>
          </a:xfrm>
          <a:prstGeom prst="rect">
            <a:avLst/>
          </a:prstGeom>
          <a:noFill/>
          <a:ln/>
        </p:spPr>
        <p:txBody>
          <a:bodyPr wrap="square" lIns="0" tIns="0" rIns="0" bIns="0" rtlCol="0" anchor="t"/>
          <a:lstStyle/>
          <a:p>
            <a:pPr indent="0" marL="0">
              <a:lnSpc>
                <a:spcPts val="1400"/>
              </a:lnSpc>
              <a:buNone/>
            </a:pPr>
            <a:r>
              <a:rPr lang="en-US" sz="1050" dirty="0">
                <a:solidFill>
                  <a:srgbClr val="ADB2B9"/>
                </a:solidFill>
                <a:latin typeface="Calibri" pitchFamily="34" charset="0"/>
                <a:ea typeface="Calibri" pitchFamily="34" charset="-122"/>
                <a:cs typeface="Calibri" pitchFamily="34" charset="-120"/>
              </a:rPr>
              <a:t>· Décision de lancement</a:t>
            </a:r>
            <a:endParaRPr lang="en-US" sz="1050" dirty="0"/>
          </a:p>
        </p:txBody>
      </p:sp>
      <p:sp>
        <p:nvSpPr>
          <p:cNvPr id="33" name="Shape 31"/>
          <p:cNvSpPr/>
          <p:nvPr/>
        </p:nvSpPr>
        <p:spPr>
          <a:xfrm>
            <a:off x="9546336" y="1783080"/>
            <a:ext cx="2112264" cy="3291840"/>
          </a:xfrm>
          <a:prstGeom prst="roundRect">
            <a:avLst>
              <a:gd name="adj" fmla="val 3030"/>
            </a:avLst>
          </a:prstGeom>
          <a:solidFill>
            <a:srgbClr val="1D2026"/>
          </a:solidFill>
          <a:ln w="9525">
            <a:solidFill>
              <a:srgbClr val="2F343D"/>
            </a:solidFill>
            <a:prstDash val="solid"/>
          </a:ln>
        </p:spPr>
      </p:sp>
      <p:sp>
        <p:nvSpPr>
          <p:cNvPr id="34" name="Shape 32"/>
          <p:cNvSpPr/>
          <p:nvPr/>
        </p:nvSpPr>
        <p:spPr>
          <a:xfrm>
            <a:off x="9747504" y="1956816"/>
            <a:ext cx="1709928" cy="41148"/>
          </a:xfrm>
          <a:prstGeom prst="rect">
            <a:avLst/>
          </a:prstGeom>
          <a:solidFill>
            <a:srgbClr val="ADB2B9"/>
          </a:solidFill>
          <a:ln w="12700">
            <a:solidFill>
              <a:srgbClr val="ADB2B9"/>
            </a:solidFill>
            <a:prstDash val="solid"/>
          </a:ln>
        </p:spPr>
      </p:sp>
      <p:sp>
        <p:nvSpPr>
          <p:cNvPr id="35" name="Text 33"/>
          <p:cNvSpPr txBox="1"/>
          <p:nvPr/>
        </p:nvSpPr>
        <p:spPr>
          <a:xfrm>
            <a:off x="9747504" y="2066544"/>
            <a:ext cx="1709928" cy="237744"/>
          </a:xfrm>
          <a:prstGeom prst="rect">
            <a:avLst/>
          </a:prstGeom>
          <a:noFill/>
          <a:ln/>
        </p:spPr>
        <p:txBody>
          <a:bodyPr wrap="square" lIns="0" tIns="0" rIns="0" bIns="0" rtlCol="0" anchor="ctr"/>
          <a:lstStyle/>
          <a:p>
            <a:pPr indent="0" marL="0">
              <a:buNone/>
            </a:pPr>
            <a:r>
              <a:rPr lang="en-US" sz="850" b="1" spc="100" kern="0" dirty="0">
                <a:solidFill>
                  <a:srgbClr val="ADB2B9"/>
                </a:solidFill>
                <a:latin typeface="Calibri" pitchFamily="34" charset="0"/>
                <a:ea typeface="Calibri" pitchFamily="34" charset="-122"/>
                <a:cs typeface="Calibri" pitchFamily="34" charset="-120"/>
              </a:rPr>
              <a:t>MOIS 6 – 36</a:t>
            </a:r>
            <a:endParaRPr lang="en-US" sz="850" dirty="0"/>
          </a:p>
        </p:txBody>
      </p:sp>
      <p:sp>
        <p:nvSpPr>
          <p:cNvPr id="36" name="Text 34"/>
          <p:cNvSpPr txBox="1"/>
          <p:nvPr/>
        </p:nvSpPr>
        <p:spPr>
          <a:xfrm>
            <a:off x="9747504" y="2322576"/>
            <a:ext cx="1709928" cy="603504"/>
          </a:xfrm>
          <a:prstGeom prst="rect">
            <a:avLst/>
          </a:prstGeom>
          <a:noFill/>
          <a:ln/>
        </p:spPr>
        <p:txBody>
          <a:bodyPr wrap="square" lIns="0" tIns="0" rIns="0" bIns="0" rtlCol="0" anchor="t"/>
          <a:lstStyle/>
          <a:p>
            <a:pPr indent="0" marL="0">
              <a:lnSpc>
                <a:spcPts val="2100"/>
              </a:lnSpc>
              <a:buNone/>
            </a:pPr>
            <a:r>
              <a:rPr lang="en-US" sz="1900" b="1" dirty="0">
                <a:solidFill>
                  <a:srgbClr val="E8EAED"/>
                </a:solidFill>
                <a:latin typeface="Arial Narrow" pitchFamily="34" charset="0"/>
                <a:ea typeface="Arial Narrow" pitchFamily="34" charset="-122"/>
                <a:cs typeface="Arial Narrow" pitchFamily="34" charset="-120"/>
              </a:rPr>
              <a:t>Vendre</a:t>
            </a:r>
            <a:endParaRPr lang="en-US" sz="1900" dirty="0"/>
          </a:p>
        </p:txBody>
      </p:sp>
      <p:sp>
        <p:nvSpPr>
          <p:cNvPr id="37" name="Text 35"/>
          <p:cNvSpPr txBox="1"/>
          <p:nvPr/>
        </p:nvSpPr>
        <p:spPr>
          <a:xfrm>
            <a:off x="9747504" y="2889504"/>
            <a:ext cx="1709928" cy="512064"/>
          </a:xfrm>
          <a:prstGeom prst="rect">
            <a:avLst/>
          </a:prstGeom>
          <a:noFill/>
          <a:ln/>
        </p:spPr>
        <p:txBody>
          <a:bodyPr wrap="square" lIns="0" tIns="0" rIns="0" bIns="0" rtlCol="0" anchor="t"/>
          <a:lstStyle/>
          <a:p>
            <a:pPr indent="0" marL="0">
              <a:lnSpc>
                <a:spcPts val="1400"/>
              </a:lnSpc>
              <a:buNone/>
            </a:pPr>
            <a:r>
              <a:rPr lang="en-US" sz="1050" dirty="0">
                <a:solidFill>
                  <a:srgbClr val="ADB2B9"/>
                </a:solidFill>
                <a:latin typeface="Calibri" pitchFamily="34" charset="0"/>
                <a:ea typeface="Calibri" pitchFamily="34" charset="-122"/>
                <a:cs typeface="Calibri" pitchFamily="34" charset="-120"/>
              </a:rPr>
              <a:t>· Mois 7 : premiers payants</a:t>
            </a:r>
            <a:endParaRPr lang="en-US" sz="1050" dirty="0"/>
          </a:p>
        </p:txBody>
      </p:sp>
      <p:sp>
        <p:nvSpPr>
          <p:cNvPr id="38" name="Text 36"/>
          <p:cNvSpPr txBox="1"/>
          <p:nvPr/>
        </p:nvSpPr>
        <p:spPr>
          <a:xfrm>
            <a:off x="9747504" y="3401568"/>
            <a:ext cx="1709928" cy="512064"/>
          </a:xfrm>
          <a:prstGeom prst="rect">
            <a:avLst/>
          </a:prstGeom>
          <a:noFill/>
          <a:ln/>
        </p:spPr>
        <p:txBody>
          <a:bodyPr wrap="square" lIns="0" tIns="0" rIns="0" bIns="0" rtlCol="0" anchor="t"/>
          <a:lstStyle/>
          <a:p>
            <a:pPr indent="0" marL="0">
              <a:lnSpc>
                <a:spcPts val="1400"/>
              </a:lnSpc>
              <a:buNone/>
            </a:pPr>
            <a:r>
              <a:rPr lang="en-US" sz="1050" dirty="0">
                <a:solidFill>
                  <a:srgbClr val="ADB2B9"/>
                </a:solidFill>
                <a:latin typeface="Calibri" pitchFamily="34" charset="0"/>
                <a:ea typeface="Calibri" pitchFamily="34" charset="-122"/>
                <a:cs typeface="Calibri" pitchFamily="34" charset="-120"/>
              </a:rPr>
              <a:t>· Mois 9 à 12 : iOS</a:t>
            </a:r>
            <a:endParaRPr lang="en-US" sz="1050" dirty="0"/>
          </a:p>
        </p:txBody>
      </p:sp>
      <p:sp>
        <p:nvSpPr>
          <p:cNvPr id="39" name="Text 37"/>
          <p:cNvSpPr txBox="1"/>
          <p:nvPr/>
        </p:nvSpPr>
        <p:spPr>
          <a:xfrm>
            <a:off x="9747504" y="3913632"/>
            <a:ext cx="1709928" cy="512064"/>
          </a:xfrm>
          <a:prstGeom prst="rect">
            <a:avLst/>
          </a:prstGeom>
          <a:noFill/>
          <a:ln/>
        </p:spPr>
        <p:txBody>
          <a:bodyPr wrap="square" lIns="0" tIns="0" rIns="0" bIns="0" rtlCol="0" anchor="t"/>
          <a:lstStyle/>
          <a:p>
            <a:pPr indent="0" marL="0">
              <a:lnSpc>
                <a:spcPts val="1400"/>
              </a:lnSpc>
              <a:buNone/>
            </a:pPr>
            <a:r>
              <a:rPr lang="en-US" sz="1050" dirty="0">
                <a:solidFill>
                  <a:srgbClr val="ADB2B9"/>
                </a:solidFill>
                <a:latin typeface="Calibri" pitchFamily="34" charset="0"/>
                <a:ea typeface="Calibri" pitchFamily="34" charset="-122"/>
                <a:cs typeface="Calibri" pitchFamily="34" charset="-120"/>
              </a:rPr>
              <a:t>· Année 2 : alertes, export, parrainage</a:t>
            </a:r>
            <a:endParaRPr lang="en-US" sz="1050" dirty="0"/>
          </a:p>
        </p:txBody>
      </p:sp>
      <p:sp>
        <p:nvSpPr>
          <p:cNvPr id="40" name="Text 38"/>
          <p:cNvSpPr txBox="1"/>
          <p:nvPr/>
        </p:nvSpPr>
        <p:spPr>
          <a:xfrm>
            <a:off x="9747504" y="4425696"/>
            <a:ext cx="1709928" cy="512064"/>
          </a:xfrm>
          <a:prstGeom prst="rect">
            <a:avLst/>
          </a:prstGeom>
          <a:noFill/>
          <a:ln/>
        </p:spPr>
        <p:txBody>
          <a:bodyPr wrap="square" lIns="0" tIns="0" rIns="0" bIns="0" rtlCol="0" anchor="t"/>
          <a:lstStyle/>
          <a:p>
            <a:pPr indent="0" marL="0">
              <a:lnSpc>
                <a:spcPts val="1400"/>
              </a:lnSpc>
              <a:buNone/>
            </a:pPr>
            <a:r>
              <a:rPr lang="en-US" sz="1050" dirty="0">
                <a:solidFill>
                  <a:srgbClr val="ADB2B9"/>
                </a:solidFill>
                <a:latin typeface="Calibri" pitchFamily="34" charset="0"/>
                <a:ea typeface="Calibri" pitchFamily="34" charset="-122"/>
                <a:cs typeface="Calibri" pitchFamily="34" charset="-120"/>
              </a:rPr>
              <a:t>· Année 3 : formule Studio</a:t>
            </a:r>
            <a:endParaRPr lang="en-US" sz="1050" dirty="0"/>
          </a:p>
        </p:txBody>
      </p:sp>
      <p:sp>
        <p:nvSpPr>
          <p:cNvPr id="41" name="Shape 39"/>
          <p:cNvSpPr/>
          <p:nvPr/>
        </p:nvSpPr>
        <p:spPr>
          <a:xfrm>
            <a:off x="548640" y="5230368"/>
            <a:ext cx="11091672" cy="566928"/>
          </a:xfrm>
          <a:prstGeom prst="roundRect">
            <a:avLst>
              <a:gd name="adj" fmla="val 11290"/>
            </a:avLst>
          </a:prstGeom>
          <a:solidFill>
            <a:srgbClr val="23272E"/>
          </a:solidFill>
          <a:ln w="15875">
            <a:solidFill>
              <a:srgbClr val="E2675F"/>
            </a:solidFill>
            <a:prstDash val="solid"/>
          </a:ln>
        </p:spPr>
      </p:sp>
      <p:sp>
        <p:nvSpPr>
          <p:cNvPr id="42" name="Text 40"/>
          <p:cNvSpPr txBox="1"/>
          <p:nvPr/>
        </p:nvSpPr>
        <p:spPr>
          <a:xfrm>
            <a:off x="859536" y="5230368"/>
            <a:ext cx="10469880" cy="566928"/>
          </a:xfrm>
          <a:prstGeom prst="rect">
            <a:avLst/>
          </a:prstGeom>
          <a:noFill/>
          <a:ln/>
        </p:spPr>
        <p:txBody>
          <a:bodyPr wrap="square" lIns="0" tIns="0" rIns="0" bIns="0" rtlCol="0" anchor="ctr"/>
          <a:lstStyle/>
          <a:p>
            <a:pPr indent="0" marL="0">
              <a:buNone/>
            </a:pPr>
            <a:r>
              <a:rPr lang="en-US" sz="1200" b="1" dirty="0">
                <a:solidFill>
                  <a:srgbClr val="E2675F"/>
                </a:solidFill>
                <a:latin typeface="Calibri" pitchFamily="34" charset="0"/>
                <a:ea typeface="Calibri" pitchFamily="34" charset="-122"/>
                <a:cs typeface="Calibri" pitchFamily="34" charset="-120"/>
              </a:rPr>
              <a:t>Le mois 6 est le seul vrai point de non-retour : </a:t>
            </a:r>
            <a:pPr indent="0" marL="0">
              <a:buNone/>
            </a:pPr>
            <a:r>
              <a:rPr lang="en-US" sz="1200" dirty="0">
                <a:solidFill>
                  <a:srgbClr val="ADB2B9"/>
                </a:solidFill>
                <a:latin typeface="Calibri" pitchFamily="34" charset="0"/>
                <a:ea typeface="Calibri" pitchFamily="34" charset="-122"/>
                <a:cs typeface="Calibri" pitchFamily="34" charset="-120"/>
              </a:rPr>
              <a:t>si 3 pilotes sur 5 ne sont pas prêts à payer, on arrête ou on repositionne — avant tout développement lourd.</a:t>
            </a:r>
            <a:endParaRPr lang="en-US" sz="1200" dirty="0"/>
          </a:p>
        </p:txBody>
      </p:sp>
      <p:sp>
        <p:nvSpPr>
          <p:cNvPr id="43" name="Text 41"/>
          <p:cNvSpPr txBox="1"/>
          <p:nvPr/>
        </p:nvSpPr>
        <p:spPr>
          <a:xfrm>
            <a:off x="548640" y="5961888"/>
            <a:ext cx="11091672" cy="310896"/>
          </a:xfrm>
          <a:prstGeom prst="rect">
            <a:avLst/>
          </a:prstGeom>
          <a:noFill/>
          <a:ln/>
        </p:spPr>
        <p:txBody>
          <a:bodyPr wrap="square" lIns="0" tIns="0" rIns="0" bIns="0" rtlCol="0" anchor="ctr"/>
          <a:lstStyle/>
          <a:p>
            <a:pPr indent="0" marL="0">
              <a:buNone/>
            </a:pPr>
            <a:r>
              <a:rPr lang="en-US" sz="950" i="1" dirty="0">
                <a:solidFill>
                  <a:srgbClr val="868E99"/>
                </a:solidFill>
                <a:latin typeface="Calibri" pitchFamily="34" charset="0"/>
                <a:ea typeface="Calibri" pitchFamily="34" charset="-122"/>
                <a:cs typeface="Calibri" pitchFamily="34" charset="-120"/>
              </a:rPr>
              <a:t>Rythme calé sur un projet mené en parallèle d'une activité principale</a:t>
            </a:r>
            <a:endParaRPr lang="en-US" sz="950" dirty="0"/>
          </a:p>
        </p:txBody>
      </p:sp>
      <p:sp>
        <p:nvSpPr>
          <p:cNvPr id="44" name="Text 42"/>
          <p:cNvSpPr txBox="1"/>
          <p:nvPr/>
        </p:nvSpPr>
        <p:spPr>
          <a:xfrm>
            <a:off x="548640" y="6336792"/>
            <a:ext cx="8229600" cy="274320"/>
          </a:xfrm>
          <a:prstGeom prst="rect">
            <a:avLst/>
          </a:prstGeom>
          <a:noFill/>
          <a:ln/>
        </p:spPr>
        <p:txBody>
          <a:bodyPr wrap="square" lIns="0" tIns="0" rIns="0" bIns="0" rtlCol="0" anchor="ctr"/>
          <a:lstStyle/>
          <a:p>
            <a:pPr algn="l" indent="0" marL="0">
              <a:buNone/>
            </a:pPr>
            <a:r>
              <a:rPr lang="en-US" sz="900" dirty="0">
                <a:solidFill>
                  <a:srgbClr val="868E99"/>
                </a:solidFill>
                <a:latin typeface="Calibri" pitchFamily="34" charset="0"/>
                <a:ea typeface="Calibri" pitchFamily="34" charset="-122"/>
                <a:cs typeface="Calibri" pitchFamily="34" charset="-120"/>
              </a:rPr>
              <a:t>fitcarnet Pro · business plan · 21 septembre 2026</a:t>
            </a:r>
            <a:endParaRPr lang="en-US" sz="900" dirty="0"/>
          </a:p>
        </p:txBody>
      </p:sp>
      <p:sp>
        <p:nvSpPr>
          <p:cNvPr id="45" name="Text 43"/>
          <p:cNvSpPr txBox="1"/>
          <p:nvPr/>
        </p:nvSpPr>
        <p:spPr>
          <a:xfrm>
            <a:off x="8897112" y="6336792"/>
            <a:ext cx="2743200" cy="274320"/>
          </a:xfrm>
          <a:prstGeom prst="rect">
            <a:avLst/>
          </a:prstGeom>
          <a:noFill/>
          <a:ln/>
        </p:spPr>
        <p:txBody>
          <a:bodyPr wrap="square" lIns="0" tIns="0" rIns="0" bIns="0" rtlCol="0" anchor="ctr"/>
          <a:lstStyle/>
          <a:p>
            <a:pPr algn="r" indent="0" marL="0">
              <a:buNone/>
            </a:pPr>
            <a:r>
              <a:rPr lang="en-US" sz="900" dirty="0">
                <a:solidFill>
                  <a:srgbClr val="868E99"/>
                </a:solidFill>
                <a:latin typeface="Calibri" pitchFamily="34" charset="0"/>
                <a:ea typeface="Calibri" pitchFamily="34" charset="-122"/>
                <a:cs typeface="Calibri" pitchFamily="34" charset="-120"/>
              </a:rPr>
              <a:t>17 / 24</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4161A"/>
        </a:solidFill>
      </p:bgPr>
    </p:bg>
    <p:spTree>
      <p:nvGrpSpPr>
        <p:cNvPr id="1" name=""/>
        <p:cNvGrpSpPr/>
        <p:nvPr/>
      </p:nvGrpSpPr>
      <p:grpSpPr>
        <a:xfrm>
          <a:off x="0" y="0"/>
          <a:ext cx="0" cy="0"/>
          <a:chOff x="0" y="0"/>
          <a:chExt cx="0" cy="0"/>
        </a:xfrm>
      </p:grpSpPr>
      <p:sp>
        <p:nvSpPr>
          <p:cNvPr id="2" name="Text 0"/>
          <p:cNvSpPr txBox="1"/>
          <p:nvPr/>
        </p:nvSpPr>
        <p:spPr>
          <a:xfrm>
            <a:off x="548640" y="347472"/>
            <a:ext cx="11091672" cy="237744"/>
          </a:xfrm>
          <a:prstGeom prst="rect">
            <a:avLst/>
          </a:prstGeom>
          <a:noFill/>
          <a:ln/>
        </p:spPr>
        <p:txBody>
          <a:bodyPr wrap="square" lIns="0" tIns="0" rIns="0" bIns="0" rtlCol="0" anchor="ctr"/>
          <a:lstStyle/>
          <a:p>
            <a:pPr indent="0" marL="0">
              <a:buNone/>
            </a:pPr>
            <a:r>
              <a:rPr lang="en-US" sz="1050" b="1" spc="200" kern="0" dirty="0">
                <a:solidFill>
                  <a:srgbClr val="E3B23C"/>
                </a:solidFill>
                <a:latin typeface="Calibri" pitchFamily="34" charset="0"/>
                <a:ea typeface="Calibri" pitchFamily="34" charset="-122"/>
                <a:cs typeface="Calibri" pitchFamily="34" charset="-120"/>
              </a:rPr>
              <a:t>OBJECTIFS ET INDICATEURS</a:t>
            </a:r>
            <a:endParaRPr lang="en-US" sz="1050" dirty="0"/>
          </a:p>
        </p:txBody>
      </p:sp>
      <p:sp>
        <p:nvSpPr>
          <p:cNvPr id="3" name="Text 1"/>
          <p:cNvSpPr txBox="1"/>
          <p:nvPr/>
        </p:nvSpPr>
        <p:spPr>
          <a:xfrm>
            <a:off x="548640" y="603504"/>
            <a:ext cx="11091672" cy="566928"/>
          </a:xfrm>
          <a:prstGeom prst="rect">
            <a:avLst/>
          </a:prstGeom>
          <a:noFill/>
          <a:ln/>
        </p:spPr>
        <p:txBody>
          <a:bodyPr wrap="square" lIns="0" tIns="0" rIns="0" bIns="0" rtlCol="0" anchor="ctr"/>
          <a:lstStyle/>
          <a:p>
            <a:pPr indent="0" marL="0">
              <a:buNone/>
            </a:pPr>
            <a:r>
              <a:rPr lang="en-US" sz="3000" b="1" dirty="0">
                <a:solidFill>
                  <a:srgbClr val="E8EAED"/>
                </a:solidFill>
                <a:latin typeface="Arial Narrow" pitchFamily="34" charset="0"/>
                <a:ea typeface="Arial Narrow" pitchFamily="34" charset="-122"/>
                <a:cs typeface="Arial Narrow" pitchFamily="34" charset="-120"/>
              </a:rPr>
              <a:t>Ce qu'on mesure, et ce qu'on fait si l'objectif est manqué</a:t>
            </a:r>
            <a:endParaRPr lang="en-US" sz="3000" dirty="0"/>
          </a:p>
        </p:txBody>
      </p:sp>
      <p:sp>
        <p:nvSpPr>
          <p:cNvPr id="4" name="Text 2"/>
          <p:cNvSpPr txBox="1"/>
          <p:nvPr/>
        </p:nvSpPr>
        <p:spPr>
          <a:xfrm>
            <a:off x="548640" y="1737360"/>
            <a:ext cx="1371600" cy="256032"/>
          </a:xfrm>
          <a:prstGeom prst="rect">
            <a:avLst/>
          </a:prstGeom>
          <a:noFill/>
          <a:ln/>
        </p:spPr>
        <p:txBody>
          <a:bodyPr wrap="square" lIns="0" tIns="0" rIns="0" bIns="0" rtlCol="0" anchor="ctr"/>
          <a:lstStyle/>
          <a:p>
            <a:pPr algn="l" indent="0" marL="0">
              <a:buNone/>
            </a:pPr>
            <a:r>
              <a:rPr lang="en-US" sz="850" b="1" spc="100" kern="0" dirty="0">
                <a:solidFill>
                  <a:srgbClr val="868E99"/>
                </a:solidFill>
                <a:latin typeface="Calibri" pitchFamily="34" charset="0"/>
                <a:ea typeface="Calibri" pitchFamily="34" charset="-122"/>
                <a:cs typeface="Calibri" pitchFamily="34" charset="-120"/>
              </a:rPr>
              <a:t>ÉCHÉANCE</a:t>
            </a:r>
            <a:endParaRPr lang="en-US" sz="850" dirty="0"/>
          </a:p>
        </p:txBody>
      </p:sp>
      <p:sp>
        <p:nvSpPr>
          <p:cNvPr id="5" name="Text 3"/>
          <p:cNvSpPr txBox="1"/>
          <p:nvPr/>
        </p:nvSpPr>
        <p:spPr>
          <a:xfrm>
            <a:off x="1920240" y="1737360"/>
            <a:ext cx="3108960" cy="256032"/>
          </a:xfrm>
          <a:prstGeom prst="rect">
            <a:avLst/>
          </a:prstGeom>
          <a:noFill/>
          <a:ln/>
        </p:spPr>
        <p:txBody>
          <a:bodyPr wrap="square" lIns="0" tIns="0" rIns="0" bIns="0" rtlCol="0" anchor="ctr"/>
          <a:lstStyle/>
          <a:p>
            <a:pPr algn="l" indent="0" marL="0">
              <a:buNone/>
            </a:pPr>
            <a:r>
              <a:rPr lang="en-US" sz="850" b="1" spc="100" kern="0" dirty="0">
                <a:solidFill>
                  <a:srgbClr val="868E99"/>
                </a:solidFill>
                <a:latin typeface="Calibri" pitchFamily="34" charset="0"/>
                <a:ea typeface="Calibri" pitchFamily="34" charset="-122"/>
                <a:cs typeface="Calibri" pitchFamily="34" charset="-120"/>
              </a:rPr>
              <a:t>OBJECTIF</a:t>
            </a:r>
            <a:endParaRPr lang="en-US" sz="850" dirty="0"/>
          </a:p>
        </p:txBody>
      </p:sp>
      <p:sp>
        <p:nvSpPr>
          <p:cNvPr id="6" name="Text 4"/>
          <p:cNvSpPr txBox="1"/>
          <p:nvPr/>
        </p:nvSpPr>
        <p:spPr>
          <a:xfrm>
            <a:off x="5029200" y="1737360"/>
            <a:ext cx="3474720" cy="256032"/>
          </a:xfrm>
          <a:prstGeom prst="rect">
            <a:avLst/>
          </a:prstGeom>
          <a:noFill/>
          <a:ln/>
        </p:spPr>
        <p:txBody>
          <a:bodyPr wrap="square" lIns="0" tIns="0" rIns="0" bIns="0" rtlCol="0" anchor="ctr"/>
          <a:lstStyle/>
          <a:p>
            <a:pPr algn="l" indent="0" marL="0">
              <a:buNone/>
            </a:pPr>
            <a:r>
              <a:rPr lang="en-US" sz="850" b="1" spc="100" kern="0" dirty="0">
                <a:solidFill>
                  <a:srgbClr val="868E99"/>
                </a:solidFill>
                <a:latin typeface="Calibri" pitchFamily="34" charset="0"/>
                <a:ea typeface="Calibri" pitchFamily="34" charset="-122"/>
                <a:cs typeface="Calibri" pitchFamily="34" charset="-120"/>
              </a:rPr>
              <a:t>INDICATEUR</a:t>
            </a:r>
            <a:endParaRPr lang="en-US" sz="850" dirty="0"/>
          </a:p>
        </p:txBody>
      </p:sp>
      <p:sp>
        <p:nvSpPr>
          <p:cNvPr id="7" name="Text 5"/>
          <p:cNvSpPr txBox="1"/>
          <p:nvPr/>
        </p:nvSpPr>
        <p:spPr>
          <a:xfrm>
            <a:off x="8503920" y="1737360"/>
            <a:ext cx="3136392" cy="256032"/>
          </a:xfrm>
          <a:prstGeom prst="rect">
            <a:avLst/>
          </a:prstGeom>
          <a:noFill/>
          <a:ln/>
        </p:spPr>
        <p:txBody>
          <a:bodyPr wrap="square" lIns="0" tIns="0" rIns="0" bIns="0" rtlCol="0" anchor="ctr"/>
          <a:lstStyle/>
          <a:p>
            <a:pPr algn="l" indent="0" marL="0">
              <a:buNone/>
            </a:pPr>
            <a:r>
              <a:rPr lang="en-US" sz="850" b="1" spc="100" kern="0" dirty="0">
                <a:solidFill>
                  <a:srgbClr val="868E99"/>
                </a:solidFill>
                <a:latin typeface="Calibri" pitchFamily="34" charset="0"/>
                <a:ea typeface="Calibri" pitchFamily="34" charset="-122"/>
                <a:cs typeface="Calibri" pitchFamily="34" charset="-120"/>
              </a:rPr>
              <a:t>SI L'OBJECTIF EST MANQUÉ</a:t>
            </a:r>
            <a:endParaRPr lang="en-US" sz="850" dirty="0"/>
          </a:p>
        </p:txBody>
      </p:sp>
      <p:sp>
        <p:nvSpPr>
          <p:cNvPr id="8" name="Text 6"/>
          <p:cNvSpPr txBox="1"/>
          <p:nvPr/>
        </p:nvSpPr>
        <p:spPr>
          <a:xfrm>
            <a:off x="548640" y="2011680"/>
            <a:ext cx="1371600" cy="475488"/>
          </a:xfrm>
          <a:prstGeom prst="rect">
            <a:avLst/>
          </a:prstGeom>
          <a:noFill/>
          <a:ln/>
        </p:spPr>
        <p:txBody>
          <a:bodyPr wrap="square" lIns="0" tIns="0" rIns="0" bIns="0" rtlCol="0" anchor="ctr"/>
          <a:lstStyle/>
          <a:p>
            <a:pPr algn="l" indent="0" marL="0">
              <a:buNone/>
            </a:pPr>
            <a:r>
              <a:rPr lang="en-US" sz="1200" dirty="0">
                <a:solidFill>
                  <a:srgbClr val="E8EAED"/>
                </a:solidFill>
                <a:latin typeface="Calibri" pitchFamily="34" charset="0"/>
                <a:ea typeface="Calibri" pitchFamily="34" charset="-122"/>
                <a:cs typeface="Calibri" pitchFamily="34" charset="-120"/>
              </a:rPr>
              <a:t>Mois 1</a:t>
            </a:r>
            <a:endParaRPr lang="en-US" sz="1200" dirty="0"/>
          </a:p>
        </p:txBody>
      </p:sp>
      <p:sp>
        <p:nvSpPr>
          <p:cNvPr id="9" name="Text 7"/>
          <p:cNvSpPr txBox="1"/>
          <p:nvPr/>
        </p:nvSpPr>
        <p:spPr>
          <a:xfrm>
            <a:off x="1920240" y="2011680"/>
            <a:ext cx="3108960" cy="475488"/>
          </a:xfrm>
          <a:prstGeom prst="rect">
            <a:avLst/>
          </a:prstGeom>
          <a:noFill/>
          <a:ln/>
        </p:spPr>
        <p:txBody>
          <a:bodyPr wrap="square" lIns="0" tIns="0" rIns="0" bIns="0" rtlCol="0" anchor="ctr"/>
          <a:lstStyle/>
          <a:p>
            <a:pPr algn="l" indent="0" marL="0">
              <a:buNone/>
            </a:pPr>
            <a:r>
              <a:rPr lang="en-US" sz="1200" dirty="0">
                <a:solidFill>
                  <a:srgbClr val="ADB2B9"/>
                </a:solidFill>
                <a:latin typeface="Calibri" pitchFamily="34" charset="0"/>
                <a:ea typeface="Calibri" pitchFamily="34" charset="-122"/>
                <a:cs typeface="Calibri" pitchFamily="34" charset="-120"/>
              </a:rPr>
              <a:t>10 entretiens menés</a:t>
            </a:r>
            <a:endParaRPr lang="en-US" sz="1200" dirty="0"/>
          </a:p>
        </p:txBody>
      </p:sp>
      <p:sp>
        <p:nvSpPr>
          <p:cNvPr id="10" name="Text 8"/>
          <p:cNvSpPr txBox="1"/>
          <p:nvPr/>
        </p:nvSpPr>
        <p:spPr>
          <a:xfrm>
            <a:off x="5029200" y="2011680"/>
            <a:ext cx="3474720" cy="475488"/>
          </a:xfrm>
          <a:prstGeom prst="rect">
            <a:avLst/>
          </a:prstGeom>
          <a:noFill/>
          <a:ln/>
        </p:spPr>
        <p:txBody>
          <a:bodyPr wrap="square" lIns="0" tIns="0" rIns="0" bIns="0" rtlCol="0" anchor="ctr"/>
          <a:lstStyle/>
          <a:p>
            <a:pPr algn="l" indent="0" marL="0">
              <a:buNone/>
            </a:pPr>
            <a:r>
              <a:rPr lang="en-US" sz="1200" dirty="0">
                <a:solidFill>
                  <a:srgbClr val="ADB2B9"/>
                </a:solidFill>
                <a:latin typeface="Calibri" pitchFamily="34" charset="0"/>
                <a:ea typeface="Calibri" pitchFamily="34" charset="-122"/>
                <a:cs typeface="Calibri" pitchFamily="34" charset="-120"/>
              </a:rPr>
              <a:t>Nombre de coachs prêts à tester</a:t>
            </a:r>
            <a:endParaRPr lang="en-US" sz="1200" dirty="0"/>
          </a:p>
        </p:txBody>
      </p:sp>
      <p:sp>
        <p:nvSpPr>
          <p:cNvPr id="11" name="Text 9"/>
          <p:cNvSpPr txBox="1"/>
          <p:nvPr/>
        </p:nvSpPr>
        <p:spPr>
          <a:xfrm>
            <a:off x="8503920" y="2011680"/>
            <a:ext cx="3136392" cy="475488"/>
          </a:xfrm>
          <a:prstGeom prst="rect">
            <a:avLst/>
          </a:prstGeom>
          <a:noFill/>
          <a:ln/>
        </p:spPr>
        <p:txBody>
          <a:bodyPr wrap="square" lIns="0" tIns="0" rIns="0" bIns="0" rtlCol="0" anchor="ctr"/>
          <a:lstStyle/>
          <a:p>
            <a:pPr algn="l" indent="0" marL="0">
              <a:buNone/>
            </a:pPr>
            <a:r>
              <a:rPr lang="en-US" sz="1200" dirty="0">
                <a:solidFill>
                  <a:srgbClr val="E3B23C"/>
                </a:solidFill>
                <a:latin typeface="Calibri" pitchFamily="34" charset="0"/>
                <a:ea typeface="Calibri" pitchFamily="34" charset="-122"/>
                <a:cs typeface="Calibri" pitchFamily="34" charset="-120"/>
              </a:rPr>
              <a:t>Revoir la cible avant de coder</a:t>
            </a:r>
            <a:endParaRPr lang="en-US" sz="1200" dirty="0"/>
          </a:p>
        </p:txBody>
      </p:sp>
      <p:sp>
        <p:nvSpPr>
          <p:cNvPr id="12" name="Shape 10"/>
          <p:cNvSpPr/>
          <p:nvPr/>
        </p:nvSpPr>
        <p:spPr>
          <a:xfrm>
            <a:off x="475488" y="2487168"/>
            <a:ext cx="11237976" cy="475488"/>
          </a:xfrm>
          <a:prstGeom prst="roundRect">
            <a:avLst>
              <a:gd name="adj" fmla="val 9615"/>
            </a:avLst>
          </a:prstGeom>
          <a:solidFill>
            <a:srgbClr val="23272E"/>
          </a:solidFill>
          <a:ln w="12700">
            <a:solidFill>
              <a:srgbClr val="E3B23C"/>
            </a:solidFill>
            <a:prstDash val="solid"/>
          </a:ln>
        </p:spPr>
      </p:sp>
      <p:sp>
        <p:nvSpPr>
          <p:cNvPr id="13" name="Text 11"/>
          <p:cNvSpPr txBox="1"/>
          <p:nvPr/>
        </p:nvSpPr>
        <p:spPr>
          <a:xfrm>
            <a:off x="548640" y="2487168"/>
            <a:ext cx="1371600" cy="475488"/>
          </a:xfrm>
          <a:prstGeom prst="rect">
            <a:avLst/>
          </a:prstGeom>
          <a:noFill/>
          <a:ln/>
        </p:spPr>
        <p:txBody>
          <a:bodyPr wrap="square" lIns="0" tIns="0" rIns="0" bIns="0" rtlCol="0" anchor="ctr"/>
          <a:lstStyle/>
          <a:p>
            <a:pPr algn="l" indent="0" marL="0">
              <a:buNone/>
            </a:pPr>
            <a:r>
              <a:rPr lang="en-US" sz="1200" b="1" dirty="0">
                <a:solidFill>
                  <a:srgbClr val="E8EAED"/>
                </a:solidFill>
                <a:latin typeface="Calibri" pitchFamily="34" charset="0"/>
                <a:ea typeface="Calibri" pitchFamily="34" charset="-122"/>
                <a:cs typeface="Calibri" pitchFamily="34" charset="-120"/>
              </a:rPr>
              <a:t>Mois 6</a:t>
            </a:r>
            <a:endParaRPr lang="en-US" sz="1200" dirty="0"/>
          </a:p>
        </p:txBody>
      </p:sp>
      <p:sp>
        <p:nvSpPr>
          <p:cNvPr id="14" name="Text 12"/>
          <p:cNvSpPr txBox="1"/>
          <p:nvPr/>
        </p:nvSpPr>
        <p:spPr>
          <a:xfrm>
            <a:off x="1920240" y="2487168"/>
            <a:ext cx="3108960" cy="475488"/>
          </a:xfrm>
          <a:prstGeom prst="rect">
            <a:avLst/>
          </a:prstGeom>
          <a:noFill/>
          <a:ln/>
        </p:spPr>
        <p:txBody>
          <a:bodyPr wrap="square" lIns="0" tIns="0" rIns="0" bIns="0" rtlCol="0" anchor="ctr"/>
          <a:lstStyle/>
          <a:p>
            <a:pPr algn="l" indent="0" marL="0">
              <a:buNone/>
            </a:pPr>
            <a:r>
              <a:rPr lang="en-US" sz="1200" b="1" dirty="0">
                <a:solidFill>
                  <a:srgbClr val="ADB2B9"/>
                </a:solidFill>
                <a:latin typeface="Calibri" pitchFamily="34" charset="0"/>
                <a:ea typeface="Calibri" pitchFamily="34" charset="-122"/>
                <a:cs typeface="Calibri" pitchFamily="34" charset="-120"/>
              </a:rPr>
              <a:t>3 pilotes sur 5 prêts à payer</a:t>
            </a:r>
            <a:endParaRPr lang="en-US" sz="1200" dirty="0"/>
          </a:p>
        </p:txBody>
      </p:sp>
      <p:sp>
        <p:nvSpPr>
          <p:cNvPr id="15" name="Text 13"/>
          <p:cNvSpPr txBox="1"/>
          <p:nvPr/>
        </p:nvSpPr>
        <p:spPr>
          <a:xfrm>
            <a:off x="5029200" y="2487168"/>
            <a:ext cx="3474720" cy="475488"/>
          </a:xfrm>
          <a:prstGeom prst="rect">
            <a:avLst/>
          </a:prstGeom>
          <a:noFill/>
          <a:ln/>
        </p:spPr>
        <p:txBody>
          <a:bodyPr wrap="square" lIns="0" tIns="0" rIns="0" bIns="0" rtlCol="0" anchor="ctr"/>
          <a:lstStyle/>
          <a:p>
            <a:pPr algn="l" indent="0" marL="0">
              <a:buNone/>
            </a:pPr>
            <a:r>
              <a:rPr lang="en-US" sz="1200" b="1" dirty="0">
                <a:solidFill>
                  <a:srgbClr val="ADB2B9"/>
                </a:solidFill>
                <a:latin typeface="Calibri" pitchFamily="34" charset="0"/>
                <a:ea typeface="Calibri" pitchFamily="34" charset="-122"/>
                <a:cs typeface="Calibri" pitchFamily="34" charset="-120"/>
              </a:rPr>
              <a:t>Engagement écrit au prix annoncé</a:t>
            </a:r>
            <a:endParaRPr lang="en-US" sz="1200" dirty="0"/>
          </a:p>
        </p:txBody>
      </p:sp>
      <p:sp>
        <p:nvSpPr>
          <p:cNvPr id="16" name="Text 14"/>
          <p:cNvSpPr txBox="1"/>
          <p:nvPr/>
        </p:nvSpPr>
        <p:spPr>
          <a:xfrm>
            <a:off x="8503920" y="2487168"/>
            <a:ext cx="3136392" cy="475488"/>
          </a:xfrm>
          <a:prstGeom prst="rect">
            <a:avLst/>
          </a:prstGeom>
          <a:noFill/>
          <a:ln/>
        </p:spPr>
        <p:txBody>
          <a:bodyPr wrap="square" lIns="0" tIns="0" rIns="0" bIns="0" rtlCol="0" anchor="ctr"/>
          <a:lstStyle/>
          <a:p>
            <a:pPr algn="l" indent="0" marL="0">
              <a:buNone/>
            </a:pPr>
            <a:r>
              <a:rPr lang="en-US" sz="1200" b="1" dirty="0">
                <a:solidFill>
                  <a:srgbClr val="E2675F"/>
                </a:solidFill>
                <a:latin typeface="Calibri" pitchFamily="34" charset="0"/>
                <a:ea typeface="Calibri" pitchFamily="34" charset="-122"/>
                <a:cs typeface="Calibri" pitchFamily="34" charset="-120"/>
              </a:rPr>
              <a:t>Arrêter ou repositionner</a:t>
            </a:r>
            <a:endParaRPr lang="en-US" sz="1200" dirty="0"/>
          </a:p>
        </p:txBody>
      </p:sp>
      <p:sp>
        <p:nvSpPr>
          <p:cNvPr id="17" name="Text 15"/>
          <p:cNvSpPr txBox="1"/>
          <p:nvPr/>
        </p:nvSpPr>
        <p:spPr>
          <a:xfrm>
            <a:off x="548640" y="2962656"/>
            <a:ext cx="1371600" cy="475488"/>
          </a:xfrm>
          <a:prstGeom prst="rect">
            <a:avLst/>
          </a:prstGeom>
          <a:noFill/>
          <a:ln/>
        </p:spPr>
        <p:txBody>
          <a:bodyPr wrap="square" lIns="0" tIns="0" rIns="0" bIns="0" rtlCol="0" anchor="ctr"/>
          <a:lstStyle/>
          <a:p>
            <a:pPr algn="l" indent="0" marL="0">
              <a:buNone/>
            </a:pPr>
            <a:r>
              <a:rPr lang="en-US" sz="1200" dirty="0">
                <a:solidFill>
                  <a:srgbClr val="E8EAED"/>
                </a:solidFill>
                <a:latin typeface="Calibri" pitchFamily="34" charset="0"/>
                <a:ea typeface="Calibri" pitchFamily="34" charset="-122"/>
                <a:cs typeface="Calibri" pitchFamily="34" charset="-120"/>
              </a:rPr>
              <a:t>Mois 12</a:t>
            </a:r>
            <a:endParaRPr lang="en-US" sz="1200" dirty="0"/>
          </a:p>
        </p:txBody>
      </p:sp>
      <p:sp>
        <p:nvSpPr>
          <p:cNvPr id="18" name="Text 16"/>
          <p:cNvSpPr txBox="1"/>
          <p:nvPr/>
        </p:nvSpPr>
        <p:spPr>
          <a:xfrm>
            <a:off x="1920240" y="2962656"/>
            <a:ext cx="3108960" cy="475488"/>
          </a:xfrm>
          <a:prstGeom prst="rect">
            <a:avLst/>
          </a:prstGeom>
          <a:noFill/>
          <a:ln/>
        </p:spPr>
        <p:txBody>
          <a:bodyPr wrap="square" lIns="0" tIns="0" rIns="0" bIns="0" rtlCol="0" anchor="ctr"/>
          <a:lstStyle/>
          <a:p>
            <a:pPr algn="l" indent="0" marL="0">
              <a:buNone/>
            </a:pPr>
            <a:r>
              <a:rPr lang="en-US" sz="1200" dirty="0">
                <a:solidFill>
                  <a:srgbClr val="ADB2B9"/>
                </a:solidFill>
                <a:latin typeface="Calibri" pitchFamily="34" charset="0"/>
                <a:ea typeface="Calibri" pitchFamily="34" charset="-122"/>
                <a:cs typeface="Calibri" pitchFamily="34" charset="-120"/>
              </a:rPr>
              <a:t>22 professionnels abonnés</a:t>
            </a:r>
            <a:endParaRPr lang="en-US" sz="1200" dirty="0"/>
          </a:p>
        </p:txBody>
      </p:sp>
      <p:sp>
        <p:nvSpPr>
          <p:cNvPr id="19" name="Text 17"/>
          <p:cNvSpPr txBox="1"/>
          <p:nvPr/>
        </p:nvSpPr>
        <p:spPr>
          <a:xfrm>
            <a:off x="5029200" y="2962656"/>
            <a:ext cx="3474720" cy="475488"/>
          </a:xfrm>
          <a:prstGeom prst="rect">
            <a:avLst/>
          </a:prstGeom>
          <a:noFill/>
          <a:ln/>
        </p:spPr>
        <p:txBody>
          <a:bodyPr wrap="square" lIns="0" tIns="0" rIns="0" bIns="0" rtlCol="0" anchor="ctr"/>
          <a:lstStyle/>
          <a:p>
            <a:pPr algn="l" indent="0" marL="0">
              <a:buNone/>
            </a:pPr>
            <a:r>
              <a:rPr lang="en-US" sz="1200" dirty="0">
                <a:solidFill>
                  <a:srgbClr val="ADB2B9"/>
                </a:solidFill>
                <a:latin typeface="Calibri" pitchFamily="34" charset="0"/>
                <a:ea typeface="Calibri" pitchFamily="34" charset="-122"/>
                <a:cs typeface="Calibri" pitchFamily="34" charset="-120"/>
              </a:rPr>
              <a:t>Revenu mensuel ≥ 900 €</a:t>
            </a:r>
            <a:endParaRPr lang="en-US" sz="1200" dirty="0"/>
          </a:p>
        </p:txBody>
      </p:sp>
      <p:sp>
        <p:nvSpPr>
          <p:cNvPr id="20" name="Text 18"/>
          <p:cNvSpPr txBox="1"/>
          <p:nvPr/>
        </p:nvSpPr>
        <p:spPr>
          <a:xfrm>
            <a:off x="8503920" y="2962656"/>
            <a:ext cx="3136392" cy="475488"/>
          </a:xfrm>
          <a:prstGeom prst="rect">
            <a:avLst/>
          </a:prstGeom>
          <a:noFill/>
          <a:ln/>
        </p:spPr>
        <p:txBody>
          <a:bodyPr wrap="square" lIns="0" tIns="0" rIns="0" bIns="0" rtlCol="0" anchor="ctr"/>
          <a:lstStyle/>
          <a:p>
            <a:pPr algn="l" indent="0" marL="0">
              <a:buNone/>
            </a:pPr>
            <a:r>
              <a:rPr lang="en-US" sz="1200" dirty="0">
                <a:solidFill>
                  <a:srgbClr val="E3B23C"/>
                </a:solidFill>
                <a:latin typeface="Calibri" pitchFamily="34" charset="0"/>
                <a:ea typeface="Calibri" pitchFamily="34" charset="-122"/>
                <a:cs typeface="Calibri" pitchFamily="34" charset="-120"/>
              </a:rPr>
              <a:t>Revoir prix et canaux</a:t>
            </a:r>
            <a:endParaRPr lang="en-US" sz="1200" dirty="0"/>
          </a:p>
        </p:txBody>
      </p:sp>
      <p:sp>
        <p:nvSpPr>
          <p:cNvPr id="21" name="Shape 19"/>
          <p:cNvSpPr/>
          <p:nvPr/>
        </p:nvSpPr>
        <p:spPr>
          <a:xfrm>
            <a:off x="475488" y="3438144"/>
            <a:ext cx="11237976" cy="475488"/>
          </a:xfrm>
          <a:prstGeom prst="rect">
            <a:avLst/>
          </a:prstGeom>
          <a:solidFill>
            <a:srgbClr val="1D2026"/>
          </a:solidFill>
          <a:ln w="12700">
            <a:solidFill>
              <a:srgbClr val="1D2026"/>
            </a:solidFill>
            <a:prstDash val="solid"/>
          </a:ln>
        </p:spPr>
      </p:sp>
      <p:sp>
        <p:nvSpPr>
          <p:cNvPr id="22" name="Text 20"/>
          <p:cNvSpPr txBox="1"/>
          <p:nvPr/>
        </p:nvSpPr>
        <p:spPr>
          <a:xfrm>
            <a:off x="548640" y="3438144"/>
            <a:ext cx="1371600" cy="475488"/>
          </a:xfrm>
          <a:prstGeom prst="rect">
            <a:avLst/>
          </a:prstGeom>
          <a:noFill/>
          <a:ln/>
        </p:spPr>
        <p:txBody>
          <a:bodyPr wrap="square" lIns="0" tIns="0" rIns="0" bIns="0" rtlCol="0" anchor="ctr"/>
          <a:lstStyle/>
          <a:p>
            <a:pPr algn="l" indent="0" marL="0">
              <a:buNone/>
            </a:pPr>
            <a:r>
              <a:rPr lang="en-US" sz="1200" dirty="0">
                <a:solidFill>
                  <a:srgbClr val="E8EAED"/>
                </a:solidFill>
                <a:latin typeface="Calibri" pitchFamily="34" charset="0"/>
                <a:ea typeface="Calibri" pitchFamily="34" charset="-122"/>
                <a:cs typeface="Calibri" pitchFamily="34" charset="-120"/>
              </a:rPr>
              <a:t>Mois 24</a:t>
            </a:r>
            <a:endParaRPr lang="en-US" sz="1200" dirty="0"/>
          </a:p>
        </p:txBody>
      </p:sp>
      <p:sp>
        <p:nvSpPr>
          <p:cNvPr id="23" name="Text 21"/>
          <p:cNvSpPr txBox="1"/>
          <p:nvPr/>
        </p:nvSpPr>
        <p:spPr>
          <a:xfrm>
            <a:off x="1920240" y="3438144"/>
            <a:ext cx="3108960" cy="475488"/>
          </a:xfrm>
          <a:prstGeom prst="rect">
            <a:avLst/>
          </a:prstGeom>
          <a:noFill/>
          <a:ln/>
        </p:spPr>
        <p:txBody>
          <a:bodyPr wrap="square" lIns="0" tIns="0" rIns="0" bIns="0" rtlCol="0" anchor="ctr"/>
          <a:lstStyle/>
          <a:p>
            <a:pPr algn="l" indent="0" marL="0">
              <a:buNone/>
            </a:pPr>
            <a:r>
              <a:rPr lang="en-US" sz="1200" dirty="0">
                <a:solidFill>
                  <a:srgbClr val="ADB2B9"/>
                </a:solidFill>
                <a:latin typeface="Calibri" pitchFamily="34" charset="0"/>
                <a:ea typeface="Calibri" pitchFamily="34" charset="-122"/>
                <a:cs typeface="Calibri" pitchFamily="34" charset="-120"/>
              </a:rPr>
              <a:t>97 professionnels abonnés</a:t>
            </a:r>
            <a:endParaRPr lang="en-US" sz="1200" dirty="0"/>
          </a:p>
        </p:txBody>
      </p:sp>
      <p:sp>
        <p:nvSpPr>
          <p:cNvPr id="24" name="Text 22"/>
          <p:cNvSpPr txBox="1"/>
          <p:nvPr/>
        </p:nvSpPr>
        <p:spPr>
          <a:xfrm>
            <a:off x="5029200" y="3438144"/>
            <a:ext cx="3474720" cy="475488"/>
          </a:xfrm>
          <a:prstGeom prst="rect">
            <a:avLst/>
          </a:prstGeom>
          <a:noFill/>
          <a:ln/>
        </p:spPr>
        <p:txBody>
          <a:bodyPr wrap="square" lIns="0" tIns="0" rIns="0" bIns="0" rtlCol="0" anchor="ctr"/>
          <a:lstStyle/>
          <a:p>
            <a:pPr algn="l" indent="0" marL="0">
              <a:buNone/>
            </a:pPr>
            <a:r>
              <a:rPr lang="en-US" sz="1200" dirty="0">
                <a:solidFill>
                  <a:srgbClr val="ADB2B9"/>
                </a:solidFill>
                <a:latin typeface="Calibri" pitchFamily="34" charset="0"/>
                <a:ea typeface="Calibri" pitchFamily="34" charset="-122"/>
                <a:cs typeface="Calibri" pitchFamily="34" charset="-120"/>
              </a:rPr>
              <a:t>Résiliation ≤ 3 %/mois</a:t>
            </a:r>
            <a:endParaRPr lang="en-US" sz="1200" dirty="0"/>
          </a:p>
        </p:txBody>
      </p:sp>
      <p:sp>
        <p:nvSpPr>
          <p:cNvPr id="25" name="Text 23"/>
          <p:cNvSpPr txBox="1"/>
          <p:nvPr/>
        </p:nvSpPr>
        <p:spPr>
          <a:xfrm>
            <a:off x="8503920" y="3438144"/>
            <a:ext cx="3136392" cy="475488"/>
          </a:xfrm>
          <a:prstGeom prst="rect">
            <a:avLst/>
          </a:prstGeom>
          <a:noFill/>
          <a:ln/>
        </p:spPr>
        <p:txBody>
          <a:bodyPr wrap="square" lIns="0" tIns="0" rIns="0" bIns="0" rtlCol="0" anchor="ctr"/>
          <a:lstStyle/>
          <a:p>
            <a:pPr algn="l" indent="0" marL="0">
              <a:buNone/>
            </a:pPr>
            <a:r>
              <a:rPr lang="en-US" sz="1200" dirty="0">
                <a:solidFill>
                  <a:srgbClr val="E3B23C"/>
                </a:solidFill>
                <a:latin typeface="Calibri" pitchFamily="34" charset="0"/>
                <a:ea typeface="Calibri" pitchFamily="34" charset="-122"/>
                <a:cs typeface="Calibri" pitchFamily="34" charset="-120"/>
              </a:rPr>
              <a:t>Priorité à la rétention</a:t>
            </a:r>
            <a:endParaRPr lang="en-US" sz="1200" dirty="0"/>
          </a:p>
        </p:txBody>
      </p:sp>
      <p:sp>
        <p:nvSpPr>
          <p:cNvPr id="26" name="Text 24"/>
          <p:cNvSpPr txBox="1"/>
          <p:nvPr/>
        </p:nvSpPr>
        <p:spPr>
          <a:xfrm>
            <a:off x="548640" y="3913632"/>
            <a:ext cx="1371600" cy="475488"/>
          </a:xfrm>
          <a:prstGeom prst="rect">
            <a:avLst/>
          </a:prstGeom>
          <a:noFill/>
          <a:ln/>
        </p:spPr>
        <p:txBody>
          <a:bodyPr wrap="square" lIns="0" tIns="0" rIns="0" bIns="0" rtlCol="0" anchor="ctr"/>
          <a:lstStyle/>
          <a:p>
            <a:pPr algn="l" indent="0" marL="0">
              <a:buNone/>
            </a:pPr>
            <a:r>
              <a:rPr lang="en-US" sz="1200" dirty="0">
                <a:solidFill>
                  <a:srgbClr val="E8EAED"/>
                </a:solidFill>
                <a:latin typeface="Calibri" pitchFamily="34" charset="0"/>
                <a:ea typeface="Calibri" pitchFamily="34" charset="-122"/>
                <a:cs typeface="Calibri" pitchFamily="34" charset="-120"/>
              </a:rPr>
              <a:t>Mois 36</a:t>
            </a:r>
            <a:endParaRPr lang="en-US" sz="1200" dirty="0"/>
          </a:p>
        </p:txBody>
      </p:sp>
      <p:sp>
        <p:nvSpPr>
          <p:cNvPr id="27" name="Text 25"/>
          <p:cNvSpPr txBox="1"/>
          <p:nvPr/>
        </p:nvSpPr>
        <p:spPr>
          <a:xfrm>
            <a:off x="1920240" y="3913632"/>
            <a:ext cx="3108960" cy="475488"/>
          </a:xfrm>
          <a:prstGeom prst="rect">
            <a:avLst/>
          </a:prstGeom>
          <a:noFill/>
          <a:ln/>
        </p:spPr>
        <p:txBody>
          <a:bodyPr wrap="square" lIns="0" tIns="0" rIns="0" bIns="0" rtlCol="0" anchor="ctr"/>
          <a:lstStyle/>
          <a:p>
            <a:pPr algn="l" indent="0" marL="0">
              <a:buNone/>
            </a:pPr>
            <a:r>
              <a:rPr lang="en-US" sz="1200" dirty="0">
                <a:solidFill>
                  <a:srgbClr val="ADB2B9"/>
                </a:solidFill>
                <a:latin typeface="Calibri" pitchFamily="34" charset="0"/>
                <a:ea typeface="Calibri" pitchFamily="34" charset="-122"/>
                <a:cs typeface="Calibri" pitchFamily="34" charset="-120"/>
              </a:rPr>
              <a:t>210 professionnels abonnés</a:t>
            </a:r>
            <a:endParaRPr lang="en-US" sz="1200" dirty="0"/>
          </a:p>
        </p:txBody>
      </p:sp>
      <p:sp>
        <p:nvSpPr>
          <p:cNvPr id="28" name="Text 26"/>
          <p:cNvSpPr txBox="1"/>
          <p:nvPr/>
        </p:nvSpPr>
        <p:spPr>
          <a:xfrm>
            <a:off x="5029200" y="3913632"/>
            <a:ext cx="3474720" cy="475488"/>
          </a:xfrm>
          <a:prstGeom prst="rect">
            <a:avLst/>
          </a:prstGeom>
          <a:noFill/>
          <a:ln/>
        </p:spPr>
        <p:txBody>
          <a:bodyPr wrap="square" lIns="0" tIns="0" rIns="0" bIns="0" rtlCol="0" anchor="ctr"/>
          <a:lstStyle/>
          <a:p>
            <a:pPr algn="l" indent="0" marL="0">
              <a:buNone/>
            </a:pPr>
            <a:r>
              <a:rPr lang="en-US" sz="1200" dirty="0">
                <a:solidFill>
                  <a:srgbClr val="ADB2B9"/>
                </a:solidFill>
                <a:latin typeface="Calibri" pitchFamily="34" charset="0"/>
                <a:ea typeface="Calibri" pitchFamily="34" charset="-122"/>
                <a:cs typeface="Calibri" pitchFamily="34" charset="-120"/>
              </a:rPr>
              <a:t>Revenu mensuel ≈ 8 800 €</a:t>
            </a:r>
            <a:endParaRPr lang="en-US" sz="1200" dirty="0"/>
          </a:p>
        </p:txBody>
      </p:sp>
      <p:sp>
        <p:nvSpPr>
          <p:cNvPr id="29" name="Text 27"/>
          <p:cNvSpPr txBox="1"/>
          <p:nvPr/>
        </p:nvSpPr>
        <p:spPr>
          <a:xfrm>
            <a:off x="8503920" y="3913632"/>
            <a:ext cx="3136392" cy="475488"/>
          </a:xfrm>
          <a:prstGeom prst="rect">
            <a:avLst/>
          </a:prstGeom>
          <a:noFill/>
          <a:ln/>
        </p:spPr>
        <p:txBody>
          <a:bodyPr wrap="square" lIns="0" tIns="0" rIns="0" bIns="0" rtlCol="0" anchor="ctr"/>
          <a:lstStyle/>
          <a:p>
            <a:pPr algn="l" indent="0" marL="0">
              <a:buNone/>
            </a:pPr>
            <a:r>
              <a:rPr lang="en-US" sz="1200" dirty="0">
                <a:solidFill>
                  <a:srgbClr val="E3B23C"/>
                </a:solidFill>
                <a:latin typeface="Calibri" pitchFamily="34" charset="0"/>
                <a:ea typeface="Calibri" pitchFamily="34" charset="-122"/>
                <a:cs typeface="Calibri" pitchFamily="34" charset="-120"/>
              </a:rPr>
              <a:t>Rester en activité secondaire</a:t>
            </a:r>
            <a:endParaRPr lang="en-US" sz="1200" dirty="0"/>
          </a:p>
        </p:txBody>
      </p:sp>
      <p:sp>
        <p:nvSpPr>
          <p:cNvPr id="30" name="Shape 28"/>
          <p:cNvSpPr/>
          <p:nvPr/>
        </p:nvSpPr>
        <p:spPr>
          <a:xfrm>
            <a:off x="548640" y="4443984"/>
            <a:ext cx="3575304" cy="1115568"/>
          </a:xfrm>
          <a:prstGeom prst="roundRect">
            <a:avLst>
              <a:gd name="adj" fmla="val 5738"/>
            </a:avLst>
          </a:prstGeom>
          <a:solidFill>
            <a:srgbClr val="1D2026"/>
          </a:solidFill>
          <a:ln w="9525">
            <a:solidFill>
              <a:srgbClr val="2F343D"/>
            </a:solidFill>
            <a:prstDash val="solid"/>
          </a:ln>
        </p:spPr>
      </p:sp>
      <p:sp>
        <p:nvSpPr>
          <p:cNvPr id="31" name="Text 29"/>
          <p:cNvSpPr txBox="1"/>
          <p:nvPr/>
        </p:nvSpPr>
        <p:spPr>
          <a:xfrm>
            <a:off x="804672" y="4572000"/>
            <a:ext cx="3063240" cy="274320"/>
          </a:xfrm>
          <a:prstGeom prst="rect">
            <a:avLst/>
          </a:prstGeom>
          <a:noFill/>
          <a:ln/>
        </p:spPr>
        <p:txBody>
          <a:bodyPr wrap="square" lIns="0" tIns="0" rIns="0" bIns="0" rtlCol="0" anchor="ctr"/>
          <a:lstStyle/>
          <a:p>
            <a:pPr indent="0" marL="0">
              <a:buNone/>
            </a:pPr>
            <a:r>
              <a:rPr lang="en-US" sz="1800" b="1" dirty="0">
                <a:solidFill>
                  <a:srgbClr val="7BA7DD"/>
                </a:solidFill>
                <a:latin typeface="Arial Narrow" pitchFamily="34" charset="0"/>
                <a:ea typeface="Arial Narrow" pitchFamily="34" charset="-122"/>
                <a:cs typeface="Arial Narrow" pitchFamily="34" charset="-120"/>
              </a:rPr>
              <a:t>Usage client</a:t>
            </a:r>
            <a:endParaRPr lang="en-US" sz="1800" dirty="0"/>
          </a:p>
        </p:txBody>
      </p:sp>
      <p:sp>
        <p:nvSpPr>
          <p:cNvPr id="32" name="Text 30"/>
          <p:cNvSpPr txBox="1"/>
          <p:nvPr/>
        </p:nvSpPr>
        <p:spPr>
          <a:xfrm>
            <a:off x="804672" y="4864608"/>
            <a:ext cx="3063240" cy="566928"/>
          </a:xfrm>
          <a:prstGeom prst="rect">
            <a:avLst/>
          </a:prstGeom>
          <a:noFill/>
          <a:ln/>
        </p:spPr>
        <p:txBody>
          <a:bodyPr wrap="square" lIns="0" tIns="0" rIns="0" bIns="0" rtlCol="0" anchor="t"/>
          <a:lstStyle/>
          <a:p>
            <a:pPr indent="0" marL="0">
              <a:lnSpc>
                <a:spcPts val="1600"/>
              </a:lnSpc>
              <a:buNone/>
            </a:pPr>
            <a:r>
              <a:rPr lang="en-US" sz="1100" dirty="0">
                <a:solidFill>
                  <a:srgbClr val="ADB2B9"/>
                </a:solidFill>
                <a:latin typeface="Calibri" pitchFamily="34" charset="0"/>
                <a:ea typeface="Calibri" pitchFamily="34" charset="-122"/>
                <a:cs typeface="Calibri" pitchFamily="34" charset="-120"/>
              </a:rPr>
              <a:t>Part des clients qui pèsent au moins un repas par semaine</a:t>
            </a:r>
            <a:endParaRPr lang="en-US" sz="1100" dirty="0"/>
          </a:p>
        </p:txBody>
      </p:sp>
      <p:sp>
        <p:nvSpPr>
          <p:cNvPr id="33" name="Shape 31"/>
          <p:cNvSpPr/>
          <p:nvPr/>
        </p:nvSpPr>
        <p:spPr>
          <a:xfrm>
            <a:off x="4306824" y="4443984"/>
            <a:ext cx="3575304" cy="1115568"/>
          </a:xfrm>
          <a:prstGeom prst="roundRect">
            <a:avLst>
              <a:gd name="adj" fmla="val 5738"/>
            </a:avLst>
          </a:prstGeom>
          <a:solidFill>
            <a:srgbClr val="1D2026"/>
          </a:solidFill>
          <a:ln w="9525">
            <a:solidFill>
              <a:srgbClr val="2F343D"/>
            </a:solidFill>
            <a:prstDash val="solid"/>
          </a:ln>
        </p:spPr>
      </p:sp>
      <p:sp>
        <p:nvSpPr>
          <p:cNvPr id="34" name="Text 32"/>
          <p:cNvSpPr txBox="1"/>
          <p:nvPr/>
        </p:nvSpPr>
        <p:spPr>
          <a:xfrm>
            <a:off x="4562856" y="4572000"/>
            <a:ext cx="3063240" cy="274320"/>
          </a:xfrm>
          <a:prstGeom prst="rect">
            <a:avLst/>
          </a:prstGeom>
          <a:noFill/>
          <a:ln/>
        </p:spPr>
        <p:txBody>
          <a:bodyPr wrap="square" lIns="0" tIns="0" rIns="0" bIns="0" rtlCol="0" anchor="ctr"/>
          <a:lstStyle/>
          <a:p>
            <a:pPr indent="0" marL="0">
              <a:buNone/>
            </a:pPr>
            <a:r>
              <a:rPr lang="en-US" sz="1800" b="1" dirty="0">
                <a:solidFill>
                  <a:srgbClr val="7BA7DD"/>
                </a:solidFill>
                <a:latin typeface="Arial Narrow" pitchFamily="34" charset="0"/>
                <a:ea typeface="Arial Narrow" pitchFamily="34" charset="-122"/>
                <a:cs typeface="Arial Narrow" pitchFamily="34" charset="-120"/>
              </a:rPr>
              <a:t>Valeur coach</a:t>
            </a:r>
            <a:endParaRPr lang="en-US" sz="1800" dirty="0"/>
          </a:p>
        </p:txBody>
      </p:sp>
      <p:sp>
        <p:nvSpPr>
          <p:cNvPr id="35" name="Text 33"/>
          <p:cNvSpPr txBox="1"/>
          <p:nvPr/>
        </p:nvSpPr>
        <p:spPr>
          <a:xfrm>
            <a:off x="4562856" y="4864608"/>
            <a:ext cx="3063240" cy="566928"/>
          </a:xfrm>
          <a:prstGeom prst="rect">
            <a:avLst/>
          </a:prstGeom>
          <a:noFill/>
          <a:ln/>
        </p:spPr>
        <p:txBody>
          <a:bodyPr wrap="square" lIns="0" tIns="0" rIns="0" bIns="0" rtlCol="0" anchor="t"/>
          <a:lstStyle/>
          <a:p>
            <a:pPr indent="0" marL="0">
              <a:lnSpc>
                <a:spcPts val="1600"/>
              </a:lnSpc>
              <a:buNone/>
            </a:pPr>
            <a:r>
              <a:rPr lang="en-US" sz="1100" dirty="0">
                <a:solidFill>
                  <a:srgbClr val="ADB2B9"/>
                </a:solidFill>
                <a:latin typeface="Calibri" pitchFamily="34" charset="0"/>
                <a:ea typeface="Calibri" pitchFamily="34" charset="-122"/>
                <a:cs typeface="Calibri" pitchFamily="34" charset="-120"/>
              </a:rPr>
              <a:t>Temps de préparation d'un plan, avant et après</a:t>
            </a:r>
            <a:endParaRPr lang="en-US" sz="1100" dirty="0"/>
          </a:p>
        </p:txBody>
      </p:sp>
      <p:sp>
        <p:nvSpPr>
          <p:cNvPr id="36" name="Shape 34"/>
          <p:cNvSpPr/>
          <p:nvPr/>
        </p:nvSpPr>
        <p:spPr>
          <a:xfrm>
            <a:off x="8065008" y="4443984"/>
            <a:ext cx="3575304" cy="1115568"/>
          </a:xfrm>
          <a:prstGeom prst="roundRect">
            <a:avLst>
              <a:gd name="adj" fmla="val 5738"/>
            </a:avLst>
          </a:prstGeom>
          <a:solidFill>
            <a:srgbClr val="1D2026"/>
          </a:solidFill>
          <a:ln w="9525">
            <a:solidFill>
              <a:srgbClr val="2F343D"/>
            </a:solidFill>
            <a:prstDash val="solid"/>
          </a:ln>
        </p:spPr>
      </p:sp>
      <p:sp>
        <p:nvSpPr>
          <p:cNvPr id="37" name="Text 35"/>
          <p:cNvSpPr txBox="1"/>
          <p:nvPr/>
        </p:nvSpPr>
        <p:spPr>
          <a:xfrm>
            <a:off x="8321040" y="4572000"/>
            <a:ext cx="3063240" cy="274320"/>
          </a:xfrm>
          <a:prstGeom prst="rect">
            <a:avLst/>
          </a:prstGeom>
          <a:noFill/>
          <a:ln/>
        </p:spPr>
        <p:txBody>
          <a:bodyPr wrap="square" lIns="0" tIns="0" rIns="0" bIns="0" rtlCol="0" anchor="ctr"/>
          <a:lstStyle/>
          <a:p>
            <a:pPr indent="0" marL="0">
              <a:buNone/>
            </a:pPr>
            <a:r>
              <a:rPr lang="en-US" sz="1800" b="1" dirty="0">
                <a:solidFill>
                  <a:srgbClr val="5EC080"/>
                </a:solidFill>
                <a:latin typeface="Arial Narrow" pitchFamily="34" charset="0"/>
                <a:ea typeface="Arial Narrow" pitchFamily="34" charset="-122"/>
                <a:cs typeface="Arial Narrow" pitchFamily="34" charset="-120"/>
              </a:rPr>
              <a:t>Qualité</a:t>
            </a:r>
            <a:endParaRPr lang="en-US" sz="1800" dirty="0"/>
          </a:p>
        </p:txBody>
      </p:sp>
      <p:sp>
        <p:nvSpPr>
          <p:cNvPr id="38" name="Text 36"/>
          <p:cNvSpPr txBox="1"/>
          <p:nvPr/>
        </p:nvSpPr>
        <p:spPr>
          <a:xfrm>
            <a:off x="8321040" y="4864608"/>
            <a:ext cx="3063240" cy="566928"/>
          </a:xfrm>
          <a:prstGeom prst="rect">
            <a:avLst/>
          </a:prstGeom>
          <a:noFill/>
          <a:ln/>
        </p:spPr>
        <p:txBody>
          <a:bodyPr wrap="square" lIns="0" tIns="0" rIns="0" bIns="0" rtlCol="0" anchor="t"/>
          <a:lstStyle/>
          <a:p>
            <a:pPr indent="0" marL="0">
              <a:lnSpc>
                <a:spcPts val="1600"/>
              </a:lnSpc>
              <a:buNone/>
            </a:pPr>
            <a:r>
              <a:rPr lang="en-US" sz="1100" dirty="0">
                <a:solidFill>
                  <a:srgbClr val="ADB2B9"/>
                </a:solidFill>
                <a:latin typeface="Calibri" pitchFamily="34" charset="0"/>
                <a:ea typeface="Calibri" pitchFamily="34" charset="-122"/>
                <a:cs typeface="Calibri" pitchFamily="34" charset="-120"/>
              </a:rPr>
              <a:t>Zéro chiffre faux signalé · incidents d'isolation : zéro</a:t>
            </a:r>
            <a:endParaRPr lang="en-US" sz="1100" dirty="0"/>
          </a:p>
        </p:txBody>
      </p:sp>
      <p:sp>
        <p:nvSpPr>
          <p:cNvPr id="39" name="Text 37"/>
          <p:cNvSpPr txBox="1"/>
          <p:nvPr/>
        </p:nvSpPr>
        <p:spPr>
          <a:xfrm>
            <a:off x="548640" y="5961888"/>
            <a:ext cx="11091672" cy="310896"/>
          </a:xfrm>
          <a:prstGeom prst="rect">
            <a:avLst/>
          </a:prstGeom>
          <a:noFill/>
          <a:ln/>
        </p:spPr>
        <p:txBody>
          <a:bodyPr wrap="square" lIns="0" tIns="0" rIns="0" bIns="0" rtlCol="0" anchor="ctr"/>
          <a:lstStyle/>
          <a:p>
            <a:pPr indent="0" marL="0">
              <a:buNone/>
            </a:pPr>
            <a:r>
              <a:rPr lang="en-US" sz="950" i="1" dirty="0">
                <a:solidFill>
                  <a:srgbClr val="868E99"/>
                </a:solidFill>
                <a:latin typeface="Calibri" pitchFamily="34" charset="0"/>
                <a:ea typeface="Calibri" pitchFamily="34" charset="-122"/>
                <a:cs typeface="Calibri" pitchFamily="34" charset="-120"/>
              </a:rPr>
              <a:t>La décision du mois 6 est le seul vrai point de non-retour</a:t>
            </a:r>
            <a:endParaRPr lang="en-US" sz="950" dirty="0"/>
          </a:p>
        </p:txBody>
      </p:sp>
      <p:sp>
        <p:nvSpPr>
          <p:cNvPr id="40" name="Text 38"/>
          <p:cNvSpPr txBox="1"/>
          <p:nvPr/>
        </p:nvSpPr>
        <p:spPr>
          <a:xfrm>
            <a:off x="548640" y="6336792"/>
            <a:ext cx="8229600" cy="274320"/>
          </a:xfrm>
          <a:prstGeom prst="rect">
            <a:avLst/>
          </a:prstGeom>
          <a:noFill/>
          <a:ln/>
        </p:spPr>
        <p:txBody>
          <a:bodyPr wrap="square" lIns="0" tIns="0" rIns="0" bIns="0" rtlCol="0" anchor="ctr"/>
          <a:lstStyle/>
          <a:p>
            <a:pPr algn="l" indent="0" marL="0">
              <a:buNone/>
            </a:pPr>
            <a:r>
              <a:rPr lang="en-US" sz="900" dirty="0">
                <a:solidFill>
                  <a:srgbClr val="868E99"/>
                </a:solidFill>
                <a:latin typeface="Calibri" pitchFamily="34" charset="0"/>
                <a:ea typeface="Calibri" pitchFamily="34" charset="-122"/>
                <a:cs typeface="Calibri" pitchFamily="34" charset="-120"/>
              </a:rPr>
              <a:t>fitcarnet Pro · business plan · 21 septembre 2026</a:t>
            </a:r>
            <a:endParaRPr lang="en-US" sz="900" dirty="0"/>
          </a:p>
        </p:txBody>
      </p:sp>
      <p:sp>
        <p:nvSpPr>
          <p:cNvPr id="41" name="Text 39"/>
          <p:cNvSpPr txBox="1"/>
          <p:nvPr/>
        </p:nvSpPr>
        <p:spPr>
          <a:xfrm>
            <a:off x="8897112" y="6336792"/>
            <a:ext cx="2743200" cy="274320"/>
          </a:xfrm>
          <a:prstGeom prst="rect">
            <a:avLst/>
          </a:prstGeom>
          <a:noFill/>
          <a:ln/>
        </p:spPr>
        <p:txBody>
          <a:bodyPr wrap="square" lIns="0" tIns="0" rIns="0" bIns="0" rtlCol="0" anchor="ctr"/>
          <a:lstStyle/>
          <a:p>
            <a:pPr algn="r" indent="0" marL="0">
              <a:buNone/>
            </a:pPr>
            <a:r>
              <a:rPr lang="en-US" sz="900" dirty="0">
                <a:solidFill>
                  <a:srgbClr val="868E99"/>
                </a:solidFill>
                <a:latin typeface="Calibri" pitchFamily="34" charset="0"/>
                <a:ea typeface="Calibri" pitchFamily="34" charset="-122"/>
                <a:cs typeface="Calibri" pitchFamily="34" charset="-120"/>
              </a:rPr>
              <a:t>18 / 24</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4161A"/>
        </a:solidFill>
      </p:bgPr>
    </p:bg>
    <p:spTree>
      <p:nvGrpSpPr>
        <p:cNvPr id="1" name=""/>
        <p:cNvGrpSpPr/>
        <p:nvPr/>
      </p:nvGrpSpPr>
      <p:grpSpPr>
        <a:xfrm>
          <a:off x="0" y="0"/>
          <a:ext cx="0" cy="0"/>
          <a:chOff x="0" y="0"/>
          <a:chExt cx="0" cy="0"/>
        </a:xfrm>
      </p:grpSpPr>
      <p:sp>
        <p:nvSpPr>
          <p:cNvPr id="2" name="Text 0"/>
          <p:cNvSpPr txBox="1"/>
          <p:nvPr/>
        </p:nvSpPr>
        <p:spPr>
          <a:xfrm>
            <a:off x="548640" y="347472"/>
            <a:ext cx="11091672" cy="237744"/>
          </a:xfrm>
          <a:prstGeom prst="rect">
            <a:avLst/>
          </a:prstGeom>
          <a:noFill/>
          <a:ln/>
        </p:spPr>
        <p:txBody>
          <a:bodyPr wrap="square" lIns="0" tIns="0" rIns="0" bIns="0" rtlCol="0" anchor="ctr"/>
          <a:lstStyle/>
          <a:p>
            <a:pPr indent="0" marL="0">
              <a:buNone/>
            </a:pPr>
            <a:r>
              <a:rPr lang="en-US" sz="1050" b="1" spc="200" kern="0" dirty="0">
                <a:solidFill>
                  <a:srgbClr val="E3B23C"/>
                </a:solidFill>
                <a:latin typeface="Calibri" pitchFamily="34" charset="0"/>
                <a:ea typeface="Calibri" pitchFamily="34" charset="-122"/>
                <a:cs typeface="Calibri" pitchFamily="34" charset="-120"/>
              </a:rPr>
              <a:t>L'ÉQUIPE</a:t>
            </a:r>
            <a:endParaRPr lang="en-US" sz="1050" dirty="0"/>
          </a:p>
        </p:txBody>
      </p:sp>
      <p:sp>
        <p:nvSpPr>
          <p:cNvPr id="3" name="Text 1"/>
          <p:cNvSpPr txBox="1"/>
          <p:nvPr/>
        </p:nvSpPr>
        <p:spPr>
          <a:xfrm>
            <a:off x="548640" y="603504"/>
            <a:ext cx="11091672" cy="566928"/>
          </a:xfrm>
          <a:prstGeom prst="rect">
            <a:avLst/>
          </a:prstGeom>
          <a:noFill/>
          <a:ln/>
        </p:spPr>
        <p:txBody>
          <a:bodyPr wrap="square" lIns="0" tIns="0" rIns="0" bIns="0" rtlCol="0" anchor="ctr"/>
          <a:lstStyle/>
          <a:p>
            <a:pPr indent="0" marL="0">
              <a:buNone/>
            </a:pPr>
            <a:r>
              <a:rPr lang="en-US" sz="3000" b="1" dirty="0">
                <a:solidFill>
                  <a:srgbClr val="E8EAED"/>
                </a:solidFill>
                <a:latin typeface="Arial Narrow" pitchFamily="34" charset="0"/>
                <a:ea typeface="Arial Narrow" pitchFamily="34" charset="-122"/>
                <a:cs typeface="Arial Narrow" pitchFamily="34" charset="-120"/>
              </a:rPr>
              <a:t>Un fondateur seul — et un produit qui prouve ce qu'il sait faire</a:t>
            </a:r>
            <a:endParaRPr lang="en-US" sz="3000" dirty="0"/>
          </a:p>
        </p:txBody>
      </p:sp>
      <p:sp>
        <p:nvSpPr>
          <p:cNvPr id="4" name="Shape 2"/>
          <p:cNvSpPr/>
          <p:nvPr/>
        </p:nvSpPr>
        <p:spPr>
          <a:xfrm>
            <a:off x="548640" y="1947672"/>
            <a:ext cx="128016" cy="32004"/>
          </a:xfrm>
          <a:prstGeom prst="rect">
            <a:avLst/>
          </a:prstGeom>
          <a:solidFill>
            <a:srgbClr val="E3B23C"/>
          </a:solidFill>
          <a:ln w="12700">
            <a:solidFill>
              <a:srgbClr val="E3B23C"/>
            </a:solidFill>
            <a:prstDash val="solid"/>
          </a:ln>
        </p:spPr>
      </p:sp>
      <p:sp>
        <p:nvSpPr>
          <p:cNvPr id="5" name="Text 3"/>
          <p:cNvSpPr txBox="1"/>
          <p:nvPr/>
        </p:nvSpPr>
        <p:spPr>
          <a:xfrm>
            <a:off x="804672" y="1801368"/>
            <a:ext cx="5687568" cy="841248"/>
          </a:xfrm>
          <a:prstGeom prst="rect">
            <a:avLst/>
          </a:prstGeom>
          <a:noFill/>
          <a:ln/>
        </p:spPr>
        <p:txBody>
          <a:bodyPr wrap="square" lIns="0" tIns="0" rIns="0" bIns="0" rtlCol="0" anchor="t"/>
          <a:lstStyle/>
          <a:p>
            <a:pPr indent="0" marL="0">
              <a:buNone/>
            </a:pPr>
            <a:r>
              <a:rPr lang="en-US" sz="1350" b="1" dirty="0">
                <a:solidFill>
                  <a:srgbClr val="E8EAED"/>
                </a:solidFill>
                <a:latin typeface="Calibri" pitchFamily="34" charset="0"/>
                <a:ea typeface="Calibri" pitchFamily="34" charset="-122"/>
                <a:cs typeface="Calibri" pitchFamily="34" charset="-120"/>
              </a:rPr>
              <a:t>Il a construit le produit entier. </a:t>
            </a:r>
            <a:pPr indent="0" marL="0">
              <a:buNone/>
            </a:pPr>
            <a:r>
              <a:rPr lang="en-US" sz="1350" dirty="0">
                <a:solidFill>
                  <a:srgbClr val="ADB2B9"/>
                </a:solidFill>
                <a:latin typeface="Calibri" pitchFamily="34" charset="0"/>
                <a:ea typeface="Calibri" pitchFamily="34" charset="-122"/>
                <a:cs typeface="Calibri" pitchFamily="34" charset="-120"/>
              </a:rPr>
              <a:t>API Symfony 7 / API Platform, front Expo (Android et web), base PostgreSQL 16, déploiement et sauvegardes.</a:t>
            </a:r>
            <a:endParaRPr lang="en-US" sz="1350" dirty="0"/>
          </a:p>
        </p:txBody>
      </p:sp>
      <p:sp>
        <p:nvSpPr>
          <p:cNvPr id="6" name="Shape 4"/>
          <p:cNvSpPr/>
          <p:nvPr/>
        </p:nvSpPr>
        <p:spPr>
          <a:xfrm>
            <a:off x="548640" y="2788920"/>
            <a:ext cx="128016" cy="32004"/>
          </a:xfrm>
          <a:prstGeom prst="rect">
            <a:avLst/>
          </a:prstGeom>
          <a:solidFill>
            <a:srgbClr val="E3B23C"/>
          </a:solidFill>
          <a:ln w="12700">
            <a:solidFill>
              <a:srgbClr val="E3B23C"/>
            </a:solidFill>
            <a:prstDash val="solid"/>
          </a:ln>
        </p:spPr>
      </p:sp>
      <p:sp>
        <p:nvSpPr>
          <p:cNvPr id="7" name="Text 5"/>
          <p:cNvSpPr txBox="1"/>
          <p:nvPr/>
        </p:nvSpPr>
        <p:spPr>
          <a:xfrm>
            <a:off x="804672" y="2642616"/>
            <a:ext cx="5687568" cy="841248"/>
          </a:xfrm>
          <a:prstGeom prst="rect">
            <a:avLst/>
          </a:prstGeom>
          <a:noFill/>
          <a:ln/>
        </p:spPr>
        <p:txBody>
          <a:bodyPr wrap="square" lIns="0" tIns="0" rIns="0" bIns="0" rtlCol="0" anchor="t"/>
          <a:lstStyle/>
          <a:p>
            <a:pPr indent="0" marL="0">
              <a:buNone/>
            </a:pPr>
            <a:r>
              <a:rPr lang="en-US" sz="1350" b="1" dirty="0">
                <a:solidFill>
                  <a:srgbClr val="E8EAED"/>
                </a:solidFill>
                <a:latin typeface="Calibri" pitchFamily="34" charset="0"/>
                <a:ea typeface="Calibri" pitchFamily="34" charset="-122"/>
                <a:cs typeface="Calibri" pitchFamily="34" charset="-120"/>
              </a:rPr>
              <a:t>Il l'a éprouvé. </a:t>
            </a:r>
            <a:pPr indent="0" marL="0">
              <a:buNone/>
            </a:pPr>
            <a:r>
              <a:rPr lang="en-US" sz="1350" dirty="0">
                <a:solidFill>
                  <a:srgbClr val="ADB2B9"/>
                </a:solidFill>
                <a:latin typeface="Calibri" pitchFamily="34" charset="0"/>
                <a:ea typeface="Calibri" pitchFamily="34" charset="-122"/>
                <a:cs typeface="Calibri" pitchFamily="34" charset="-120"/>
              </a:rPr>
              <a:t>869 tests automatisés, un audit de sécurité de 84 constats mené et entièrement traité, une isolation des données couverte par 18 tests dédiés.</a:t>
            </a:r>
            <a:endParaRPr lang="en-US" sz="1350" dirty="0"/>
          </a:p>
        </p:txBody>
      </p:sp>
      <p:sp>
        <p:nvSpPr>
          <p:cNvPr id="8" name="Shape 6"/>
          <p:cNvSpPr/>
          <p:nvPr/>
        </p:nvSpPr>
        <p:spPr>
          <a:xfrm>
            <a:off x="548640" y="3630168"/>
            <a:ext cx="128016" cy="32004"/>
          </a:xfrm>
          <a:prstGeom prst="rect">
            <a:avLst/>
          </a:prstGeom>
          <a:solidFill>
            <a:srgbClr val="E3B23C"/>
          </a:solidFill>
          <a:ln w="12700">
            <a:solidFill>
              <a:srgbClr val="E3B23C"/>
            </a:solidFill>
            <a:prstDash val="solid"/>
          </a:ln>
        </p:spPr>
      </p:sp>
      <p:sp>
        <p:nvSpPr>
          <p:cNvPr id="9" name="Text 7"/>
          <p:cNvSpPr txBox="1"/>
          <p:nvPr/>
        </p:nvSpPr>
        <p:spPr>
          <a:xfrm>
            <a:off x="804672" y="3483864"/>
            <a:ext cx="5687568" cy="841248"/>
          </a:xfrm>
          <a:prstGeom prst="rect">
            <a:avLst/>
          </a:prstGeom>
          <a:noFill/>
          <a:ln/>
        </p:spPr>
        <p:txBody>
          <a:bodyPr wrap="square" lIns="0" tIns="0" rIns="0" bIns="0" rtlCol="0" anchor="t"/>
          <a:lstStyle/>
          <a:p>
            <a:pPr indent="0" marL="0">
              <a:buNone/>
            </a:pPr>
            <a:r>
              <a:rPr lang="en-US" sz="1350" b="1" dirty="0">
                <a:solidFill>
                  <a:srgbClr val="E8EAED"/>
                </a:solidFill>
                <a:latin typeface="Calibri" pitchFamily="34" charset="0"/>
                <a:ea typeface="Calibri" pitchFamily="34" charset="-122"/>
                <a:cs typeface="Calibri" pitchFamily="34" charset="-120"/>
              </a:rPr>
              <a:t>Il est le premier utilisateur. </a:t>
            </a:r>
            <a:pPr indent="0" marL="0">
              <a:buNone/>
            </a:pPr>
            <a:r>
              <a:rPr lang="en-US" sz="1350" dirty="0">
                <a:solidFill>
                  <a:srgbClr val="ADB2B9"/>
                </a:solidFill>
                <a:latin typeface="Calibri" pitchFamily="34" charset="0"/>
                <a:ea typeface="Calibri" pitchFamily="34" charset="-122"/>
                <a:cs typeface="Calibri" pitchFamily="34" charset="-120"/>
              </a:rPr>
              <a:t>L'application est née d'un besoin personnel et sert tous les jours : les défauts se voient avant les clients.</a:t>
            </a:r>
            <a:endParaRPr lang="en-US" sz="1350" dirty="0"/>
          </a:p>
        </p:txBody>
      </p:sp>
      <p:sp>
        <p:nvSpPr>
          <p:cNvPr id="10" name="Shape 8"/>
          <p:cNvSpPr/>
          <p:nvPr/>
        </p:nvSpPr>
        <p:spPr>
          <a:xfrm>
            <a:off x="548640" y="4471416"/>
            <a:ext cx="128016" cy="32004"/>
          </a:xfrm>
          <a:prstGeom prst="rect">
            <a:avLst/>
          </a:prstGeom>
          <a:solidFill>
            <a:srgbClr val="E3B23C"/>
          </a:solidFill>
          <a:ln w="12700">
            <a:solidFill>
              <a:srgbClr val="E3B23C"/>
            </a:solidFill>
            <a:prstDash val="solid"/>
          </a:ln>
        </p:spPr>
      </p:sp>
      <p:sp>
        <p:nvSpPr>
          <p:cNvPr id="11" name="Text 9"/>
          <p:cNvSpPr txBox="1"/>
          <p:nvPr/>
        </p:nvSpPr>
        <p:spPr>
          <a:xfrm>
            <a:off x="804672" y="4325112"/>
            <a:ext cx="5687568" cy="841248"/>
          </a:xfrm>
          <a:prstGeom prst="rect">
            <a:avLst/>
          </a:prstGeom>
          <a:noFill/>
          <a:ln/>
        </p:spPr>
        <p:txBody>
          <a:bodyPr wrap="square" lIns="0" tIns="0" rIns="0" bIns="0" rtlCol="0" anchor="t"/>
          <a:lstStyle/>
          <a:p>
            <a:pPr indent="0" marL="0">
              <a:buNone/>
            </a:pPr>
            <a:r>
              <a:rPr lang="en-US" sz="1350" b="1" dirty="0">
                <a:solidFill>
                  <a:srgbClr val="E8EAED"/>
                </a:solidFill>
                <a:latin typeface="Calibri" pitchFamily="34" charset="0"/>
                <a:ea typeface="Calibri" pitchFamily="34" charset="-122"/>
                <a:cs typeface="Calibri" pitchFamily="34" charset="-120"/>
              </a:rPr>
              <a:t>Il connaît sa limite. </a:t>
            </a:r>
            <a:pPr indent="0" marL="0">
              <a:buNone/>
            </a:pPr>
            <a:r>
              <a:rPr lang="en-US" sz="1350" dirty="0">
                <a:solidFill>
                  <a:srgbClr val="ADB2B9"/>
                </a:solidFill>
                <a:latin typeface="Calibri" pitchFamily="34" charset="0"/>
                <a:ea typeface="Calibri" pitchFamily="34" charset="-122"/>
                <a:cs typeface="Calibri" pitchFamily="34" charset="-120"/>
              </a:rPr>
              <a:t>Un temps partiel, pas de commercial, pas de designer. Le plan en tient compte : support externalisé en année 3, rythme d'acquisition modeste.</a:t>
            </a:r>
            <a:endParaRPr lang="en-US" sz="1350" dirty="0"/>
          </a:p>
        </p:txBody>
      </p:sp>
      <p:sp>
        <p:nvSpPr>
          <p:cNvPr id="12" name="Shape 10"/>
          <p:cNvSpPr/>
          <p:nvPr/>
        </p:nvSpPr>
        <p:spPr>
          <a:xfrm>
            <a:off x="6629400" y="1828800"/>
            <a:ext cx="5010912" cy="1700784"/>
          </a:xfrm>
          <a:prstGeom prst="roundRect">
            <a:avLst>
              <a:gd name="adj" fmla="val 3763"/>
            </a:avLst>
          </a:prstGeom>
          <a:solidFill>
            <a:srgbClr val="23272E"/>
          </a:solidFill>
          <a:ln w="15875">
            <a:solidFill>
              <a:srgbClr val="E2675F"/>
            </a:solidFill>
            <a:prstDash val="solid"/>
          </a:ln>
        </p:spPr>
      </p:sp>
      <p:sp>
        <p:nvSpPr>
          <p:cNvPr id="13" name="Text 11"/>
          <p:cNvSpPr txBox="1"/>
          <p:nvPr/>
        </p:nvSpPr>
        <p:spPr>
          <a:xfrm>
            <a:off x="6903720" y="1956816"/>
            <a:ext cx="4462272" cy="237744"/>
          </a:xfrm>
          <a:prstGeom prst="rect">
            <a:avLst/>
          </a:prstGeom>
          <a:noFill/>
          <a:ln/>
        </p:spPr>
        <p:txBody>
          <a:bodyPr wrap="square" lIns="0" tIns="0" rIns="0" bIns="0" rtlCol="0" anchor="ctr"/>
          <a:lstStyle/>
          <a:p>
            <a:pPr indent="0" marL="0">
              <a:buNone/>
            </a:pPr>
            <a:r>
              <a:rPr lang="en-US" sz="900" b="1" spc="150" kern="0" dirty="0">
                <a:solidFill>
                  <a:srgbClr val="E2675F"/>
                </a:solidFill>
                <a:latin typeface="Calibri" pitchFamily="34" charset="0"/>
                <a:ea typeface="Calibri" pitchFamily="34" charset="-122"/>
                <a:cs typeface="Calibri" pitchFamily="34" charset="-120"/>
              </a:rPr>
              <a:t>À COMPLÉTER AVANT DE PRÉSENTER</a:t>
            </a:r>
            <a:endParaRPr lang="en-US" sz="900" dirty="0"/>
          </a:p>
        </p:txBody>
      </p:sp>
      <p:sp>
        <p:nvSpPr>
          <p:cNvPr id="14" name="Text 12"/>
          <p:cNvSpPr txBox="1"/>
          <p:nvPr/>
        </p:nvSpPr>
        <p:spPr>
          <a:xfrm>
            <a:off x="6903720" y="2249424"/>
            <a:ext cx="4462272" cy="1133856"/>
          </a:xfrm>
          <a:prstGeom prst="rect">
            <a:avLst/>
          </a:prstGeom>
          <a:noFill/>
          <a:ln/>
        </p:spPr>
        <p:txBody>
          <a:bodyPr wrap="square" lIns="0" tIns="0" rIns="0" bIns="0" rtlCol="0" anchor="t"/>
          <a:lstStyle/>
          <a:p>
            <a:pPr indent="0" marL="0">
              <a:lnSpc>
                <a:spcPts val="1800"/>
              </a:lnSpc>
              <a:buNone/>
            </a:pPr>
            <a:r>
              <a:rPr lang="en-US" sz="1250" dirty="0">
                <a:solidFill>
                  <a:srgbClr val="E8EAED"/>
                </a:solidFill>
                <a:latin typeface="Calibri" pitchFamily="34" charset="0"/>
                <a:ea typeface="Calibri" pitchFamily="34" charset="-122"/>
                <a:cs typeface="Calibri" pitchFamily="34" charset="-120"/>
              </a:rPr>
              <a:t>[À FOURNIR : parcours professionnel du fondateur — formation, métier actuel, années d'expérience, pratique sportive]</a:t>
            </a:r>
            <a:endParaRPr lang="en-US" sz="1250" dirty="0"/>
          </a:p>
        </p:txBody>
      </p:sp>
      <p:sp>
        <p:nvSpPr>
          <p:cNvPr id="15" name="Shape 13"/>
          <p:cNvSpPr/>
          <p:nvPr/>
        </p:nvSpPr>
        <p:spPr>
          <a:xfrm>
            <a:off x="6629400" y="3675888"/>
            <a:ext cx="5010912" cy="2029968"/>
          </a:xfrm>
          <a:prstGeom prst="roundRect">
            <a:avLst>
              <a:gd name="adj" fmla="val 3153"/>
            </a:avLst>
          </a:prstGeom>
          <a:solidFill>
            <a:srgbClr val="1D2026"/>
          </a:solidFill>
          <a:ln w="9525">
            <a:solidFill>
              <a:srgbClr val="2F343D"/>
            </a:solidFill>
            <a:prstDash val="solid"/>
          </a:ln>
        </p:spPr>
      </p:sp>
      <p:sp>
        <p:nvSpPr>
          <p:cNvPr id="16" name="Text 14"/>
          <p:cNvSpPr txBox="1"/>
          <p:nvPr/>
        </p:nvSpPr>
        <p:spPr>
          <a:xfrm>
            <a:off x="6903720" y="3822192"/>
            <a:ext cx="4462272" cy="292608"/>
          </a:xfrm>
          <a:prstGeom prst="rect">
            <a:avLst/>
          </a:prstGeom>
          <a:noFill/>
          <a:ln/>
        </p:spPr>
        <p:txBody>
          <a:bodyPr wrap="square" lIns="0" tIns="0" rIns="0" bIns="0" rtlCol="0" anchor="ctr"/>
          <a:lstStyle/>
          <a:p>
            <a:pPr indent="0" marL="0">
              <a:buNone/>
            </a:pPr>
            <a:r>
              <a:rPr lang="en-US" sz="2000" b="1" dirty="0">
                <a:solidFill>
                  <a:srgbClr val="E8EAED"/>
                </a:solidFill>
                <a:latin typeface="Arial Narrow" pitchFamily="34" charset="0"/>
                <a:ea typeface="Arial Narrow" pitchFamily="34" charset="-122"/>
                <a:cs typeface="Arial Narrow" pitchFamily="34" charset="-120"/>
              </a:rPr>
              <a:t>Ce que cherche le projet</a:t>
            </a:r>
            <a:endParaRPr lang="en-US" sz="2000" dirty="0"/>
          </a:p>
        </p:txBody>
      </p:sp>
      <p:sp>
        <p:nvSpPr>
          <p:cNvPr id="17" name="Shape 15"/>
          <p:cNvSpPr/>
          <p:nvPr/>
        </p:nvSpPr>
        <p:spPr>
          <a:xfrm>
            <a:off x="6903720" y="4370832"/>
            <a:ext cx="109728" cy="29261"/>
          </a:xfrm>
          <a:prstGeom prst="rect">
            <a:avLst/>
          </a:prstGeom>
          <a:solidFill>
            <a:srgbClr val="E3B23C"/>
          </a:solidFill>
          <a:ln w="12700">
            <a:solidFill>
              <a:srgbClr val="E3B23C"/>
            </a:solidFill>
            <a:prstDash val="solid"/>
          </a:ln>
        </p:spPr>
      </p:sp>
      <p:sp>
        <p:nvSpPr>
          <p:cNvPr id="18" name="Text 16"/>
          <p:cNvSpPr txBox="1"/>
          <p:nvPr/>
        </p:nvSpPr>
        <p:spPr>
          <a:xfrm>
            <a:off x="7123176" y="4206240"/>
            <a:ext cx="4242816" cy="457200"/>
          </a:xfrm>
          <a:prstGeom prst="rect">
            <a:avLst/>
          </a:prstGeom>
          <a:noFill/>
          <a:ln/>
        </p:spPr>
        <p:txBody>
          <a:bodyPr wrap="square" lIns="0" tIns="0" rIns="0" bIns="0" rtlCol="0" anchor="ctr"/>
          <a:lstStyle/>
          <a:p>
            <a:pPr indent="0" marL="0">
              <a:buNone/>
            </a:pPr>
            <a:r>
              <a:rPr lang="en-US" sz="1150" dirty="0">
                <a:solidFill>
                  <a:srgbClr val="ADB2B9"/>
                </a:solidFill>
                <a:latin typeface="Calibri" pitchFamily="34" charset="0"/>
                <a:ea typeface="Calibri" pitchFamily="34" charset="-122"/>
                <a:cs typeface="Calibri" pitchFamily="34" charset="-120"/>
              </a:rPr>
              <a:t>Un associé commercial ou un coach référent, au capital ou en conseil</a:t>
            </a:r>
            <a:endParaRPr lang="en-US" sz="1150" dirty="0"/>
          </a:p>
        </p:txBody>
      </p:sp>
      <p:sp>
        <p:nvSpPr>
          <p:cNvPr id="19" name="Shape 17"/>
          <p:cNvSpPr/>
          <p:nvPr/>
        </p:nvSpPr>
        <p:spPr>
          <a:xfrm>
            <a:off x="6903720" y="4828032"/>
            <a:ext cx="109728" cy="29261"/>
          </a:xfrm>
          <a:prstGeom prst="rect">
            <a:avLst/>
          </a:prstGeom>
          <a:solidFill>
            <a:srgbClr val="E3B23C"/>
          </a:solidFill>
          <a:ln w="12700">
            <a:solidFill>
              <a:srgbClr val="E3B23C"/>
            </a:solidFill>
            <a:prstDash val="solid"/>
          </a:ln>
        </p:spPr>
      </p:sp>
      <p:sp>
        <p:nvSpPr>
          <p:cNvPr id="20" name="Text 18"/>
          <p:cNvSpPr txBox="1"/>
          <p:nvPr/>
        </p:nvSpPr>
        <p:spPr>
          <a:xfrm>
            <a:off x="7123176" y="4663440"/>
            <a:ext cx="4242816" cy="457200"/>
          </a:xfrm>
          <a:prstGeom prst="rect">
            <a:avLst/>
          </a:prstGeom>
          <a:noFill/>
          <a:ln/>
        </p:spPr>
        <p:txBody>
          <a:bodyPr wrap="square" lIns="0" tIns="0" rIns="0" bIns="0" rtlCol="0" anchor="ctr"/>
          <a:lstStyle/>
          <a:p>
            <a:pPr indent="0" marL="0">
              <a:buNone/>
            </a:pPr>
            <a:r>
              <a:rPr lang="en-US" sz="1150" dirty="0">
                <a:solidFill>
                  <a:srgbClr val="ADB2B9"/>
                </a:solidFill>
                <a:latin typeface="Calibri" pitchFamily="34" charset="0"/>
                <a:ea typeface="Calibri" pitchFamily="34" charset="-122"/>
                <a:cs typeface="Calibri" pitchFamily="34" charset="-120"/>
              </a:rPr>
              <a:t>Un juriste pour le RGPD et la question HDS (budget prévu, année 1)</a:t>
            </a:r>
            <a:endParaRPr lang="en-US" sz="1150" dirty="0"/>
          </a:p>
        </p:txBody>
      </p:sp>
      <p:sp>
        <p:nvSpPr>
          <p:cNvPr id="21" name="Shape 19"/>
          <p:cNvSpPr/>
          <p:nvPr/>
        </p:nvSpPr>
        <p:spPr>
          <a:xfrm>
            <a:off x="6903720" y="5285232"/>
            <a:ext cx="109728" cy="29261"/>
          </a:xfrm>
          <a:prstGeom prst="rect">
            <a:avLst/>
          </a:prstGeom>
          <a:solidFill>
            <a:srgbClr val="E3B23C"/>
          </a:solidFill>
          <a:ln w="12700">
            <a:solidFill>
              <a:srgbClr val="E3B23C"/>
            </a:solidFill>
            <a:prstDash val="solid"/>
          </a:ln>
        </p:spPr>
      </p:sp>
      <p:sp>
        <p:nvSpPr>
          <p:cNvPr id="22" name="Text 20"/>
          <p:cNvSpPr txBox="1"/>
          <p:nvPr/>
        </p:nvSpPr>
        <p:spPr>
          <a:xfrm>
            <a:off x="7123176" y="5120640"/>
            <a:ext cx="4242816" cy="457200"/>
          </a:xfrm>
          <a:prstGeom prst="rect">
            <a:avLst/>
          </a:prstGeom>
          <a:noFill/>
          <a:ln/>
        </p:spPr>
        <p:txBody>
          <a:bodyPr wrap="square" lIns="0" tIns="0" rIns="0" bIns="0" rtlCol="0" anchor="ctr"/>
          <a:lstStyle/>
          <a:p>
            <a:pPr indent="0" marL="0">
              <a:buNone/>
            </a:pPr>
            <a:r>
              <a:rPr lang="en-US" sz="1150" dirty="0">
                <a:solidFill>
                  <a:srgbClr val="ADB2B9"/>
                </a:solidFill>
                <a:latin typeface="Calibri" pitchFamily="34" charset="0"/>
                <a:ea typeface="Calibri" pitchFamily="34" charset="-122"/>
                <a:cs typeface="Calibri" pitchFamily="34" charset="-120"/>
              </a:rPr>
              <a:t>Cinq coachs pilotes — c'est la demande la plus urgente</a:t>
            </a:r>
            <a:endParaRPr lang="en-US" sz="1150" dirty="0"/>
          </a:p>
        </p:txBody>
      </p:sp>
      <p:sp>
        <p:nvSpPr>
          <p:cNvPr id="23" name="Text 21"/>
          <p:cNvSpPr txBox="1"/>
          <p:nvPr/>
        </p:nvSpPr>
        <p:spPr>
          <a:xfrm>
            <a:off x="548640" y="6336792"/>
            <a:ext cx="8229600" cy="274320"/>
          </a:xfrm>
          <a:prstGeom prst="rect">
            <a:avLst/>
          </a:prstGeom>
          <a:noFill/>
          <a:ln/>
        </p:spPr>
        <p:txBody>
          <a:bodyPr wrap="square" lIns="0" tIns="0" rIns="0" bIns="0" rtlCol="0" anchor="ctr"/>
          <a:lstStyle/>
          <a:p>
            <a:pPr algn="l" indent="0" marL="0">
              <a:buNone/>
            </a:pPr>
            <a:r>
              <a:rPr lang="en-US" sz="900" dirty="0">
                <a:solidFill>
                  <a:srgbClr val="868E99"/>
                </a:solidFill>
                <a:latin typeface="Calibri" pitchFamily="34" charset="0"/>
                <a:ea typeface="Calibri" pitchFamily="34" charset="-122"/>
                <a:cs typeface="Calibri" pitchFamily="34" charset="-120"/>
              </a:rPr>
              <a:t>fitcarnet Pro · business plan · 21 septembre 2026</a:t>
            </a:r>
            <a:endParaRPr lang="en-US" sz="900" dirty="0"/>
          </a:p>
        </p:txBody>
      </p:sp>
      <p:sp>
        <p:nvSpPr>
          <p:cNvPr id="24" name="Text 22"/>
          <p:cNvSpPr txBox="1"/>
          <p:nvPr/>
        </p:nvSpPr>
        <p:spPr>
          <a:xfrm>
            <a:off x="8897112" y="6336792"/>
            <a:ext cx="2743200" cy="274320"/>
          </a:xfrm>
          <a:prstGeom prst="rect">
            <a:avLst/>
          </a:prstGeom>
          <a:noFill/>
          <a:ln/>
        </p:spPr>
        <p:txBody>
          <a:bodyPr wrap="square" lIns="0" tIns="0" rIns="0" bIns="0" rtlCol="0" anchor="ctr"/>
          <a:lstStyle/>
          <a:p>
            <a:pPr algn="r" indent="0" marL="0">
              <a:buNone/>
            </a:pPr>
            <a:r>
              <a:rPr lang="en-US" sz="900" dirty="0">
                <a:solidFill>
                  <a:srgbClr val="868E99"/>
                </a:solidFill>
                <a:latin typeface="Calibri" pitchFamily="34" charset="0"/>
                <a:ea typeface="Calibri" pitchFamily="34" charset="-122"/>
                <a:cs typeface="Calibri" pitchFamily="34" charset="-120"/>
              </a:rPr>
              <a:t>19 / 24</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4161A"/>
        </a:solidFill>
      </p:bgPr>
    </p:bg>
    <p:spTree>
      <p:nvGrpSpPr>
        <p:cNvPr id="1" name=""/>
        <p:cNvGrpSpPr/>
        <p:nvPr/>
      </p:nvGrpSpPr>
      <p:grpSpPr>
        <a:xfrm>
          <a:off x="0" y="0"/>
          <a:ext cx="0" cy="0"/>
          <a:chOff x="0" y="0"/>
          <a:chExt cx="0" cy="0"/>
        </a:xfrm>
      </p:grpSpPr>
      <p:sp>
        <p:nvSpPr>
          <p:cNvPr id="2" name="Text 0"/>
          <p:cNvSpPr txBox="1"/>
          <p:nvPr/>
        </p:nvSpPr>
        <p:spPr>
          <a:xfrm>
            <a:off x="548640" y="347472"/>
            <a:ext cx="11091672" cy="237744"/>
          </a:xfrm>
          <a:prstGeom prst="rect">
            <a:avLst/>
          </a:prstGeom>
          <a:noFill/>
          <a:ln/>
        </p:spPr>
        <p:txBody>
          <a:bodyPr wrap="square" lIns="0" tIns="0" rIns="0" bIns="0" rtlCol="0" anchor="ctr"/>
          <a:lstStyle/>
          <a:p>
            <a:pPr indent="0" marL="0">
              <a:buNone/>
            </a:pPr>
            <a:r>
              <a:rPr lang="en-US" sz="1050" b="1" spc="200" kern="0" dirty="0">
                <a:solidFill>
                  <a:srgbClr val="E3B23C"/>
                </a:solidFill>
                <a:latin typeface="Calibri" pitchFamily="34" charset="0"/>
                <a:ea typeface="Calibri" pitchFamily="34" charset="-122"/>
                <a:cs typeface="Calibri" pitchFamily="34" charset="-120"/>
              </a:rPr>
              <a:t>LE BESOIN</a:t>
            </a:r>
            <a:endParaRPr lang="en-US" sz="1050" dirty="0"/>
          </a:p>
        </p:txBody>
      </p:sp>
      <p:sp>
        <p:nvSpPr>
          <p:cNvPr id="3" name="Text 1"/>
          <p:cNvSpPr txBox="1"/>
          <p:nvPr/>
        </p:nvSpPr>
        <p:spPr>
          <a:xfrm>
            <a:off x="548640" y="603504"/>
            <a:ext cx="11091672" cy="566928"/>
          </a:xfrm>
          <a:prstGeom prst="rect">
            <a:avLst/>
          </a:prstGeom>
          <a:noFill/>
          <a:ln/>
        </p:spPr>
        <p:txBody>
          <a:bodyPr wrap="square" lIns="0" tIns="0" rIns="0" bIns="0" rtlCol="0" anchor="ctr"/>
          <a:lstStyle/>
          <a:p>
            <a:pPr indent="0" marL="0">
              <a:buNone/>
            </a:pPr>
            <a:r>
              <a:rPr lang="en-US" sz="3000" b="1" dirty="0">
                <a:solidFill>
                  <a:srgbClr val="E8EAED"/>
                </a:solidFill>
                <a:latin typeface="Arial Narrow" pitchFamily="34" charset="0"/>
                <a:ea typeface="Arial Narrow" pitchFamily="34" charset="-122"/>
                <a:cs typeface="Arial Narrow" pitchFamily="34" charset="-120"/>
              </a:rPr>
              <a:t>≈ 6 000 € pour passer d'un produit personnel à un produit vendu</a:t>
            </a:r>
            <a:endParaRPr lang="en-US" sz="3000" dirty="0"/>
          </a:p>
        </p:txBody>
      </p:sp>
      <p:sp>
        <p:nvSpPr>
          <p:cNvPr id="4" name="Shape 2"/>
          <p:cNvSpPr/>
          <p:nvPr/>
        </p:nvSpPr>
        <p:spPr>
          <a:xfrm>
            <a:off x="548640" y="1783080"/>
            <a:ext cx="3566160" cy="1828800"/>
          </a:xfrm>
          <a:prstGeom prst="roundRect">
            <a:avLst>
              <a:gd name="adj" fmla="val 3500"/>
            </a:avLst>
          </a:prstGeom>
          <a:solidFill>
            <a:srgbClr val="1D2026"/>
          </a:solidFill>
          <a:ln w="15875">
            <a:solidFill>
              <a:srgbClr val="E3B23C"/>
            </a:solidFill>
            <a:prstDash val="solid"/>
          </a:ln>
        </p:spPr>
      </p:sp>
      <p:sp>
        <p:nvSpPr>
          <p:cNvPr id="5" name="Text 3"/>
          <p:cNvSpPr txBox="1"/>
          <p:nvPr/>
        </p:nvSpPr>
        <p:spPr>
          <a:xfrm>
            <a:off x="822960" y="1938528"/>
            <a:ext cx="3017520" cy="237744"/>
          </a:xfrm>
          <a:prstGeom prst="rect">
            <a:avLst/>
          </a:prstGeom>
          <a:noFill/>
          <a:ln/>
        </p:spPr>
        <p:txBody>
          <a:bodyPr wrap="square" lIns="0" tIns="0" rIns="0" bIns="0" rtlCol="0" anchor="ctr"/>
          <a:lstStyle/>
          <a:p>
            <a:pPr indent="0" marL="0">
              <a:buNone/>
            </a:pPr>
            <a:r>
              <a:rPr lang="en-US" sz="900" b="1" spc="150" kern="0" dirty="0">
                <a:solidFill>
                  <a:srgbClr val="E3B23C"/>
                </a:solidFill>
                <a:latin typeface="Calibri" pitchFamily="34" charset="0"/>
                <a:ea typeface="Calibri" pitchFamily="34" charset="-122"/>
                <a:cs typeface="Calibri" pitchFamily="34" charset="-120"/>
              </a:rPr>
              <a:t>BESOIN DE DÉPART · ANNÉE 1</a:t>
            </a:r>
            <a:endParaRPr lang="en-US" sz="900" dirty="0"/>
          </a:p>
        </p:txBody>
      </p:sp>
      <p:sp>
        <p:nvSpPr>
          <p:cNvPr id="6" name="Text 4"/>
          <p:cNvSpPr txBox="1"/>
          <p:nvPr/>
        </p:nvSpPr>
        <p:spPr>
          <a:xfrm>
            <a:off x="822960" y="2212848"/>
            <a:ext cx="3017520" cy="822960"/>
          </a:xfrm>
          <a:prstGeom prst="rect">
            <a:avLst/>
          </a:prstGeom>
          <a:noFill/>
          <a:ln/>
        </p:spPr>
        <p:txBody>
          <a:bodyPr wrap="square" lIns="0" tIns="0" rIns="0" bIns="0" rtlCol="0" anchor="ctr"/>
          <a:lstStyle/>
          <a:p>
            <a:pPr indent="0" marL="0">
              <a:buNone/>
            </a:pPr>
            <a:r>
              <a:rPr lang="en-US" sz="5600" b="1" dirty="0">
                <a:solidFill>
                  <a:srgbClr val="E8EAED"/>
                </a:solidFill>
                <a:latin typeface="Arial Narrow" pitchFamily="34" charset="0"/>
                <a:ea typeface="Arial Narrow" pitchFamily="34" charset="-122"/>
                <a:cs typeface="Arial Narrow" pitchFamily="34" charset="-120"/>
              </a:rPr>
              <a:t>≈ 6 000 €</a:t>
            </a:r>
            <a:endParaRPr lang="en-US" sz="5600" dirty="0"/>
          </a:p>
        </p:txBody>
      </p:sp>
      <p:sp>
        <p:nvSpPr>
          <p:cNvPr id="7" name="Text 5"/>
          <p:cNvSpPr txBox="1"/>
          <p:nvPr/>
        </p:nvSpPr>
        <p:spPr>
          <a:xfrm>
            <a:off x="822960" y="3035808"/>
            <a:ext cx="3017520" cy="457200"/>
          </a:xfrm>
          <a:prstGeom prst="rect">
            <a:avLst/>
          </a:prstGeom>
          <a:noFill/>
          <a:ln/>
        </p:spPr>
        <p:txBody>
          <a:bodyPr wrap="square" lIns="0" tIns="0" rIns="0" bIns="0" rtlCol="0" anchor="t"/>
          <a:lstStyle/>
          <a:p>
            <a:pPr indent="0" marL="0">
              <a:lnSpc>
                <a:spcPts val="1600"/>
              </a:lnSpc>
              <a:buNone/>
            </a:pPr>
            <a:r>
              <a:rPr lang="en-US" sz="1100" dirty="0">
                <a:solidFill>
                  <a:srgbClr val="ADB2B9"/>
                </a:solidFill>
                <a:latin typeface="Calibri" pitchFamily="34" charset="0"/>
                <a:ea typeface="Calibri" pitchFamily="34" charset="-122"/>
                <a:cs typeface="Calibri" pitchFamily="34" charset="-120"/>
              </a:rPr>
              <a:t>Couvrable en apport personnel. Aucune levée n'est nécessaire pour atteindre le point mort.</a:t>
            </a:r>
            <a:endParaRPr lang="en-US" sz="1100" dirty="0"/>
          </a:p>
        </p:txBody>
      </p:sp>
      <p:sp>
        <p:nvSpPr>
          <p:cNvPr id="8" name="Shape 6"/>
          <p:cNvSpPr/>
          <p:nvPr/>
        </p:nvSpPr>
        <p:spPr>
          <a:xfrm>
            <a:off x="548640" y="3767328"/>
            <a:ext cx="3566160" cy="1920240"/>
          </a:xfrm>
          <a:prstGeom prst="roundRect">
            <a:avLst>
              <a:gd name="adj" fmla="val 3333"/>
            </a:avLst>
          </a:prstGeom>
          <a:solidFill>
            <a:srgbClr val="1D2026"/>
          </a:solidFill>
          <a:ln w="9525">
            <a:solidFill>
              <a:srgbClr val="2F343D"/>
            </a:solidFill>
            <a:prstDash val="solid"/>
          </a:ln>
        </p:spPr>
      </p:sp>
      <p:sp>
        <p:nvSpPr>
          <p:cNvPr id="9" name="Text 7"/>
          <p:cNvSpPr txBox="1"/>
          <p:nvPr/>
        </p:nvSpPr>
        <p:spPr>
          <a:xfrm>
            <a:off x="822960" y="3913632"/>
            <a:ext cx="3017520" cy="292608"/>
          </a:xfrm>
          <a:prstGeom prst="rect">
            <a:avLst/>
          </a:prstGeom>
          <a:noFill/>
          <a:ln/>
        </p:spPr>
        <p:txBody>
          <a:bodyPr wrap="square" lIns="0" tIns="0" rIns="0" bIns="0" rtlCol="0" anchor="ctr"/>
          <a:lstStyle/>
          <a:p>
            <a:pPr indent="0" marL="0">
              <a:buNone/>
            </a:pPr>
            <a:r>
              <a:rPr lang="en-US" sz="1900" b="1" dirty="0">
                <a:solidFill>
                  <a:srgbClr val="E8EAED"/>
                </a:solidFill>
                <a:latin typeface="Arial Narrow" pitchFamily="34" charset="0"/>
                <a:ea typeface="Arial Narrow" pitchFamily="34" charset="-122"/>
                <a:cs typeface="Arial Narrow" pitchFamily="34" charset="-120"/>
              </a:rPr>
              <a:t>Ce que cet argent achète</a:t>
            </a:r>
            <a:endParaRPr lang="en-US" sz="1900" dirty="0"/>
          </a:p>
        </p:txBody>
      </p:sp>
      <p:sp>
        <p:nvSpPr>
          <p:cNvPr id="10" name="Text 8"/>
          <p:cNvSpPr txBox="1"/>
          <p:nvPr/>
        </p:nvSpPr>
        <p:spPr>
          <a:xfrm>
            <a:off x="822960" y="4261104"/>
            <a:ext cx="2286000" cy="274320"/>
          </a:xfrm>
          <a:prstGeom prst="rect">
            <a:avLst/>
          </a:prstGeom>
          <a:noFill/>
          <a:ln/>
        </p:spPr>
        <p:txBody>
          <a:bodyPr wrap="square" lIns="0" tIns="0" rIns="0" bIns="0" rtlCol="0" anchor="ctr"/>
          <a:lstStyle/>
          <a:p>
            <a:pPr indent="0" marL="0">
              <a:buNone/>
            </a:pPr>
            <a:r>
              <a:rPr lang="en-US" sz="1050" dirty="0">
                <a:solidFill>
                  <a:srgbClr val="ADB2B9"/>
                </a:solidFill>
                <a:latin typeface="Calibri" pitchFamily="34" charset="0"/>
                <a:ea typeface="Calibri" pitchFamily="34" charset="-122"/>
                <a:cs typeface="Calibri" pitchFamily="34" charset="-120"/>
              </a:rPr>
              <a:t>Conseil juridique RGPD, CGU</a:t>
            </a:r>
            <a:endParaRPr lang="en-US" sz="1050" dirty="0"/>
          </a:p>
        </p:txBody>
      </p:sp>
      <p:sp>
        <p:nvSpPr>
          <p:cNvPr id="11" name="Text 9"/>
          <p:cNvSpPr txBox="1"/>
          <p:nvPr/>
        </p:nvSpPr>
        <p:spPr>
          <a:xfrm>
            <a:off x="3108960" y="4261104"/>
            <a:ext cx="731520" cy="274320"/>
          </a:xfrm>
          <a:prstGeom prst="rect">
            <a:avLst/>
          </a:prstGeom>
          <a:noFill/>
          <a:ln/>
        </p:spPr>
        <p:txBody>
          <a:bodyPr wrap="square" lIns="0" tIns="0" rIns="0" bIns="0" rtlCol="0" anchor="ctr"/>
          <a:lstStyle/>
          <a:p>
            <a:pPr algn="r" indent="0" marL="0">
              <a:buNone/>
            </a:pPr>
            <a:r>
              <a:rPr lang="en-US" sz="1050" b="1" dirty="0">
                <a:solidFill>
                  <a:srgbClr val="E8EAED"/>
                </a:solidFill>
                <a:latin typeface="Calibri" pitchFamily="34" charset="0"/>
                <a:ea typeface="Calibri" pitchFamily="34" charset="-122"/>
                <a:cs typeface="Calibri" pitchFamily="34" charset="-120"/>
              </a:rPr>
              <a:t>2 000 €</a:t>
            </a:r>
            <a:endParaRPr lang="en-US" sz="1050" dirty="0"/>
          </a:p>
        </p:txBody>
      </p:sp>
      <p:sp>
        <p:nvSpPr>
          <p:cNvPr id="12" name="Text 10"/>
          <p:cNvSpPr txBox="1"/>
          <p:nvPr/>
        </p:nvSpPr>
        <p:spPr>
          <a:xfrm>
            <a:off x="822960" y="4535424"/>
            <a:ext cx="2286000" cy="274320"/>
          </a:xfrm>
          <a:prstGeom prst="rect">
            <a:avLst/>
          </a:prstGeom>
          <a:noFill/>
          <a:ln/>
        </p:spPr>
        <p:txBody>
          <a:bodyPr wrap="square" lIns="0" tIns="0" rIns="0" bIns="0" rtlCol="0" anchor="ctr"/>
          <a:lstStyle/>
          <a:p>
            <a:pPr indent="0" marL="0">
              <a:buNone/>
            </a:pPr>
            <a:r>
              <a:rPr lang="en-US" sz="1050" dirty="0">
                <a:solidFill>
                  <a:srgbClr val="ADB2B9"/>
                </a:solidFill>
                <a:latin typeface="Calibri" pitchFamily="34" charset="0"/>
                <a:ea typeface="Calibri" pitchFamily="34" charset="-122"/>
                <a:cs typeface="Calibri" pitchFamily="34" charset="-120"/>
              </a:rPr>
              <a:t>Licence du catalogue (provision)</a:t>
            </a:r>
            <a:endParaRPr lang="en-US" sz="1050" dirty="0"/>
          </a:p>
        </p:txBody>
      </p:sp>
      <p:sp>
        <p:nvSpPr>
          <p:cNvPr id="13" name="Text 11"/>
          <p:cNvSpPr txBox="1"/>
          <p:nvPr/>
        </p:nvSpPr>
        <p:spPr>
          <a:xfrm>
            <a:off x="3108960" y="4535424"/>
            <a:ext cx="731520" cy="274320"/>
          </a:xfrm>
          <a:prstGeom prst="rect">
            <a:avLst/>
          </a:prstGeom>
          <a:noFill/>
          <a:ln/>
        </p:spPr>
        <p:txBody>
          <a:bodyPr wrap="square" lIns="0" tIns="0" rIns="0" bIns="0" rtlCol="0" anchor="ctr"/>
          <a:lstStyle/>
          <a:p>
            <a:pPr algn="r" indent="0" marL="0">
              <a:buNone/>
            </a:pPr>
            <a:r>
              <a:rPr lang="en-US" sz="1050" b="1" dirty="0">
                <a:solidFill>
                  <a:srgbClr val="E8EAED"/>
                </a:solidFill>
                <a:latin typeface="Calibri" pitchFamily="34" charset="0"/>
                <a:ea typeface="Calibri" pitchFamily="34" charset="-122"/>
                <a:cs typeface="Calibri" pitchFamily="34" charset="-120"/>
              </a:rPr>
              <a:t>1 500 €</a:t>
            </a:r>
            <a:endParaRPr lang="en-US" sz="1050" dirty="0"/>
          </a:p>
        </p:txBody>
      </p:sp>
      <p:sp>
        <p:nvSpPr>
          <p:cNvPr id="14" name="Text 12"/>
          <p:cNvSpPr txBox="1"/>
          <p:nvPr/>
        </p:nvSpPr>
        <p:spPr>
          <a:xfrm>
            <a:off x="822960" y="4809744"/>
            <a:ext cx="2286000" cy="274320"/>
          </a:xfrm>
          <a:prstGeom prst="rect">
            <a:avLst/>
          </a:prstGeom>
          <a:noFill/>
          <a:ln/>
        </p:spPr>
        <p:txBody>
          <a:bodyPr wrap="square" lIns="0" tIns="0" rIns="0" bIns="0" rtlCol="0" anchor="ctr"/>
          <a:lstStyle/>
          <a:p>
            <a:pPr indent="0" marL="0">
              <a:buNone/>
            </a:pPr>
            <a:r>
              <a:rPr lang="en-US" sz="1050" dirty="0">
                <a:solidFill>
                  <a:srgbClr val="ADB2B9"/>
                </a:solidFill>
                <a:latin typeface="Calibri" pitchFamily="34" charset="0"/>
                <a:ea typeface="Calibri" pitchFamily="34" charset="-122"/>
                <a:cs typeface="Calibri" pitchFamily="34" charset="-120"/>
              </a:rPr>
              <a:t>Expert-comptable</a:t>
            </a:r>
            <a:endParaRPr lang="en-US" sz="1050" dirty="0"/>
          </a:p>
        </p:txBody>
      </p:sp>
      <p:sp>
        <p:nvSpPr>
          <p:cNvPr id="15" name="Text 13"/>
          <p:cNvSpPr txBox="1"/>
          <p:nvPr/>
        </p:nvSpPr>
        <p:spPr>
          <a:xfrm>
            <a:off x="3108960" y="4809744"/>
            <a:ext cx="731520" cy="274320"/>
          </a:xfrm>
          <a:prstGeom prst="rect">
            <a:avLst/>
          </a:prstGeom>
          <a:noFill/>
          <a:ln/>
        </p:spPr>
        <p:txBody>
          <a:bodyPr wrap="square" lIns="0" tIns="0" rIns="0" bIns="0" rtlCol="0" anchor="ctr"/>
          <a:lstStyle/>
          <a:p>
            <a:pPr algn="r" indent="0" marL="0">
              <a:buNone/>
            </a:pPr>
            <a:r>
              <a:rPr lang="en-US" sz="1050" b="1" dirty="0">
                <a:solidFill>
                  <a:srgbClr val="E8EAED"/>
                </a:solidFill>
                <a:latin typeface="Calibri" pitchFamily="34" charset="0"/>
                <a:ea typeface="Calibri" pitchFamily="34" charset="-122"/>
                <a:cs typeface="Calibri" pitchFamily="34" charset="-120"/>
              </a:rPr>
              <a:t>1 200 €</a:t>
            </a:r>
            <a:endParaRPr lang="en-US" sz="1050" dirty="0"/>
          </a:p>
        </p:txBody>
      </p:sp>
      <p:sp>
        <p:nvSpPr>
          <p:cNvPr id="16" name="Text 14"/>
          <p:cNvSpPr txBox="1"/>
          <p:nvPr/>
        </p:nvSpPr>
        <p:spPr>
          <a:xfrm>
            <a:off x="822960" y="5084064"/>
            <a:ext cx="2286000" cy="274320"/>
          </a:xfrm>
          <a:prstGeom prst="rect">
            <a:avLst/>
          </a:prstGeom>
          <a:noFill/>
          <a:ln/>
        </p:spPr>
        <p:txBody>
          <a:bodyPr wrap="square" lIns="0" tIns="0" rIns="0" bIns="0" rtlCol="0" anchor="ctr"/>
          <a:lstStyle/>
          <a:p>
            <a:pPr indent="0" marL="0">
              <a:buNone/>
            </a:pPr>
            <a:r>
              <a:rPr lang="en-US" sz="1050" dirty="0">
                <a:solidFill>
                  <a:srgbClr val="ADB2B9"/>
                </a:solidFill>
                <a:latin typeface="Calibri" pitchFamily="34" charset="0"/>
                <a:ea typeface="Calibri" pitchFamily="34" charset="-122"/>
                <a:cs typeface="Calibri" pitchFamily="34" charset="-120"/>
              </a:rPr>
              <a:t>Assurance RC professionnelle</a:t>
            </a:r>
            <a:endParaRPr lang="en-US" sz="1050" dirty="0"/>
          </a:p>
        </p:txBody>
      </p:sp>
      <p:sp>
        <p:nvSpPr>
          <p:cNvPr id="17" name="Text 15"/>
          <p:cNvSpPr txBox="1"/>
          <p:nvPr/>
        </p:nvSpPr>
        <p:spPr>
          <a:xfrm>
            <a:off x="3108960" y="5084064"/>
            <a:ext cx="731520" cy="274320"/>
          </a:xfrm>
          <a:prstGeom prst="rect">
            <a:avLst/>
          </a:prstGeom>
          <a:noFill/>
          <a:ln/>
        </p:spPr>
        <p:txBody>
          <a:bodyPr wrap="square" lIns="0" tIns="0" rIns="0" bIns="0" rtlCol="0" anchor="ctr"/>
          <a:lstStyle/>
          <a:p>
            <a:pPr algn="r" indent="0" marL="0">
              <a:buNone/>
            </a:pPr>
            <a:r>
              <a:rPr lang="en-US" sz="1050" b="1" dirty="0">
                <a:solidFill>
                  <a:srgbClr val="E8EAED"/>
                </a:solidFill>
                <a:latin typeface="Calibri" pitchFamily="34" charset="0"/>
                <a:ea typeface="Calibri" pitchFamily="34" charset="-122"/>
                <a:cs typeface="Calibri" pitchFamily="34" charset="-120"/>
              </a:rPr>
              <a:t>500 €</a:t>
            </a:r>
            <a:endParaRPr lang="en-US" sz="1050" dirty="0"/>
          </a:p>
        </p:txBody>
      </p:sp>
      <p:sp>
        <p:nvSpPr>
          <p:cNvPr id="18" name="Text 16"/>
          <p:cNvSpPr txBox="1"/>
          <p:nvPr/>
        </p:nvSpPr>
        <p:spPr>
          <a:xfrm>
            <a:off x="822960" y="5358384"/>
            <a:ext cx="2286000" cy="274320"/>
          </a:xfrm>
          <a:prstGeom prst="rect">
            <a:avLst/>
          </a:prstGeom>
          <a:noFill/>
          <a:ln/>
        </p:spPr>
        <p:txBody>
          <a:bodyPr wrap="square" lIns="0" tIns="0" rIns="0" bIns="0" rtlCol="0" anchor="ctr"/>
          <a:lstStyle/>
          <a:p>
            <a:pPr indent="0" marL="0">
              <a:buNone/>
            </a:pPr>
            <a:r>
              <a:rPr lang="en-US" sz="1050" dirty="0">
                <a:solidFill>
                  <a:srgbClr val="ADB2B9"/>
                </a:solidFill>
                <a:latin typeface="Calibri" pitchFamily="34" charset="0"/>
                <a:ea typeface="Calibri" pitchFamily="34" charset="-122"/>
                <a:cs typeface="Calibri" pitchFamily="34" charset="-120"/>
              </a:rPr>
              <a:t>Hébergement, comptes Apple / Google</a:t>
            </a:r>
            <a:endParaRPr lang="en-US" sz="1050" dirty="0"/>
          </a:p>
        </p:txBody>
      </p:sp>
      <p:sp>
        <p:nvSpPr>
          <p:cNvPr id="19" name="Text 17"/>
          <p:cNvSpPr txBox="1"/>
          <p:nvPr/>
        </p:nvSpPr>
        <p:spPr>
          <a:xfrm>
            <a:off x="3108960" y="5358384"/>
            <a:ext cx="731520" cy="274320"/>
          </a:xfrm>
          <a:prstGeom prst="rect">
            <a:avLst/>
          </a:prstGeom>
          <a:noFill/>
          <a:ln/>
        </p:spPr>
        <p:txBody>
          <a:bodyPr wrap="square" lIns="0" tIns="0" rIns="0" bIns="0" rtlCol="0" anchor="ctr"/>
          <a:lstStyle/>
          <a:p>
            <a:pPr algn="r" indent="0" marL="0">
              <a:buNone/>
            </a:pPr>
            <a:r>
              <a:rPr lang="en-US" sz="1050" b="1" dirty="0">
                <a:solidFill>
                  <a:srgbClr val="E8EAED"/>
                </a:solidFill>
                <a:latin typeface="Calibri" pitchFamily="34" charset="0"/>
                <a:ea typeface="Calibri" pitchFamily="34" charset="-122"/>
                <a:cs typeface="Calibri" pitchFamily="34" charset="-120"/>
              </a:rPr>
              <a:t>720 €</a:t>
            </a:r>
            <a:endParaRPr lang="en-US" sz="1050" dirty="0"/>
          </a:p>
        </p:txBody>
      </p:sp>
      <p:sp>
        <p:nvSpPr>
          <p:cNvPr id="20" name="Shape 18"/>
          <p:cNvSpPr/>
          <p:nvPr/>
        </p:nvSpPr>
        <p:spPr>
          <a:xfrm>
            <a:off x="4343400" y="1783080"/>
            <a:ext cx="7296912" cy="3904488"/>
          </a:xfrm>
          <a:prstGeom prst="roundRect">
            <a:avLst>
              <a:gd name="adj" fmla="val 1639"/>
            </a:avLst>
          </a:prstGeom>
          <a:solidFill>
            <a:srgbClr val="1D2026"/>
          </a:solidFill>
          <a:ln w="9525">
            <a:solidFill>
              <a:srgbClr val="2F343D"/>
            </a:solidFill>
            <a:prstDash val="solid"/>
          </a:ln>
        </p:spPr>
      </p:sp>
      <p:sp>
        <p:nvSpPr>
          <p:cNvPr id="21" name="Text 19"/>
          <p:cNvSpPr txBox="1"/>
          <p:nvPr/>
        </p:nvSpPr>
        <p:spPr>
          <a:xfrm>
            <a:off x="4654296" y="1956816"/>
            <a:ext cx="6675120" cy="329184"/>
          </a:xfrm>
          <a:prstGeom prst="rect">
            <a:avLst/>
          </a:prstGeom>
          <a:noFill/>
          <a:ln/>
        </p:spPr>
        <p:txBody>
          <a:bodyPr wrap="square" lIns="0" tIns="0" rIns="0" bIns="0" rtlCol="0" anchor="ctr"/>
          <a:lstStyle/>
          <a:p>
            <a:pPr indent="0" marL="0">
              <a:buNone/>
            </a:pPr>
            <a:r>
              <a:rPr lang="en-US" sz="2400" b="1" dirty="0">
                <a:solidFill>
                  <a:srgbClr val="E8EAED"/>
                </a:solidFill>
                <a:latin typeface="Arial Narrow" pitchFamily="34" charset="0"/>
                <a:ea typeface="Arial Narrow" pitchFamily="34" charset="-122"/>
                <a:cs typeface="Arial Narrow" pitchFamily="34" charset="-120"/>
              </a:rPr>
              <a:t>Les jalons que cet argent achète</a:t>
            </a:r>
            <a:endParaRPr lang="en-US" sz="2400" dirty="0"/>
          </a:p>
        </p:txBody>
      </p:sp>
      <p:sp>
        <p:nvSpPr>
          <p:cNvPr id="22" name="Text 20"/>
          <p:cNvSpPr txBox="1"/>
          <p:nvPr/>
        </p:nvSpPr>
        <p:spPr>
          <a:xfrm>
            <a:off x="4654296" y="2432304"/>
            <a:ext cx="914400" cy="566928"/>
          </a:xfrm>
          <a:prstGeom prst="rect">
            <a:avLst/>
          </a:prstGeom>
          <a:noFill/>
          <a:ln/>
        </p:spPr>
        <p:txBody>
          <a:bodyPr wrap="square" lIns="0" tIns="0" rIns="0" bIns="0" rtlCol="0" anchor="ctr"/>
          <a:lstStyle/>
          <a:p>
            <a:pPr indent="0" marL="0">
              <a:buNone/>
            </a:pPr>
            <a:r>
              <a:rPr lang="en-US" sz="2000" b="1" dirty="0">
                <a:solidFill>
                  <a:srgbClr val="5EC080"/>
                </a:solidFill>
                <a:latin typeface="Arial Narrow" pitchFamily="34" charset="0"/>
                <a:ea typeface="Arial Narrow" pitchFamily="34" charset="-122"/>
                <a:cs typeface="Arial Narrow" pitchFamily="34" charset="-120"/>
              </a:rPr>
              <a:t>Mois 1</a:t>
            </a:r>
            <a:endParaRPr lang="en-US" sz="2000" dirty="0"/>
          </a:p>
        </p:txBody>
      </p:sp>
      <p:sp>
        <p:nvSpPr>
          <p:cNvPr id="23" name="Text 21"/>
          <p:cNvSpPr txBox="1"/>
          <p:nvPr/>
        </p:nvSpPr>
        <p:spPr>
          <a:xfrm>
            <a:off x="5660136" y="2432304"/>
            <a:ext cx="5669280" cy="566928"/>
          </a:xfrm>
          <a:prstGeom prst="rect">
            <a:avLst/>
          </a:prstGeom>
          <a:noFill/>
          <a:ln/>
        </p:spPr>
        <p:txBody>
          <a:bodyPr wrap="square" lIns="0" tIns="0" rIns="0" bIns="0" rtlCol="0" anchor="ctr"/>
          <a:lstStyle/>
          <a:p>
            <a:pPr indent="0" marL="0">
              <a:lnSpc>
                <a:spcPts val="1600"/>
              </a:lnSpc>
              <a:buNone/>
            </a:pPr>
            <a:r>
              <a:rPr lang="en-US" sz="1200" dirty="0">
                <a:solidFill>
                  <a:srgbClr val="ADB2B9"/>
                </a:solidFill>
                <a:latin typeface="Calibri" pitchFamily="34" charset="0"/>
                <a:ea typeface="Calibri" pitchFamily="34" charset="-122"/>
                <a:cs typeface="Calibri" pitchFamily="34" charset="-120"/>
              </a:rPr>
              <a:t>Provenance du catalogue d'exercices levée, licence chiffrée ou jeu de données remplacé</a:t>
            </a:r>
            <a:endParaRPr lang="en-US" sz="1200" dirty="0"/>
          </a:p>
        </p:txBody>
      </p:sp>
      <p:sp>
        <p:nvSpPr>
          <p:cNvPr id="24" name="Shape 22"/>
          <p:cNvSpPr/>
          <p:nvPr/>
        </p:nvSpPr>
        <p:spPr>
          <a:xfrm>
            <a:off x="4654296" y="3017520"/>
            <a:ext cx="6675120" cy="10973"/>
          </a:xfrm>
          <a:prstGeom prst="rect">
            <a:avLst/>
          </a:prstGeom>
          <a:solidFill>
            <a:srgbClr val="2F343D"/>
          </a:solidFill>
          <a:ln w="12700">
            <a:solidFill>
              <a:srgbClr val="2F343D"/>
            </a:solidFill>
            <a:prstDash val="solid"/>
          </a:ln>
        </p:spPr>
      </p:sp>
      <p:sp>
        <p:nvSpPr>
          <p:cNvPr id="25" name="Text 23"/>
          <p:cNvSpPr txBox="1"/>
          <p:nvPr/>
        </p:nvSpPr>
        <p:spPr>
          <a:xfrm>
            <a:off x="4654296" y="3054096"/>
            <a:ext cx="914400" cy="566928"/>
          </a:xfrm>
          <a:prstGeom prst="rect">
            <a:avLst/>
          </a:prstGeom>
          <a:noFill/>
          <a:ln/>
        </p:spPr>
        <p:txBody>
          <a:bodyPr wrap="square" lIns="0" tIns="0" rIns="0" bIns="0" rtlCol="0" anchor="ctr"/>
          <a:lstStyle/>
          <a:p>
            <a:pPr indent="0" marL="0">
              <a:buNone/>
            </a:pPr>
            <a:r>
              <a:rPr lang="en-US" sz="2000" b="1" dirty="0">
                <a:solidFill>
                  <a:srgbClr val="E3B23C"/>
                </a:solidFill>
                <a:latin typeface="Arial Narrow" pitchFamily="34" charset="0"/>
                <a:ea typeface="Arial Narrow" pitchFamily="34" charset="-122"/>
                <a:cs typeface="Arial Narrow" pitchFamily="34" charset="-120"/>
              </a:rPr>
              <a:t>Mois 3</a:t>
            </a:r>
            <a:endParaRPr lang="en-US" sz="2000" dirty="0"/>
          </a:p>
        </p:txBody>
      </p:sp>
      <p:sp>
        <p:nvSpPr>
          <p:cNvPr id="26" name="Text 24"/>
          <p:cNvSpPr txBox="1"/>
          <p:nvPr/>
        </p:nvSpPr>
        <p:spPr>
          <a:xfrm>
            <a:off x="5660136" y="3054096"/>
            <a:ext cx="5669280" cy="566928"/>
          </a:xfrm>
          <a:prstGeom prst="rect">
            <a:avLst/>
          </a:prstGeom>
          <a:noFill/>
          <a:ln/>
        </p:spPr>
        <p:txBody>
          <a:bodyPr wrap="square" lIns="0" tIns="0" rIns="0" bIns="0" rtlCol="0" anchor="ctr"/>
          <a:lstStyle/>
          <a:p>
            <a:pPr indent="0" marL="0">
              <a:lnSpc>
                <a:spcPts val="1600"/>
              </a:lnSpc>
              <a:buNone/>
            </a:pPr>
            <a:r>
              <a:rPr lang="en-US" sz="1200" dirty="0">
                <a:solidFill>
                  <a:srgbClr val="ADB2B9"/>
                </a:solidFill>
                <a:latin typeface="Calibri" pitchFamily="34" charset="0"/>
                <a:ea typeface="Calibri" pitchFamily="34" charset="-122"/>
                <a:cs typeface="Calibri" pitchFamily="34" charset="-120"/>
              </a:rPr>
              <a:t>Partage coach ↔ client en service, testé comme l'isolation actuelle ; Stripe branché ; hébergeur français</a:t>
            </a:r>
            <a:endParaRPr lang="en-US" sz="1200" dirty="0"/>
          </a:p>
        </p:txBody>
      </p:sp>
      <p:sp>
        <p:nvSpPr>
          <p:cNvPr id="27" name="Shape 25"/>
          <p:cNvSpPr/>
          <p:nvPr/>
        </p:nvSpPr>
        <p:spPr>
          <a:xfrm>
            <a:off x="4654296" y="3639312"/>
            <a:ext cx="6675120" cy="10973"/>
          </a:xfrm>
          <a:prstGeom prst="rect">
            <a:avLst/>
          </a:prstGeom>
          <a:solidFill>
            <a:srgbClr val="2F343D"/>
          </a:solidFill>
          <a:ln w="12700">
            <a:solidFill>
              <a:srgbClr val="2F343D"/>
            </a:solidFill>
            <a:prstDash val="solid"/>
          </a:ln>
        </p:spPr>
      </p:sp>
      <p:sp>
        <p:nvSpPr>
          <p:cNvPr id="28" name="Text 26"/>
          <p:cNvSpPr txBox="1"/>
          <p:nvPr/>
        </p:nvSpPr>
        <p:spPr>
          <a:xfrm>
            <a:off x="4654296" y="3675888"/>
            <a:ext cx="914400" cy="566928"/>
          </a:xfrm>
          <a:prstGeom prst="rect">
            <a:avLst/>
          </a:prstGeom>
          <a:noFill/>
          <a:ln/>
        </p:spPr>
        <p:txBody>
          <a:bodyPr wrap="square" lIns="0" tIns="0" rIns="0" bIns="0" rtlCol="0" anchor="ctr"/>
          <a:lstStyle/>
          <a:p>
            <a:pPr indent="0" marL="0">
              <a:buNone/>
            </a:pPr>
            <a:r>
              <a:rPr lang="en-US" sz="2000" b="1" dirty="0">
                <a:solidFill>
                  <a:srgbClr val="E3B23C"/>
                </a:solidFill>
                <a:latin typeface="Arial Narrow" pitchFamily="34" charset="0"/>
                <a:ea typeface="Arial Narrow" pitchFamily="34" charset="-122"/>
                <a:cs typeface="Arial Narrow" pitchFamily="34" charset="-120"/>
              </a:rPr>
              <a:t>Mois 6</a:t>
            </a:r>
            <a:endParaRPr lang="en-US" sz="2000" dirty="0"/>
          </a:p>
        </p:txBody>
      </p:sp>
      <p:sp>
        <p:nvSpPr>
          <p:cNvPr id="29" name="Text 27"/>
          <p:cNvSpPr txBox="1"/>
          <p:nvPr/>
        </p:nvSpPr>
        <p:spPr>
          <a:xfrm>
            <a:off x="5660136" y="3675888"/>
            <a:ext cx="5669280" cy="566928"/>
          </a:xfrm>
          <a:prstGeom prst="rect">
            <a:avLst/>
          </a:prstGeom>
          <a:noFill/>
          <a:ln/>
        </p:spPr>
        <p:txBody>
          <a:bodyPr wrap="square" lIns="0" tIns="0" rIns="0" bIns="0" rtlCol="0" anchor="ctr"/>
          <a:lstStyle/>
          <a:p>
            <a:pPr indent="0" marL="0">
              <a:lnSpc>
                <a:spcPts val="1600"/>
              </a:lnSpc>
              <a:buNone/>
            </a:pPr>
            <a:r>
              <a:rPr lang="en-US" sz="1200" dirty="0">
                <a:solidFill>
                  <a:srgbClr val="ADB2B9"/>
                </a:solidFill>
                <a:latin typeface="Calibri" pitchFamily="34" charset="0"/>
                <a:ea typeface="Calibri" pitchFamily="34" charset="-122"/>
                <a:cs typeface="Calibri" pitchFamily="34" charset="-120"/>
              </a:rPr>
              <a:t>Cinq pilotes menés à terme, prix confirmé par écrit, décision de lancement prise</a:t>
            </a:r>
            <a:endParaRPr lang="en-US" sz="1200" dirty="0"/>
          </a:p>
        </p:txBody>
      </p:sp>
      <p:sp>
        <p:nvSpPr>
          <p:cNvPr id="30" name="Shape 28"/>
          <p:cNvSpPr/>
          <p:nvPr/>
        </p:nvSpPr>
        <p:spPr>
          <a:xfrm>
            <a:off x="4654296" y="4261104"/>
            <a:ext cx="6675120" cy="10973"/>
          </a:xfrm>
          <a:prstGeom prst="rect">
            <a:avLst/>
          </a:prstGeom>
          <a:solidFill>
            <a:srgbClr val="2F343D"/>
          </a:solidFill>
          <a:ln w="12700">
            <a:solidFill>
              <a:srgbClr val="2F343D"/>
            </a:solidFill>
            <a:prstDash val="solid"/>
          </a:ln>
        </p:spPr>
      </p:sp>
      <p:sp>
        <p:nvSpPr>
          <p:cNvPr id="31" name="Text 29"/>
          <p:cNvSpPr txBox="1"/>
          <p:nvPr/>
        </p:nvSpPr>
        <p:spPr>
          <a:xfrm>
            <a:off x="4654296" y="4297680"/>
            <a:ext cx="914400" cy="566928"/>
          </a:xfrm>
          <a:prstGeom prst="rect">
            <a:avLst/>
          </a:prstGeom>
          <a:noFill/>
          <a:ln/>
        </p:spPr>
        <p:txBody>
          <a:bodyPr wrap="square" lIns="0" tIns="0" rIns="0" bIns="0" rtlCol="0" anchor="ctr"/>
          <a:lstStyle/>
          <a:p>
            <a:pPr indent="0" marL="0">
              <a:buNone/>
            </a:pPr>
            <a:r>
              <a:rPr lang="en-US" sz="2000" b="1" dirty="0">
                <a:solidFill>
                  <a:srgbClr val="5EC080"/>
                </a:solidFill>
                <a:latin typeface="Arial Narrow" pitchFamily="34" charset="0"/>
                <a:ea typeface="Arial Narrow" pitchFamily="34" charset="-122"/>
                <a:cs typeface="Arial Narrow" pitchFamily="34" charset="-120"/>
              </a:rPr>
              <a:t>Mois 7</a:t>
            </a:r>
            <a:endParaRPr lang="en-US" sz="2000" dirty="0"/>
          </a:p>
        </p:txBody>
      </p:sp>
      <p:sp>
        <p:nvSpPr>
          <p:cNvPr id="32" name="Text 30"/>
          <p:cNvSpPr txBox="1"/>
          <p:nvPr/>
        </p:nvSpPr>
        <p:spPr>
          <a:xfrm>
            <a:off x="5660136" y="4297680"/>
            <a:ext cx="5669280" cy="566928"/>
          </a:xfrm>
          <a:prstGeom prst="rect">
            <a:avLst/>
          </a:prstGeom>
          <a:noFill/>
          <a:ln/>
        </p:spPr>
        <p:txBody>
          <a:bodyPr wrap="square" lIns="0" tIns="0" rIns="0" bIns="0" rtlCol="0" anchor="ctr"/>
          <a:lstStyle/>
          <a:p>
            <a:pPr indent="0" marL="0">
              <a:lnSpc>
                <a:spcPts val="1600"/>
              </a:lnSpc>
              <a:buNone/>
            </a:pPr>
            <a:r>
              <a:rPr lang="en-US" sz="1200" dirty="0">
                <a:solidFill>
                  <a:srgbClr val="ADB2B9"/>
                </a:solidFill>
                <a:latin typeface="Calibri" pitchFamily="34" charset="0"/>
                <a:ea typeface="Calibri" pitchFamily="34" charset="-122"/>
                <a:cs typeface="Calibri" pitchFamily="34" charset="-120"/>
              </a:rPr>
              <a:t>Premiers clients payants</a:t>
            </a:r>
            <a:endParaRPr lang="en-US" sz="1200" dirty="0"/>
          </a:p>
        </p:txBody>
      </p:sp>
      <p:sp>
        <p:nvSpPr>
          <p:cNvPr id="33" name="Shape 31"/>
          <p:cNvSpPr/>
          <p:nvPr/>
        </p:nvSpPr>
        <p:spPr>
          <a:xfrm>
            <a:off x="4654296" y="4882896"/>
            <a:ext cx="6675120" cy="10973"/>
          </a:xfrm>
          <a:prstGeom prst="rect">
            <a:avLst/>
          </a:prstGeom>
          <a:solidFill>
            <a:srgbClr val="2F343D"/>
          </a:solidFill>
          <a:ln w="12700">
            <a:solidFill>
              <a:srgbClr val="2F343D"/>
            </a:solidFill>
            <a:prstDash val="solid"/>
          </a:ln>
        </p:spPr>
      </p:sp>
      <p:sp>
        <p:nvSpPr>
          <p:cNvPr id="34" name="Text 32"/>
          <p:cNvSpPr txBox="1"/>
          <p:nvPr/>
        </p:nvSpPr>
        <p:spPr>
          <a:xfrm>
            <a:off x="4654296" y="4919472"/>
            <a:ext cx="914400" cy="566928"/>
          </a:xfrm>
          <a:prstGeom prst="rect">
            <a:avLst/>
          </a:prstGeom>
          <a:noFill/>
          <a:ln/>
        </p:spPr>
        <p:txBody>
          <a:bodyPr wrap="square" lIns="0" tIns="0" rIns="0" bIns="0" rtlCol="0" anchor="ctr"/>
          <a:lstStyle/>
          <a:p>
            <a:pPr indent="0" marL="0">
              <a:buNone/>
            </a:pPr>
            <a:r>
              <a:rPr lang="en-US" sz="2000" b="1" dirty="0">
                <a:solidFill>
                  <a:srgbClr val="5EC080"/>
                </a:solidFill>
                <a:latin typeface="Arial Narrow" pitchFamily="34" charset="0"/>
                <a:ea typeface="Arial Narrow" pitchFamily="34" charset="-122"/>
                <a:cs typeface="Arial Narrow" pitchFamily="34" charset="-120"/>
              </a:rPr>
              <a:t>Mois 13</a:t>
            </a:r>
            <a:endParaRPr lang="en-US" sz="2000" dirty="0"/>
          </a:p>
        </p:txBody>
      </p:sp>
      <p:sp>
        <p:nvSpPr>
          <p:cNvPr id="35" name="Text 33"/>
          <p:cNvSpPr txBox="1"/>
          <p:nvPr/>
        </p:nvSpPr>
        <p:spPr>
          <a:xfrm>
            <a:off x="5660136" y="4919472"/>
            <a:ext cx="5669280" cy="566928"/>
          </a:xfrm>
          <a:prstGeom prst="rect">
            <a:avLst/>
          </a:prstGeom>
          <a:noFill/>
          <a:ln/>
        </p:spPr>
        <p:txBody>
          <a:bodyPr wrap="square" lIns="0" tIns="0" rIns="0" bIns="0" rtlCol="0" anchor="ctr"/>
          <a:lstStyle/>
          <a:p>
            <a:pPr indent="0" marL="0">
              <a:lnSpc>
                <a:spcPts val="1600"/>
              </a:lnSpc>
              <a:buNone/>
            </a:pPr>
            <a:r>
              <a:rPr lang="en-US" sz="1200" dirty="0">
                <a:solidFill>
                  <a:srgbClr val="ADB2B9"/>
                </a:solidFill>
                <a:latin typeface="Calibri" pitchFamily="34" charset="0"/>
                <a:ea typeface="Calibri" pitchFamily="34" charset="-122"/>
                <a:cs typeface="Calibri" pitchFamily="34" charset="-120"/>
              </a:rPr>
              <a:t>Point mort mensuel atteint — le projet s'autofinance</a:t>
            </a:r>
            <a:endParaRPr lang="en-US" sz="1200" dirty="0"/>
          </a:p>
        </p:txBody>
      </p:sp>
      <p:sp>
        <p:nvSpPr>
          <p:cNvPr id="36" name="Text 34"/>
          <p:cNvSpPr txBox="1"/>
          <p:nvPr/>
        </p:nvSpPr>
        <p:spPr>
          <a:xfrm>
            <a:off x="548640" y="5961888"/>
            <a:ext cx="11091672" cy="310896"/>
          </a:xfrm>
          <a:prstGeom prst="rect">
            <a:avLst/>
          </a:prstGeom>
          <a:noFill/>
          <a:ln/>
        </p:spPr>
        <p:txBody>
          <a:bodyPr wrap="square" lIns="0" tIns="0" rIns="0" bIns="0" rtlCol="0" anchor="ctr"/>
          <a:lstStyle/>
          <a:p>
            <a:pPr indent="0" marL="0">
              <a:buNone/>
            </a:pPr>
            <a:r>
              <a:rPr lang="en-US" sz="950" i="1" dirty="0">
                <a:solidFill>
                  <a:srgbClr val="868E99"/>
                </a:solidFill>
                <a:latin typeface="Calibri" pitchFamily="34" charset="0"/>
                <a:ea typeface="Calibri" pitchFamily="34" charset="-122"/>
                <a:cs typeface="Calibri" pitchFamily="34" charset="-120"/>
              </a:rPr>
              <a:t>Montants repris du compte de résultat, année 1 · hypothèses diapositive 13</a:t>
            </a:r>
            <a:endParaRPr lang="en-US" sz="950" dirty="0"/>
          </a:p>
        </p:txBody>
      </p:sp>
      <p:sp>
        <p:nvSpPr>
          <p:cNvPr id="37" name="Text 35"/>
          <p:cNvSpPr txBox="1"/>
          <p:nvPr/>
        </p:nvSpPr>
        <p:spPr>
          <a:xfrm>
            <a:off x="548640" y="6336792"/>
            <a:ext cx="8229600" cy="274320"/>
          </a:xfrm>
          <a:prstGeom prst="rect">
            <a:avLst/>
          </a:prstGeom>
          <a:noFill/>
          <a:ln/>
        </p:spPr>
        <p:txBody>
          <a:bodyPr wrap="square" lIns="0" tIns="0" rIns="0" bIns="0" rtlCol="0" anchor="ctr"/>
          <a:lstStyle/>
          <a:p>
            <a:pPr algn="l" indent="0" marL="0">
              <a:buNone/>
            </a:pPr>
            <a:r>
              <a:rPr lang="en-US" sz="900" dirty="0">
                <a:solidFill>
                  <a:srgbClr val="868E99"/>
                </a:solidFill>
                <a:latin typeface="Calibri" pitchFamily="34" charset="0"/>
                <a:ea typeface="Calibri" pitchFamily="34" charset="-122"/>
                <a:cs typeface="Calibri" pitchFamily="34" charset="-120"/>
              </a:rPr>
              <a:t>fitcarnet Pro · business plan · 21 septembre 2026</a:t>
            </a:r>
            <a:endParaRPr lang="en-US" sz="900" dirty="0"/>
          </a:p>
        </p:txBody>
      </p:sp>
      <p:sp>
        <p:nvSpPr>
          <p:cNvPr id="38" name="Text 36"/>
          <p:cNvSpPr txBox="1"/>
          <p:nvPr/>
        </p:nvSpPr>
        <p:spPr>
          <a:xfrm>
            <a:off x="8897112" y="6336792"/>
            <a:ext cx="2743200" cy="274320"/>
          </a:xfrm>
          <a:prstGeom prst="rect">
            <a:avLst/>
          </a:prstGeom>
          <a:noFill/>
          <a:ln/>
        </p:spPr>
        <p:txBody>
          <a:bodyPr wrap="square" lIns="0" tIns="0" rIns="0" bIns="0" rtlCol="0" anchor="ctr"/>
          <a:lstStyle/>
          <a:p>
            <a:pPr algn="r" indent="0" marL="0">
              <a:buNone/>
            </a:pPr>
            <a:r>
              <a:rPr lang="en-US" sz="900" dirty="0">
                <a:solidFill>
                  <a:srgbClr val="868E99"/>
                </a:solidFill>
                <a:latin typeface="Calibri" pitchFamily="34" charset="0"/>
                <a:ea typeface="Calibri" pitchFamily="34" charset="-122"/>
                <a:cs typeface="Calibri" pitchFamily="34" charset="-120"/>
              </a:rPr>
              <a:t>20 / 24</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E1013"/>
        </a:solidFill>
      </p:bgPr>
    </p:bg>
    <p:spTree>
      <p:nvGrpSpPr>
        <p:cNvPr id="1" name=""/>
        <p:cNvGrpSpPr/>
        <p:nvPr/>
      </p:nvGrpSpPr>
      <p:grpSpPr>
        <a:xfrm>
          <a:off x="0" y="0"/>
          <a:ext cx="0" cy="0"/>
          <a:chOff x="0" y="0"/>
          <a:chExt cx="0" cy="0"/>
        </a:xfrm>
      </p:grpSpPr>
      <p:sp>
        <p:nvSpPr>
          <p:cNvPr id="2" name="Text 0"/>
          <p:cNvSpPr txBox="1"/>
          <p:nvPr/>
        </p:nvSpPr>
        <p:spPr>
          <a:xfrm>
            <a:off x="548640" y="640080"/>
            <a:ext cx="11091672" cy="274320"/>
          </a:xfrm>
          <a:prstGeom prst="rect">
            <a:avLst/>
          </a:prstGeom>
          <a:noFill/>
          <a:ln/>
        </p:spPr>
        <p:txBody>
          <a:bodyPr wrap="square" lIns="0" tIns="0" rIns="0" bIns="0" rtlCol="0" anchor="ctr"/>
          <a:lstStyle/>
          <a:p>
            <a:pPr indent="0" marL="0">
              <a:buNone/>
            </a:pPr>
            <a:r>
              <a:rPr lang="en-US" sz="1100" b="1" spc="200" kern="0" dirty="0">
                <a:solidFill>
                  <a:srgbClr val="E3B23C"/>
                </a:solidFill>
                <a:latin typeface="Calibri" pitchFamily="34" charset="0"/>
                <a:ea typeface="Calibri" pitchFamily="34" charset="-122"/>
                <a:cs typeface="Calibri" pitchFamily="34" charset="-120"/>
              </a:rPr>
              <a:t>PROCHAINES ÉTAPES</a:t>
            </a:r>
            <a:endParaRPr lang="en-US" sz="1100" dirty="0"/>
          </a:p>
        </p:txBody>
      </p:sp>
      <p:sp>
        <p:nvSpPr>
          <p:cNvPr id="3" name="Text 1"/>
          <p:cNvSpPr txBox="1"/>
          <p:nvPr/>
        </p:nvSpPr>
        <p:spPr>
          <a:xfrm>
            <a:off x="548640" y="932688"/>
            <a:ext cx="11091672" cy="786384"/>
          </a:xfrm>
          <a:prstGeom prst="rect">
            <a:avLst/>
          </a:prstGeom>
          <a:noFill/>
          <a:ln/>
        </p:spPr>
        <p:txBody>
          <a:bodyPr wrap="square" lIns="0" tIns="0" rIns="0" bIns="0" rtlCol="0" anchor="ctr"/>
          <a:lstStyle/>
          <a:p>
            <a:pPr indent="0" marL="0">
              <a:buNone/>
            </a:pPr>
            <a:r>
              <a:rPr lang="en-US" sz="4800" b="1" dirty="0">
                <a:solidFill>
                  <a:srgbClr val="E8EAED"/>
                </a:solidFill>
                <a:latin typeface="Arial Narrow" pitchFamily="34" charset="0"/>
                <a:ea typeface="Arial Narrow" pitchFamily="34" charset="-122"/>
                <a:cs typeface="Arial Narrow" pitchFamily="34" charset="-120"/>
              </a:rPr>
              <a:t>Les trente prochains jours</a:t>
            </a:r>
            <a:endParaRPr lang="en-US" sz="4800" dirty="0"/>
          </a:p>
        </p:txBody>
      </p:sp>
      <p:sp>
        <p:nvSpPr>
          <p:cNvPr id="4" name="Shape 2"/>
          <p:cNvSpPr/>
          <p:nvPr/>
        </p:nvSpPr>
        <p:spPr>
          <a:xfrm>
            <a:off x="548640" y="2011680"/>
            <a:ext cx="2112264" cy="2212848"/>
          </a:xfrm>
          <a:prstGeom prst="roundRect">
            <a:avLst>
              <a:gd name="adj" fmla="val 3030"/>
            </a:avLst>
          </a:prstGeom>
          <a:solidFill>
            <a:srgbClr val="1D2026"/>
          </a:solidFill>
          <a:ln w="15875">
            <a:solidFill>
              <a:srgbClr val="E3B23C"/>
            </a:solidFill>
            <a:prstDash val="solid"/>
          </a:ln>
        </p:spPr>
      </p:sp>
      <p:sp>
        <p:nvSpPr>
          <p:cNvPr id="5" name="Text 3"/>
          <p:cNvSpPr txBox="1"/>
          <p:nvPr/>
        </p:nvSpPr>
        <p:spPr>
          <a:xfrm>
            <a:off x="768096" y="2176272"/>
            <a:ext cx="1673352" cy="365760"/>
          </a:xfrm>
          <a:prstGeom prst="rect">
            <a:avLst/>
          </a:prstGeom>
          <a:noFill/>
          <a:ln/>
        </p:spPr>
        <p:txBody>
          <a:bodyPr wrap="square" lIns="0" tIns="0" rIns="0" bIns="0" rtlCol="0" anchor="ctr"/>
          <a:lstStyle/>
          <a:p>
            <a:pPr indent="0" marL="0">
              <a:buNone/>
            </a:pPr>
            <a:r>
              <a:rPr lang="en-US" sz="2400" b="1" dirty="0">
                <a:solidFill>
                  <a:srgbClr val="E3B23C"/>
                </a:solidFill>
                <a:latin typeface="Arial Narrow" pitchFamily="34" charset="0"/>
                <a:ea typeface="Arial Narrow" pitchFamily="34" charset="-122"/>
                <a:cs typeface="Arial Narrow" pitchFamily="34" charset="-120"/>
              </a:rPr>
              <a:t>01</a:t>
            </a:r>
            <a:endParaRPr lang="en-US" sz="2400" dirty="0"/>
          </a:p>
        </p:txBody>
      </p:sp>
      <p:sp>
        <p:nvSpPr>
          <p:cNvPr id="6" name="Text 4"/>
          <p:cNvSpPr txBox="1"/>
          <p:nvPr/>
        </p:nvSpPr>
        <p:spPr>
          <a:xfrm>
            <a:off x="768096" y="2596896"/>
            <a:ext cx="1673352" cy="786384"/>
          </a:xfrm>
          <a:prstGeom prst="rect">
            <a:avLst/>
          </a:prstGeom>
          <a:noFill/>
          <a:ln/>
        </p:spPr>
        <p:txBody>
          <a:bodyPr wrap="square" lIns="0" tIns="0" rIns="0" bIns="0" rtlCol="0" anchor="t"/>
          <a:lstStyle/>
          <a:p>
            <a:pPr indent="0" marL="0">
              <a:lnSpc>
                <a:spcPts val="1700"/>
              </a:lnSpc>
              <a:buNone/>
            </a:pPr>
            <a:r>
              <a:rPr lang="en-US" sz="1250" b="1" dirty="0">
                <a:solidFill>
                  <a:srgbClr val="E8EAED"/>
                </a:solidFill>
                <a:latin typeface="Calibri" pitchFamily="34" charset="0"/>
                <a:ea typeface="Calibri" pitchFamily="34" charset="-122"/>
                <a:cs typeface="Calibri" pitchFamily="34" charset="-120"/>
              </a:rPr>
              <a:t>Vérifier la provenance</a:t>
            </a:r>
            <a:endParaRPr lang="en-US" sz="1250" dirty="0"/>
          </a:p>
        </p:txBody>
      </p:sp>
      <p:sp>
        <p:nvSpPr>
          <p:cNvPr id="7" name="Text 5"/>
          <p:cNvSpPr txBox="1"/>
          <p:nvPr/>
        </p:nvSpPr>
        <p:spPr>
          <a:xfrm>
            <a:off x="768096" y="3419856"/>
            <a:ext cx="1673352" cy="658368"/>
          </a:xfrm>
          <a:prstGeom prst="rect">
            <a:avLst/>
          </a:prstGeom>
          <a:noFill/>
          <a:ln/>
        </p:spPr>
        <p:txBody>
          <a:bodyPr wrap="square" lIns="0" tIns="0" rIns="0" bIns="0" rtlCol="0" anchor="t"/>
          <a:lstStyle/>
          <a:p>
            <a:pPr indent="0" marL="0">
              <a:lnSpc>
                <a:spcPts val="1500"/>
              </a:lnSpc>
              <a:buNone/>
            </a:pPr>
            <a:r>
              <a:rPr lang="en-US" sz="1100" dirty="0">
                <a:solidFill>
                  <a:srgbClr val="ADB2B9"/>
                </a:solidFill>
                <a:latin typeface="Calibri" pitchFamily="34" charset="0"/>
                <a:ea typeface="Calibri" pitchFamily="34" charset="-122"/>
                <a:cs typeface="Calibri" pitchFamily="34" charset="-120"/>
              </a:rPr>
              <a:t>de exercises.json et des pictogrammes, et chiffrer la licence.</a:t>
            </a:r>
            <a:endParaRPr lang="en-US" sz="1100" dirty="0"/>
          </a:p>
        </p:txBody>
      </p:sp>
      <p:sp>
        <p:nvSpPr>
          <p:cNvPr id="8" name="Shape 6"/>
          <p:cNvSpPr/>
          <p:nvPr/>
        </p:nvSpPr>
        <p:spPr>
          <a:xfrm>
            <a:off x="2798064" y="2011680"/>
            <a:ext cx="2112264" cy="2212848"/>
          </a:xfrm>
          <a:prstGeom prst="roundRect">
            <a:avLst>
              <a:gd name="adj" fmla="val 3030"/>
            </a:avLst>
          </a:prstGeom>
          <a:solidFill>
            <a:srgbClr val="1D2026"/>
          </a:solidFill>
          <a:ln w="9525">
            <a:solidFill>
              <a:srgbClr val="2F343D"/>
            </a:solidFill>
            <a:prstDash val="solid"/>
          </a:ln>
        </p:spPr>
      </p:sp>
      <p:sp>
        <p:nvSpPr>
          <p:cNvPr id="9" name="Text 7"/>
          <p:cNvSpPr txBox="1"/>
          <p:nvPr/>
        </p:nvSpPr>
        <p:spPr>
          <a:xfrm>
            <a:off x="3017520" y="2176272"/>
            <a:ext cx="1673352" cy="365760"/>
          </a:xfrm>
          <a:prstGeom prst="rect">
            <a:avLst/>
          </a:prstGeom>
          <a:noFill/>
          <a:ln/>
        </p:spPr>
        <p:txBody>
          <a:bodyPr wrap="square" lIns="0" tIns="0" rIns="0" bIns="0" rtlCol="0" anchor="ctr"/>
          <a:lstStyle/>
          <a:p>
            <a:pPr indent="0" marL="0">
              <a:buNone/>
            </a:pPr>
            <a:r>
              <a:rPr lang="en-US" sz="2400" b="1" dirty="0">
                <a:solidFill>
                  <a:srgbClr val="E3B23C"/>
                </a:solidFill>
                <a:latin typeface="Arial Narrow" pitchFamily="34" charset="0"/>
                <a:ea typeface="Arial Narrow" pitchFamily="34" charset="-122"/>
                <a:cs typeface="Arial Narrow" pitchFamily="34" charset="-120"/>
              </a:rPr>
              <a:t>02</a:t>
            </a:r>
            <a:endParaRPr lang="en-US" sz="2400" dirty="0"/>
          </a:p>
        </p:txBody>
      </p:sp>
      <p:sp>
        <p:nvSpPr>
          <p:cNvPr id="10" name="Text 8"/>
          <p:cNvSpPr txBox="1"/>
          <p:nvPr/>
        </p:nvSpPr>
        <p:spPr>
          <a:xfrm>
            <a:off x="3017520" y="2596896"/>
            <a:ext cx="1673352" cy="786384"/>
          </a:xfrm>
          <a:prstGeom prst="rect">
            <a:avLst/>
          </a:prstGeom>
          <a:noFill/>
          <a:ln/>
        </p:spPr>
        <p:txBody>
          <a:bodyPr wrap="square" lIns="0" tIns="0" rIns="0" bIns="0" rtlCol="0" anchor="t"/>
          <a:lstStyle/>
          <a:p>
            <a:pPr indent="0" marL="0">
              <a:lnSpc>
                <a:spcPts val="1700"/>
              </a:lnSpc>
              <a:buNone/>
            </a:pPr>
            <a:r>
              <a:rPr lang="en-US" sz="1250" b="1" dirty="0">
                <a:solidFill>
                  <a:srgbClr val="E8EAED"/>
                </a:solidFill>
                <a:latin typeface="Calibri" pitchFamily="34" charset="0"/>
                <a:ea typeface="Calibri" pitchFamily="34" charset="-122"/>
                <a:cs typeface="Calibri" pitchFamily="34" charset="-120"/>
              </a:rPr>
              <a:t>Préparer une grille d'entretien</a:t>
            </a:r>
            <a:endParaRPr lang="en-US" sz="1250" dirty="0"/>
          </a:p>
        </p:txBody>
      </p:sp>
      <p:sp>
        <p:nvSpPr>
          <p:cNvPr id="11" name="Text 9"/>
          <p:cNvSpPr txBox="1"/>
          <p:nvPr/>
        </p:nvSpPr>
        <p:spPr>
          <a:xfrm>
            <a:off x="3017520" y="3419856"/>
            <a:ext cx="1673352" cy="658368"/>
          </a:xfrm>
          <a:prstGeom prst="rect">
            <a:avLst/>
          </a:prstGeom>
          <a:noFill/>
          <a:ln/>
        </p:spPr>
        <p:txBody>
          <a:bodyPr wrap="square" lIns="0" tIns="0" rIns="0" bIns="0" rtlCol="0" anchor="t"/>
          <a:lstStyle/>
          <a:p>
            <a:pPr indent="0" marL="0">
              <a:lnSpc>
                <a:spcPts val="1500"/>
              </a:lnSpc>
              <a:buNone/>
            </a:pPr>
            <a:r>
              <a:rPr lang="en-US" sz="1100" dirty="0">
                <a:solidFill>
                  <a:srgbClr val="ADB2B9"/>
                </a:solidFill>
                <a:latin typeface="Calibri" pitchFamily="34" charset="0"/>
                <a:ea typeface="Calibri" pitchFamily="34" charset="-122"/>
                <a:cs typeface="Calibri" pitchFamily="34" charset="-120"/>
              </a:rPr>
              <a:t>et contacter 10 coachs et diététiciens.</a:t>
            </a:r>
            <a:endParaRPr lang="en-US" sz="1100" dirty="0"/>
          </a:p>
        </p:txBody>
      </p:sp>
      <p:sp>
        <p:nvSpPr>
          <p:cNvPr id="12" name="Shape 10"/>
          <p:cNvSpPr/>
          <p:nvPr/>
        </p:nvSpPr>
        <p:spPr>
          <a:xfrm>
            <a:off x="5047488" y="2011680"/>
            <a:ext cx="2112264" cy="2212848"/>
          </a:xfrm>
          <a:prstGeom prst="roundRect">
            <a:avLst>
              <a:gd name="adj" fmla="val 3030"/>
            </a:avLst>
          </a:prstGeom>
          <a:solidFill>
            <a:srgbClr val="1D2026"/>
          </a:solidFill>
          <a:ln w="9525">
            <a:solidFill>
              <a:srgbClr val="2F343D"/>
            </a:solidFill>
            <a:prstDash val="solid"/>
          </a:ln>
        </p:spPr>
      </p:sp>
      <p:sp>
        <p:nvSpPr>
          <p:cNvPr id="13" name="Text 11"/>
          <p:cNvSpPr txBox="1"/>
          <p:nvPr/>
        </p:nvSpPr>
        <p:spPr>
          <a:xfrm>
            <a:off x="5266944" y="2176272"/>
            <a:ext cx="1673352" cy="365760"/>
          </a:xfrm>
          <a:prstGeom prst="rect">
            <a:avLst/>
          </a:prstGeom>
          <a:noFill/>
          <a:ln/>
        </p:spPr>
        <p:txBody>
          <a:bodyPr wrap="square" lIns="0" tIns="0" rIns="0" bIns="0" rtlCol="0" anchor="ctr"/>
          <a:lstStyle/>
          <a:p>
            <a:pPr indent="0" marL="0">
              <a:buNone/>
            </a:pPr>
            <a:r>
              <a:rPr lang="en-US" sz="2400" b="1" dirty="0">
                <a:solidFill>
                  <a:srgbClr val="E3B23C"/>
                </a:solidFill>
                <a:latin typeface="Arial Narrow" pitchFamily="34" charset="0"/>
                <a:ea typeface="Arial Narrow" pitchFamily="34" charset="-122"/>
                <a:cs typeface="Arial Narrow" pitchFamily="34" charset="-120"/>
              </a:rPr>
              <a:t>03</a:t>
            </a:r>
            <a:endParaRPr lang="en-US" sz="2400" dirty="0"/>
          </a:p>
        </p:txBody>
      </p:sp>
      <p:sp>
        <p:nvSpPr>
          <p:cNvPr id="14" name="Text 12"/>
          <p:cNvSpPr txBox="1"/>
          <p:nvPr/>
        </p:nvSpPr>
        <p:spPr>
          <a:xfrm>
            <a:off x="5266944" y="2596896"/>
            <a:ext cx="1673352" cy="786384"/>
          </a:xfrm>
          <a:prstGeom prst="rect">
            <a:avLst/>
          </a:prstGeom>
          <a:noFill/>
          <a:ln/>
        </p:spPr>
        <p:txBody>
          <a:bodyPr wrap="square" lIns="0" tIns="0" rIns="0" bIns="0" rtlCol="0" anchor="t"/>
          <a:lstStyle/>
          <a:p>
            <a:pPr indent="0" marL="0">
              <a:lnSpc>
                <a:spcPts val="1700"/>
              </a:lnSpc>
              <a:buNone/>
            </a:pPr>
            <a:r>
              <a:rPr lang="en-US" sz="1250" b="1" dirty="0">
                <a:solidFill>
                  <a:srgbClr val="E8EAED"/>
                </a:solidFill>
                <a:latin typeface="Calibri" pitchFamily="34" charset="0"/>
                <a:ea typeface="Calibri" pitchFamily="34" charset="-122"/>
                <a:cs typeface="Calibri" pitchFamily="34" charset="-120"/>
              </a:rPr>
              <a:t>Tourner les vidéos de démonstration</a:t>
            </a:r>
            <a:endParaRPr lang="en-US" sz="1250" dirty="0"/>
          </a:p>
        </p:txBody>
      </p:sp>
      <p:sp>
        <p:nvSpPr>
          <p:cNvPr id="15" name="Text 13"/>
          <p:cNvSpPr txBox="1"/>
          <p:nvPr/>
        </p:nvSpPr>
        <p:spPr>
          <a:xfrm>
            <a:off x="5266944" y="3419856"/>
            <a:ext cx="1673352" cy="658368"/>
          </a:xfrm>
          <a:prstGeom prst="rect">
            <a:avLst/>
          </a:prstGeom>
          <a:noFill/>
          <a:ln/>
        </p:spPr>
        <p:txBody>
          <a:bodyPr wrap="square" lIns="0" tIns="0" rIns="0" bIns="0" rtlCol="0" anchor="t"/>
          <a:lstStyle/>
          <a:p>
            <a:pPr indent="0" marL="0">
              <a:lnSpc>
                <a:spcPts val="1500"/>
              </a:lnSpc>
              <a:buNone/>
            </a:pPr>
            <a:r>
              <a:rPr lang="en-US" sz="1100" dirty="0">
                <a:solidFill>
                  <a:srgbClr val="ADB2B9"/>
                </a:solidFill>
                <a:latin typeface="Calibri" pitchFamily="34" charset="0"/>
                <a:ea typeface="Calibri" pitchFamily="34" charset="-122"/>
                <a:cs typeface="Calibri" pitchFamily="34" charset="-120"/>
              </a:rPr>
              <a:t>— le plan de tournage est prêt.</a:t>
            </a:r>
            <a:endParaRPr lang="en-US" sz="1100" dirty="0"/>
          </a:p>
        </p:txBody>
      </p:sp>
      <p:sp>
        <p:nvSpPr>
          <p:cNvPr id="16" name="Shape 14"/>
          <p:cNvSpPr/>
          <p:nvPr/>
        </p:nvSpPr>
        <p:spPr>
          <a:xfrm>
            <a:off x="7296912" y="2011680"/>
            <a:ext cx="2112264" cy="2212848"/>
          </a:xfrm>
          <a:prstGeom prst="roundRect">
            <a:avLst>
              <a:gd name="adj" fmla="val 3030"/>
            </a:avLst>
          </a:prstGeom>
          <a:solidFill>
            <a:srgbClr val="1D2026"/>
          </a:solidFill>
          <a:ln w="9525">
            <a:solidFill>
              <a:srgbClr val="2F343D"/>
            </a:solidFill>
            <a:prstDash val="solid"/>
          </a:ln>
        </p:spPr>
      </p:sp>
      <p:sp>
        <p:nvSpPr>
          <p:cNvPr id="17" name="Text 15"/>
          <p:cNvSpPr txBox="1"/>
          <p:nvPr/>
        </p:nvSpPr>
        <p:spPr>
          <a:xfrm>
            <a:off x="7516368" y="2176272"/>
            <a:ext cx="1673352" cy="365760"/>
          </a:xfrm>
          <a:prstGeom prst="rect">
            <a:avLst/>
          </a:prstGeom>
          <a:noFill/>
          <a:ln/>
        </p:spPr>
        <p:txBody>
          <a:bodyPr wrap="square" lIns="0" tIns="0" rIns="0" bIns="0" rtlCol="0" anchor="ctr"/>
          <a:lstStyle/>
          <a:p>
            <a:pPr indent="0" marL="0">
              <a:buNone/>
            </a:pPr>
            <a:r>
              <a:rPr lang="en-US" sz="2400" b="1" dirty="0">
                <a:solidFill>
                  <a:srgbClr val="E3B23C"/>
                </a:solidFill>
                <a:latin typeface="Arial Narrow" pitchFamily="34" charset="0"/>
                <a:ea typeface="Arial Narrow" pitchFamily="34" charset="-122"/>
                <a:cs typeface="Arial Narrow" pitchFamily="34" charset="-120"/>
              </a:rPr>
              <a:t>04</a:t>
            </a:r>
            <a:endParaRPr lang="en-US" sz="2400" dirty="0"/>
          </a:p>
        </p:txBody>
      </p:sp>
      <p:sp>
        <p:nvSpPr>
          <p:cNvPr id="18" name="Text 16"/>
          <p:cNvSpPr txBox="1"/>
          <p:nvPr/>
        </p:nvSpPr>
        <p:spPr>
          <a:xfrm>
            <a:off x="7516368" y="2596896"/>
            <a:ext cx="1673352" cy="786384"/>
          </a:xfrm>
          <a:prstGeom prst="rect">
            <a:avLst/>
          </a:prstGeom>
          <a:noFill/>
          <a:ln/>
        </p:spPr>
        <p:txBody>
          <a:bodyPr wrap="square" lIns="0" tIns="0" rIns="0" bIns="0" rtlCol="0" anchor="t"/>
          <a:lstStyle/>
          <a:p>
            <a:pPr indent="0" marL="0">
              <a:lnSpc>
                <a:spcPts val="1700"/>
              </a:lnSpc>
              <a:buNone/>
            </a:pPr>
            <a:r>
              <a:rPr lang="en-US" sz="1250" b="1" dirty="0">
                <a:solidFill>
                  <a:srgbClr val="E8EAED"/>
                </a:solidFill>
                <a:latin typeface="Calibri" pitchFamily="34" charset="0"/>
                <a:ea typeface="Calibri" pitchFamily="34" charset="-122"/>
                <a:cs typeface="Calibri" pitchFamily="34" charset="-120"/>
              </a:rPr>
              <a:t>Consulter un juriste</a:t>
            </a:r>
            <a:endParaRPr lang="en-US" sz="1250" dirty="0"/>
          </a:p>
        </p:txBody>
      </p:sp>
      <p:sp>
        <p:nvSpPr>
          <p:cNvPr id="19" name="Text 17"/>
          <p:cNvSpPr txBox="1"/>
          <p:nvPr/>
        </p:nvSpPr>
        <p:spPr>
          <a:xfrm>
            <a:off x="7516368" y="3419856"/>
            <a:ext cx="1673352" cy="658368"/>
          </a:xfrm>
          <a:prstGeom prst="rect">
            <a:avLst/>
          </a:prstGeom>
          <a:noFill/>
          <a:ln/>
        </p:spPr>
        <p:txBody>
          <a:bodyPr wrap="square" lIns="0" tIns="0" rIns="0" bIns="0" rtlCol="0" anchor="t"/>
          <a:lstStyle/>
          <a:p>
            <a:pPr indent="0" marL="0">
              <a:lnSpc>
                <a:spcPts val="1500"/>
              </a:lnSpc>
              <a:buNone/>
            </a:pPr>
            <a:r>
              <a:rPr lang="en-US" sz="1100" dirty="0">
                <a:solidFill>
                  <a:srgbClr val="ADB2B9"/>
                </a:solidFill>
                <a:latin typeface="Calibri" pitchFamily="34" charset="0"/>
                <a:ea typeface="Calibri" pitchFamily="34" charset="-122"/>
                <a:cs typeface="Calibri" pitchFamily="34" charset="-120"/>
              </a:rPr>
              <a:t>sur le RGPD et la question HDS.</a:t>
            </a:r>
            <a:endParaRPr lang="en-US" sz="1100" dirty="0"/>
          </a:p>
        </p:txBody>
      </p:sp>
      <p:sp>
        <p:nvSpPr>
          <p:cNvPr id="20" name="Shape 18"/>
          <p:cNvSpPr/>
          <p:nvPr/>
        </p:nvSpPr>
        <p:spPr>
          <a:xfrm>
            <a:off x="9546336" y="2011680"/>
            <a:ext cx="2112264" cy="2212848"/>
          </a:xfrm>
          <a:prstGeom prst="roundRect">
            <a:avLst>
              <a:gd name="adj" fmla="val 3030"/>
            </a:avLst>
          </a:prstGeom>
          <a:solidFill>
            <a:srgbClr val="1D2026"/>
          </a:solidFill>
          <a:ln w="9525">
            <a:solidFill>
              <a:srgbClr val="2F343D"/>
            </a:solidFill>
            <a:prstDash val="solid"/>
          </a:ln>
        </p:spPr>
      </p:sp>
      <p:sp>
        <p:nvSpPr>
          <p:cNvPr id="21" name="Text 19"/>
          <p:cNvSpPr txBox="1"/>
          <p:nvPr/>
        </p:nvSpPr>
        <p:spPr>
          <a:xfrm>
            <a:off x="9765792" y="2176272"/>
            <a:ext cx="1673352" cy="365760"/>
          </a:xfrm>
          <a:prstGeom prst="rect">
            <a:avLst/>
          </a:prstGeom>
          <a:noFill/>
          <a:ln/>
        </p:spPr>
        <p:txBody>
          <a:bodyPr wrap="square" lIns="0" tIns="0" rIns="0" bIns="0" rtlCol="0" anchor="ctr"/>
          <a:lstStyle/>
          <a:p>
            <a:pPr indent="0" marL="0">
              <a:buNone/>
            </a:pPr>
            <a:r>
              <a:rPr lang="en-US" sz="2400" b="1" dirty="0">
                <a:solidFill>
                  <a:srgbClr val="E3B23C"/>
                </a:solidFill>
                <a:latin typeface="Arial Narrow" pitchFamily="34" charset="0"/>
                <a:ea typeface="Arial Narrow" pitchFamily="34" charset="-122"/>
                <a:cs typeface="Arial Narrow" pitchFamily="34" charset="-120"/>
              </a:rPr>
              <a:t>05</a:t>
            </a:r>
            <a:endParaRPr lang="en-US" sz="2400" dirty="0"/>
          </a:p>
        </p:txBody>
      </p:sp>
      <p:sp>
        <p:nvSpPr>
          <p:cNvPr id="22" name="Text 20"/>
          <p:cNvSpPr txBox="1"/>
          <p:nvPr/>
        </p:nvSpPr>
        <p:spPr>
          <a:xfrm>
            <a:off x="9765792" y="2596896"/>
            <a:ext cx="1673352" cy="786384"/>
          </a:xfrm>
          <a:prstGeom prst="rect">
            <a:avLst/>
          </a:prstGeom>
          <a:noFill/>
          <a:ln/>
        </p:spPr>
        <p:txBody>
          <a:bodyPr wrap="square" lIns="0" tIns="0" rIns="0" bIns="0" rtlCol="0" anchor="t"/>
          <a:lstStyle/>
          <a:p>
            <a:pPr indent="0" marL="0">
              <a:lnSpc>
                <a:spcPts val="1700"/>
              </a:lnSpc>
              <a:buNone/>
            </a:pPr>
            <a:r>
              <a:rPr lang="en-US" sz="1250" b="1" dirty="0">
                <a:solidFill>
                  <a:srgbClr val="E8EAED"/>
                </a:solidFill>
                <a:latin typeface="Calibri" pitchFamily="34" charset="0"/>
                <a:ea typeface="Calibri" pitchFamily="34" charset="-122"/>
                <a:cs typeface="Calibri" pitchFamily="34" charset="-120"/>
              </a:rPr>
              <a:t>Esquisser le partage coach ↔ client</a:t>
            </a:r>
            <a:endParaRPr lang="en-US" sz="1250" dirty="0"/>
          </a:p>
        </p:txBody>
      </p:sp>
      <p:sp>
        <p:nvSpPr>
          <p:cNvPr id="23" name="Text 21"/>
          <p:cNvSpPr txBox="1"/>
          <p:nvPr/>
        </p:nvSpPr>
        <p:spPr>
          <a:xfrm>
            <a:off x="9765792" y="3419856"/>
            <a:ext cx="1673352" cy="658368"/>
          </a:xfrm>
          <a:prstGeom prst="rect">
            <a:avLst/>
          </a:prstGeom>
          <a:noFill/>
          <a:ln/>
        </p:spPr>
        <p:txBody>
          <a:bodyPr wrap="square" lIns="0" tIns="0" rIns="0" bIns="0" rtlCol="0" anchor="t"/>
          <a:lstStyle/>
          <a:p>
            <a:pPr indent="0" marL="0">
              <a:lnSpc>
                <a:spcPts val="1500"/>
              </a:lnSpc>
              <a:buNone/>
            </a:pPr>
            <a:r>
              <a:rPr lang="en-US" sz="1100" dirty="0">
                <a:solidFill>
                  <a:srgbClr val="ADB2B9"/>
                </a:solidFill>
                <a:latin typeface="Calibri" pitchFamily="34" charset="0"/>
                <a:ea typeface="Calibri" pitchFamily="34" charset="-122"/>
                <a:cs typeface="Calibri" pitchFamily="34" charset="-120"/>
              </a:rPr>
              <a:t>sans écrire de code.</a:t>
            </a:r>
            <a:endParaRPr lang="en-US" sz="1100" dirty="0"/>
          </a:p>
        </p:txBody>
      </p:sp>
      <p:sp>
        <p:nvSpPr>
          <p:cNvPr id="24" name="Shape 22"/>
          <p:cNvSpPr/>
          <p:nvPr/>
        </p:nvSpPr>
        <p:spPr>
          <a:xfrm>
            <a:off x="548640" y="4480560"/>
            <a:ext cx="11091672" cy="1207008"/>
          </a:xfrm>
          <a:prstGeom prst="roundRect">
            <a:avLst>
              <a:gd name="adj" fmla="val 5303"/>
            </a:avLst>
          </a:prstGeom>
          <a:solidFill>
            <a:srgbClr val="23272E"/>
          </a:solidFill>
          <a:ln w="15875">
            <a:solidFill>
              <a:srgbClr val="E3B23C"/>
            </a:solidFill>
            <a:prstDash val="solid"/>
          </a:ln>
        </p:spPr>
      </p:sp>
      <p:sp>
        <p:nvSpPr>
          <p:cNvPr id="25" name="Text 23"/>
          <p:cNvSpPr txBox="1"/>
          <p:nvPr/>
        </p:nvSpPr>
        <p:spPr>
          <a:xfrm>
            <a:off x="896112" y="4608576"/>
            <a:ext cx="3657600" cy="292608"/>
          </a:xfrm>
          <a:prstGeom prst="rect">
            <a:avLst/>
          </a:prstGeom>
          <a:noFill/>
          <a:ln/>
        </p:spPr>
        <p:txBody>
          <a:bodyPr wrap="square" lIns="0" tIns="0" rIns="0" bIns="0" rtlCol="0" anchor="ctr"/>
          <a:lstStyle/>
          <a:p>
            <a:pPr indent="0" marL="0">
              <a:buNone/>
            </a:pPr>
            <a:r>
              <a:rPr lang="en-US" sz="2000" b="1" dirty="0">
                <a:solidFill>
                  <a:srgbClr val="E3B23C"/>
                </a:solidFill>
                <a:latin typeface="Arial Narrow" pitchFamily="34" charset="0"/>
                <a:ea typeface="Arial Narrow" pitchFamily="34" charset="-122"/>
                <a:cs typeface="Arial Narrow" pitchFamily="34" charset="-120"/>
              </a:rPr>
              <a:t>Ce qu'on demande aujourd'hui</a:t>
            </a:r>
            <a:endParaRPr lang="en-US" sz="2000" dirty="0"/>
          </a:p>
        </p:txBody>
      </p:sp>
      <p:sp>
        <p:nvSpPr>
          <p:cNvPr id="26" name="Text 24"/>
          <p:cNvSpPr txBox="1"/>
          <p:nvPr/>
        </p:nvSpPr>
        <p:spPr>
          <a:xfrm>
            <a:off x="896112" y="4919472"/>
            <a:ext cx="10396728" cy="694944"/>
          </a:xfrm>
          <a:prstGeom prst="rect">
            <a:avLst/>
          </a:prstGeom>
          <a:noFill/>
          <a:ln/>
        </p:spPr>
        <p:txBody>
          <a:bodyPr wrap="square" lIns="0" tIns="0" rIns="0" bIns="0" rtlCol="0" anchor="t"/>
          <a:lstStyle/>
          <a:p>
            <a:pPr indent="0" marL="0">
              <a:lnSpc>
                <a:spcPts val="1800"/>
              </a:lnSpc>
              <a:buNone/>
            </a:pPr>
            <a:r>
              <a:rPr lang="en-US" sz="1300" dirty="0">
                <a:solidFill>
                  <a:srgbClr val="ADB2B9"/>
                </a:solidFill>
                <a:latin typeface="Calibri" pitchFamily="34" charset="0"/>
                <a:ea typeface="Calibri" pitchFamily="34" charset="-122"/>
                <a:cs typeface="Calibri" pitchFamily="34" charset="-120"/>
              </a:rPr>
              <a:t>Cinq coachs ou diététiciens prêts à un entretien d'une heure, puis à un pilote gratuit de trois mois. C'est la seule chose qui remplace les hypothèses de la diapositive 13 par des chiffres réels — et c'est ce qui conditionne la décision du mois 6.</a:t>
            </a:r>
            <a:endParaRPr lang="en-US" sz="1300" dirty="0"/>
          </a:p>
        </p:txBody>
      </p:sp>
      <p:sp>
        <p:nvSpPr>
          <p:cNvPr id="27" name="Text 25"/>
          <p:cNvSpPr txBox="1"/>
          <p:nvPr/>
        </p:nvSpPr>
        <p:spPr>
          <a:xfrm>
            <a:off x="548640" y="6336792"/>
            <a:ext cx="8229600" cy="274320"/>
          </a:xfrm>
          <a:prstGeom prst="rect">
            <a:avLst/>
          </a:prstGeom>
          <a:noFill/>
          <a:ln/>
        </p:spPr>
        <p:txBody>
          <a:bodyPr wrap="square" lIns="0" tIns="0" rIns="0" bIns="0" rtlCol="0" anchor="ctr"/>
          <a:lstStyle/>
          <a:p>
            <a:pPr algn="l" indent="0" marL="0">
              <a:buNone/>
            </a:pPr>
            <a:r>
              <a:rPr lang="en-US" sz="900" dirty="0">
                <a:solidFill>
                  <a:srgbClr val="868E99"/>
                </a:solidFill>
                <a:latin typeface="Calibri" pitchFamily="34" charset="0"/>
                <a:ea typeface="Calibri" pitchFamily="34" charset="-122"/>
                <a:cs typeface="Calibri" pitchFamily="34" charset="-120"/>
              </a:rPr>
              <a:t>fitcarnet Pro · business plan · 21 septembre 2026</a:t>
            </a:r>
            <a:endParaRPr lang="en-US" sz="900" dirty="0"/>
          </a:p>
        </p:txBody>
      </p:sp>
      <p:sp>
        <p:nvSpPr>
          <p:cNvPr id="28" name="Text 26"/>
          <p:cNvSpPr txBox="1"/>
          <p:nvPr/>
        </p:nvSpPr>
        <p:spPr>
          <a:xfrm>
            <a:off x="8897112" y="6336792"/>
            <a:ext cx="2743200" cy="274320"/>
          </a:xfrm>
          <a:prstGeom prst="rect">
            <a:avLst/>
          </a:prstGeom>
          <a:noFill/>
          <a:ln/>
        </p:spPr>
        <p:txBody>
          <a:bodyPr wrap="square" lIns="0" tIns="0" rIns="0" bIns="0" rtlCol="0" anchor="ctr"/>
          <a:lstStyle/>
          <a:p>
            <a:pPr algn="r" indent="0" marL="0">
              <a:buNone/>
            </a:pPr>
            <a:r>
              <a:rPr lang="en-US" sz="900" dirty="0">
                <a:solidFill>
                  <a:srgbClr val="868E99"/>
                </a:solidFill>
                <a:latin typeface="Calibri" pitchFamily="34" charset="0"/>
                <a:ea typeface="Calibri" pitchFamily="34" charset="-122"/>
                <a:cs typeface="Calibri" pitchFamily="34" charset="-120"/>
              </a:rPr>
              <a:t>21 / 24</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4161A"/>
        </a:solidFill>
      </p:bgPr>
    </p:bg>
    <p:spTree>
      <p:nvGrpSpPr>
        <p:cNvPr id="1" name=""/>
        <p:cNvGrpSpPr/>
        <p:nvPr/>
      </p:nvGrpSpPr>
      <p:grpSpPr>
        <a:xfrm>
          <a:off x="0" y="0"/>
          <a:ext cx="0" cy="0"/>
          <a:chOff x="0" y="0"/>
          <a:chExt cx="0" cy="0"/>
        </a:xfrm>
      </p:grpSpPr>
      <p:sp>
        <p:nvSpPr>
          <p:cNvPr id="2" name="Text 0"/>
          <p:cNvSpPr txBox="1"/>
          <p:nvPr/>
        </p:nvSpPr>
        <p:spPr>
          <a:xfrm>
            <a:off x="548640" y="347472"/>
            <a:ext cx="11091672" cy="237744"/>
          </a:xfrm>
          <a:prstGeom prst="rect">
            <a:avLst/>
          </a:prstGeom>
          <a:noFill/>
          <a:ln/>
        </p:spPr>
        <p:txBody>
          <a:bodyPr wrap="square" lIns="0" tIns="0" rIns="0" bIns="0" rtlCol="0" anchor="ctr"/>
          <a:lstStyle/>
          <a:p>
            <a:pPr indent="0" marL="0">
              <a:buNone/>
            </a:pPr>
            <a:r>
              <a:rPr lang="en-US" sz="1050" b="1" spc="200" kern="0" dirty="0">
                <a:solidFill>
                  <a:srgbClr val="E3B23C"/>
                </a:solidFill>
                <a:latin typeface="Calibri" pitchFamily="34" charset="0"/>
                <a:ea typeface="Calibri" pitchFamily="34" charset="-122"/>
                <a:cs typeface="Calibri" pitchFamily="34" charset="-120"/>
              </a:rPr>
              <a:t>ANNEXE</a:t>
            </a:r>
            <a:endParaRPr lang="en-US" sz="1050" dirty="0"/>
          </a:p>
        </p:txBody>
      </p:sp>
      <p:sp>
        <p:nvSpPr>
          <p:cNvPr id="3" name="Text 1"/>
          <p:cNvSpPr txBox="1"/>
          <p:nvPr/>
        </p:nvSpPr>
        <p:spPr>
          <a:xfrm>
            <a:off x="548640" y="603504"/>
            <a:ext cx="11091672" cy="566928"/>
          </a:xfrm>
          <a:prstGeom prst="rect">
            <a:avLst/>
          </a:prstGeom>
          <a:noFill/>
          <a:ln/>
        </p:spPr>
        <p:txBody>
          <a:bodyPr wrap="square" lIns="0" tIns="0" rIns="0" bIns="0" rtlCol="0" anchor="ctr"/>
          <a:lstStyle/>
          <a:p>
            <a:pPr indent="0" marL="0">
              <a:buNone/>
            </a:pPr>
            <a:r>
              <a:rPr lang="en-US" sz="3000" b="1" dirty="0">
                <a:solidFill>
                  <a:srgbClr val="E8EAED"/>
                </a:solidFill>
                <a:latin typeface="Arial Narrow" pitchFamily="34" charset="0"/>
                <a:ea typeface="Arial Narrow" pitchFamily="34" charset="-122"/>
                <a:cs typeface="Arial Narrow" pitchFamily="34" charset="-120"/>
              </a:rPr>
              <a:t>Détail des charges · scénario central</a:t>
            </a:r>
            <a:endParaRPr lang="en-US" sz="3000" dirty="0"/>
          </a:p>
        </p:txBody>
      </p:sp>
      <p:sp>
        <p:nvSpPr>
          <p:cNvPr id="4" name="Text 2"/>
          <p:cNvSpPr txBox="1"/>
          <p:nvPr/>
        </p:nvSpPr>
        <p:spPr>
          <a:xfrm>
            <a:off x="548640" y="1188720"/>
            <a:ext cx="11091672" cy="310896"/>
          </a:xfrm>
          <a:prstGeom prst="rect">
            <a:avLst/>
          </a:prstGeom>
          <a:noFill/>
          <a:ln/>
        </p:spPr>
        <p:txBody>
          <a:bodyPr wrap="square" lIns="0" tIns="0" rIns="0" bIns="0" rtlCol="0" anchor="ctr"/>
          <a:lstStyle/>
          <a:p>
            <a:pPr indent="0" marL="0">
              <a:buNone/>
            </a:pPr>
            <a:r>
              <a:rPr lang="en-US" sz="1450" dirty="0">
                <a:solidFill>
                  <a:srgbClr val="ADB2B9"/>
                </a:solidFill>
                <a:latin typeface="Calibri" pitchFamily="34" charset="0"/>
                <a:ea typeface="Calibri" pitchFamily="34" charset="-122"/>
                <a:cs typeface="Calibri" pitchFamily="34" charset="-120"/>
              </a:rPr>
              <a:t>En euros HT, avant rémunération du fondateur</a:t>
            </a:r>
            <a:endParaRPr lang="en-US" sz="1450" dirty="0"/>
          </a:p>
        </p:txBody>
      </p:sp>
      <p:sp>
        <p:nvSpPr>
          <p:cNvPr id="5" name="Text 3"/>
          <p:cNvSpPr txBox="1"/>
          <p:nvPr/>
        </p:nvSpPr>
        <p:spPr>
          <a:xfrm>
            <a:off x="548640" y="1755648"/>
            <a:ext cx="5605272" cy="256032"/>
          </a:xfrm>
          <a:prstGeom prst="rect">
            <a:avLst/>
          </a:prstGeom>
          <a:noFill/>
          <a:ln/>
        </p:spPr>
        <p:txBody>
          <a:bodyPr wrap="square" lIns="0" tIns="0" rIns="0" bIns="0" rtlCol="0" anchor="ctr"/>
          <a:lstStyle/>
          <a:p>
            <a:pPr algn="l" indent="0" marL="0">
              <a:buNone/>
            </a:pPr>
            <a:r>
              <a:rPr lang="en-US" sz="850" b="1" spc="100" kern="0" dirty="0">
                <a:solidFill>
                  <a:srgbClr val="868E99"/>
                </a:solidFill>
                <a:latin typeface="Calibri" pitchFamily="34" charset="0"/>
                <a:ea typeface="Calibri" pitchFamily="34" charset="-122"/>
                <a:cs typeface="Calibri" pitchFamily="34" charset="-120"/>
              </a:rPr>
              <a:t>POSTE</a:t>
            </a:r>
            <a:endParaRPr lang="en-US" sz="850" dirty="0"/>
          </a:p>
        </p:txBody>
      </p:sp>
      <p:sp>
        <p:nvSpPr>
          <p:cNvPr id="6" name="Text 4"/>
          <p:cNvSpPr txBox="1"/>
          <p:nvPr/>
        </p:nvSpPr>
        <p:spPr>
          <a:xfrm>
            <a:off x="6153912" y="1755648"/>
            <a:ext cx="1828800" cy="256032"/>
          </a:xfrm>
          <a:prstGeom prst="rect">
            <a:avLst/>
          </a:prstGeom>
          <a:noFill/>
          <a:ln/>
        </p:spPr>
        <p:txBody>
          <a:bodyPr wrap="square" lIns="0" tIns="0" rIns="0" bIns="0" rtlCol="0" anchor="ctr"/>
          <a:lstStyle/>
          <a:p>
            <a:pPr algn="r" indent="0" marL="0">
              <a:buNone/>
            </a:pPr>
            <a:r>
              <a:rPr lang="en-US" sz="850" b="1" spc="100" kern="0" dirty="0">
                <a:solidFill>
                  <a:srgbClr val="868E99"/>
                </a:solidFill>
                <a:latin typeface="Calibri" pitchFamily="34" charset="0"/>
                <a:ea typeface="Calibri" pitchFamily="34" charset="-122"/>
                <a:cs typeface="Calibri" pitchFamily="34" charset="-120"/>
              </a:rPr>
              <a:t>ANNÉE 1</a:t>
            </a:r>
            <a:endParaRPr lang="en-US" sz="850" dirty="0"/>
          </a:p>
        </p:txBody>
      </p:sp>
      <p:sp>
        <p:nvSpPr>
          <p:cNvPr id="7" name="Text 5"/>
          <p:cNvSpPr txBox="1"/>
          <p:nvPr/>
        </p:nvSpPr>
        <p:spPr>
          <a:xfrm>
            <a:off x="7982712" y="1755648"/>
            <a:ext cx="1828800" cy="256032"/>
          </a:xfrm>
          <a:prstGeom prst="rect">
            <a:avLst/>
          </a:prstGeom>
          <a:noFill/>
          <a:ln/>
        </p:spPr>
        <p:txBody>
          <a:bodyPr wrap="square" lIns="0" tIns="0" rIns="0" bIns="0" rtlCol="0" anchor="ctr"/>
          <a:lstStyle/>
          <a:p>
            <a:pPr algn="r" indent="0" marL="0">
              <a:buNone/>
            </a:pPr>
            <a:r>
              <a:rPr lang="en-US" sz="850" b="1" spc="100" kern="0" dirty="0">
                <a:solidFill>
                  <a:srgbClr val="868E99"/>
                </a:solidFill>
                <a:latin typeface="Calibri" pitchFamily="34" charset="0"/>
                <a:ea typeface="Calibri" pitchFamily="34" charset="-122"/>
                <a:cs typeface="Calibri" pitchFamily="34" charset="-120"/>
              </a:rPr>
              <a:t>ANNÉE 2</a:t>
            </a:r>
            <a:endParaRPr lang="en-US" sz="850" dirty="0"/>
          </a:p>
        </p:txBody>
      </p:sp>
      <p:sp>
        <p:nvSpPr>
          <p:cNvPr id="8" name="Text 6"/>
          <p:cNvSpPr txBox="1"/>
          <p:nvPr/>
        </p:nvSpPr>
        <p:spPr>
          <a:xfrm>
            <a:off x="9811512" y="1755648"/>
            <a:ext cx="1828800" cy="256032"/>
          </a:xfrm>
          <a:prstGeom prst="rect">
            <a:avLst/>
          </a:prstGeom>
          <a:noFill/>
          <a:ln/>
        </p:spPr>
        <p:txBody>
          <a:bodyPr wrap="square" lIns="0" tIns="0" rIns="0" bIns="0" rtlCol="0" anchor="ctr"/>
          <a:lstStyle/>
          <a:p>
            <a:pPr algn="r" indent="0" marL="0">
              <a:buNone/>
            </a:pPr>
            <a:r>
              <a:rPr lang="en-US" sz="850" b="1" spc="100" kern="0" dirty="0">
                <a:solidFill>
                  <a:srgbClr val="868E99"/>
                </a:solidFill>
                <a:latin typeface="Calibri" pitchFamily="34" charset="0"/>
                <a:ea typeface="Calibri" pitchFamily="34" charset="-122"/>
                <a:cs typeface="Calibri" pitchFamily="34" charset="-120"/>
              </a:rPr>
              <a:t>ANNÉE 3</a:t>
            </a:r>
            <a:endParaRPr lang="en-US" sz="850" dirty="0"/>
          </a:p>
        </p:txBody>
      </p:sp>
      <p:sp>
        <p:nvSpPr>
          <p:cNvPr id="9" name="Text 7"/>
          <p:cNvSpPr txBox="1"/>
          <p:nvPr/>
        </p:nvSpPr>
        <p:spPr>
          <a:xfrm>
            <a:off x="548640" y="2029968"/>
            <a:ext cx="5605272" cy="306324"/>
          </a:xfrm>
          <a:prstGeom prst="rect">
            <a:avLst/>
          </a:prstGeom>
          <a:noFill/>
          <a:ln/>
        </p:spPr>
        <p:txBody>
          <a:bodyPr wrap="square" lIns="0" tIns="0" rIns="0" bIns="0" rtlCol="0" anchor="ctr"/>
          <a:lstStyle/>
          <a:p>
            <a:pPr algn="l" indent="0" marL="0">
              <a:buNone/>
            </a:pPr>
            <a:r>
              <a:rPr lang="en-US" sz="1100" dirty="0">
                <a:solidFill>
                  <a:srgbClr val="E8EAED"/>
                </a:solidFill>
                <a:latin typeface="Calibri" pitchFamily="34" charset="0"/>
                <a:ea typeface="Calibri" pitchFamily="34" charset="-122"/>
                <a:cs typeface="Calibri" pitchFamily="34" charset="-120"/>
              </a:rPr>
              <a:t>Chiffre d'affaires</a:t>
            </a:r>
            <a:endParaRPr lang="en-US" sz="1100" dirty="0"/>
          </a:p>
        </p:txBody>
      </p:sp>
      <p:sp>
        <p:nvSpPr>
          <p:cNvPr id="10" name="Text 8"/>
          <p:cNvSpPr txBox="1"/>
          <p:nvPr/>
        </p:nvSpPr>
        <p:spPr>
          <a:xfrm>
            <a:off x="6153912" y="2029968"/>
            <a:ext cx="1828800" cy="306324"/>
          </a:xfrm>
          <a:prstGeom prst="rect">
            <a:avLst/>
          </a:prstGeom>
          <a:noFill/>
          <a:ln/>
        </p:spPr>
        <p:txBody>
          <a:bodyPr wrap="square" lIns="0" tIns="0" rIns="0" bIns="0" rtlCol="0" anchor="ctr"/>
          <a:lstStyle/>
          <a:p>
            <a:pPr algn="r" indent="0" marL="0">
              <a:buNone/>
            </a:pPr>
            <a:r>
              <a:rPr lang="en-US" sz="1100" b="1" dirty="0">
                <a:solidFill>
                  <a:srgbClr val="E3B23C"/>
                </a:solidFill>
                <a:latin typeface="Calibri" pitchFamily="34" charset="0"/>
                <a:ea typeface="Calibri" pitchFamily="34" charset="-122"/>
                <a:cs typeface="Calibri" pitchFamily="34" charset="-120"/>
              </a:rPr>
              <a:t>3 357</a:t>
            </a:r>
            <a:endParaRPr lang="en-US" sz="1100" dirty="0"/>
          </a:p>
        </p:txBody>
      </p:sp>
      <p:sp>
        <p:nvSpPr>
          <p:cNvPr id="11" name="Text 9"/>
          <p:cNvSpPr txBox="1"/>
          <p:nvPr/>
        </p:nvSpPr>
        <p:spPr>
          <a:xfrm>
            <a:off x="7982712" y="2029968"/>
            <a:ext cx="1828800" cy="306324"/>
          </a:xfrm>
          <a:prstGeom prst="rect">
            <a:avLst/>
          </a:prstGeom>
          <a:noFill/>
          <a:ln/>
        </p:spPr>
        <p:txBody>
          <a:bodyPr wrap="square" lIns="0" tIns="0" rIns="0" bIns="0" rtlCol="0" anchor="ctr"/>
          <a:lstStyle/>
          <a:p>
            <a:pPr algn="r" indent="0" marL="0">
              <a:buNone/>
            </a:pPr>
            <a:r>
              <a:rPr lang="en-US" sz="1100" b="1" dirty="0">
                <a:solidFill>
                  <a:srgbClr val="E3B23C"/>
                </a:solidFill>
                <a:latin typeface="Calibri" pitchFamily="34" charset="0"/>
                <a:ea typeface="Calibri" pitchFamily="34" charset="-122"/>
                <a:cs typeface="Calibri" pitchFamily="34" charset="-120"/>
              </a:rPr>
              <a:t>32 789</a:t>
            </a:r>
            <a:endParaRPr lang="en-US" sz="1100" dirty="0"/>
          </a:p>
        </p:txBody>
      </p:sp>
      <p:sp>
        <p:nvSpPr>
          <p:cNvPr id="12" name="Text 10"/>
          <p:cNvSpPr txBox="1"/>
          <p:nvPr/>
        </p:nvSpPr>
        <p:spPr>
          <a:xfrm>
            <a:off x="9811512" y="2029968"/>
            <a:ext cx="1828800" cy="306324"/>
          </a:xfrm>
          <a:prstGeom prst="rect">
            <a:avLst/>
          </a:prstGeom>
          <a:noFill/>
          <a:ln/>
        </p:spPr>
        <p:txBody>
          <a:bodyPr wrap="square" lIns="0" tIns="0" rIns="0" bIns="0" rtlCol="0" anchor="ctr"/>
          <a:lstStyle/>
          <a:p>
            <a:pPr algn="r" indent="0" marL="0">
              <a:buNone/>
            </a:pPr>
            <a:r>
              <a:rPr lang="en-US" sz="1100" b="1" dirty="0">
                <a:solidFill>
                  <a:srgbClr val="E3B23C"/>
                </a:solidFill>
                <a:latin typeface="Calibri" pitchFamily="34" charset="0"/>
                <a:ea typeface="Calibri" pitchFamily="34" charset="-122"/>
                <a:cs typeface="Calibri" pitchFamily="34" charset="-120"/>
              </a:rPr>
              <a:t>81 546</a:t>
            </a:r>
            <a:endParaRPr lang="en-US" sz="1100" dirty="0"/>
          </a:p>
        </p:txBody>
      </p:sp>
      <p:sp>
        <p:nvSpPr>
          <p:cNvPr id="13" name="Shape 11"/>
          <p:cNvSpPr/>
          <p:nvPr/>
        </p:nvSpPr>
        <p:spPr>
          <a:xfrm>
            <a:off x="475488" y="2336292"/>
            <a:ext cx="11237976" cy="306324"/>
          </a:xfrm>
          <a:prstGeom prst="rect">
            <a:avLst/>
          </a:prstGeom>
          <a:solidFill>
            <a:srgbClr val="1D2026"/>
          </a:solidFill>
          <a:ln w="12700">
            <a:solidFill>
              <a:srgbClr val="1D2026"/>
            </a:solidFill>
            <a:prstDash val="solid"/>
          </a:ln>
        </p:spPr>
      </p:sp>
      <p:sp>
        <p:nvSpPr>
          <p:cNvPr id="14" name="Text 12"/>
          <p:cNvSpPr txBox="1"/>
          <p:nvPr/>
        </p:nvSpPr>
        <p:spPr>
          <a:xfrm>
            <a:off x="548640" y="2336292"/>
            <a:ext cx="5605272" cy="306324"/>
          </a:xfrm>
          <a:prstGeom prst="rect">
            <a:avLst/>
          </a:prstGeom>
          <a:noFill/>
          <a:ln/>
        </p:spPr>
        <p:txBody>
          <a:bodyPr wrap="square" lIns="0" tIns="0" rIns="0" bIns="0" rtlCol="0" anchor="ctr"/>
          <a:lstStyle/>
          <a:p>
            <a:pPr algn="l" indent="0" marL="0">
              <a:buNone/>
            </a:pPr>
            <a:r>
              <a:rPr lang="en-US" sz="1100" dirty="0">
                <a:solidFill>
                  <a:srgbClr val="E8EAED"/>
                </a:solidFill>
                <a:latin typeface="Calibri" pitchFamily="34" charset="0"/>
                <a:ea typeface="Calibri" pitchFamily="34" charset="-122"/>
                <a:cs typeface="Calibri" pitchFamily="34" charset="-120"/>
              </a:rPr>
              <a:t>Hébergement et sauvegardes</a:t>
            </a:r>
            <a:endParaRPr lang="en-US" sz="1100" dirty="0"/>
          </a:p>
        </p:txBody>
      </p:sp>
      <p:sp>
        <p:nvSpPr>
          <p:cNvPr id="15" name="Text 13"/>
          <p:cNvSpPr txBox="1"/>
          <p:nvPr/>
        </p:nvSpPr>
        <p:spPr>
          <a:xfrm>
            <a:off x="6153912" y="2336292"/>
            <a:ext cx="1828800" cy="306324"/>
          </a:xfrm>
          <a:prstGeom prst="rect">
            <a:avLst/>
          </a:prstGeom>
          <a:noFill/>
          <a:ln/>
        </p:spPr>
        <p:txBody>
          <a:bodyPr wrap="square" lIns="0" tIns="0" rIns="0" bIns="0" rtlCol="0" anchor="ctr"/>
          <a:lstStyle/>
          <a:p>
            <a:pPr algn="r" indent="0" marL="0">
              <a:buNone/>
            </a:pPr>
            <a:r>
              <a:rPr lang="en-US" sz="1100" dirty="0">
                <a:solidFill>
                  <a:srgbClr val="ADB2B9"/>
                </a:solidFill>
                <a:latin typeface="Calibri" pitchFamily="34" charset="0"/>
                <a:ea typeface="Calibri" pitchFamily="34" charset="-122"/>
                <a:cs typeface="Calibri" pitchFamily="34" charset="-120"/>
              </a:rPr>
              <a:t>600</a:t>
            </a:r>
            <a:endParaRPr lang="en-US" sz="1100" dirty="0"/>
          </a:p>
        </p:txBody>
      </p:sp>
      <p:sp>
        <p:nvSpPr>
          <p:cNvPr id="16" name="Text 14"/>
          <p:cNvSpPr txBox="1"/>
          <p:nvPr/>
        </p:nvSpPr>
        <p:spPr>
          <a:xfrm>
            <a:off x="7982712" y="2336292"/>
            <a:ext cx="1828800" cy="306324"/>
          </a:xfrm>
          <a:prstGeom prst="rect">
            <a:avLst/>
          </a:prstGeom>
          <a:noFill/>
          <a:ln/>
        </p:spPr>
        <p:txBody>
          <a:bodyPr wrap="square" lIns="0" tIns="0" rIns="0" bIns="0" rtlCol="0" anchor="ctr"/>
          <a:lstStyle/>
          <a:p>
            <a:pPr algn="r" indent="0" marL="0">
              <a:buNone/>
            </a:pPr>
            <a:r>
              <a:rPr lang="en-US" sz="1100" dirty="0">
                <a:solidFill>
                  <a:srgbClr val="ADB2B9"/>
                </a:solidFill>
                <a:latin typeface="Calibri" pitchFamily="34" charset="0"/>
                <a:ea typeface="Calibri" pitchFamily="34" charset="-122"/>
                <a:cs typeface="Calibri" pitchFamily="34" charset="-120"/>
              </a:rPr>
              <a:t>1 200</a:t>
            </a:r>
            <a:endParaRPr lang="en-US" sz="1100" dirty="0"/>
          </a:p>
        </p:txBody>
      </p:sp>
      <p:sp>
        <p:nvSpPr>
          <p:cNvPr id="17" name="Text 15"/>
          <p:cNvSpPr txBox="1"/>
          <p:nvPr/>
        </p:nvSpPr>
        <p:spPr>
          <a:xfrm>
            <a:off x="9811512" y="2336292"/>
            <a:ext cx="1828800" cy="306324"/>
          </a:xfrm>
          <a:prstGeom prst="rect">
            <a:avLst/>
          </a:prstGeom>
          <a:noFill/>
          <a:ln/>
        </p:spPr>
        <p:txBody>
          <a:bodyPr wrap="square" lIns="0" tIns="0" rIns="0" bIns="0" rtlCol="0" anchor="ctr"/>
          <a:lstStyle/>
          <a:p>
            <a:pPr algn="r" indent="0" marL="0">
              <a:buNone/>
            </a:pPr>
            <a:r>
              <a:rPr lang="en-US" sz="1100" dirty="0">
                <a:solidFill>
                  <a:srgbClr val="ADB2B9"/>
                </a:solidFill>
                <a:latin typeface="Calibri" pitchFamily="34" charset="0"/>
                <a:ea typeface="Calibri" pitchFamily="34" charset="-122"/>
                <a:cs typeface="Calibri" pitchFamily="34" charset="-120"/>
              </a:rPr>
              <a:t>3 000</a:t>
            </a:r>
            <a:endParaRPr lang="en-US" sz="1100" dirty="0"/>
          </a:p>
        </p:txBody>
      </p:sp>
      <p:sp>
        <p:nvSpPr>
          <p:cNvPr id="18" name="Text 16"/>
          <p:cNvSpPr txBox="1"/>
          <p:nvPr/>
        </p:nvSpPr>
        <p:spPr>
          <a:xfrm>
            <a:off x="548640" y="2642616"/>
            <a:ext cx="5605272" cy="306324"/>
          </a:xfrm>
          <a:prstGeom prst="rect">
            <a:avLst/>
          </a:prstGeom>
          <a:noFill/>
          <a:ln/>
        </p:spPr>
        <p:txBody>
          <a:bodyPr wrap="square" lIns="0" tIns="0" rIns="0" bIns="0" rtlCol="0" anchor="ctr"/>
          <a:lstStyle/>
          <a:p>
            <a:pPr algn="l" indent="0" marL="0">
              <a:buNone/>
            </a:pPr>
            <a:r>
              <a:rPr lang="en-US" sz="1100" dirty="0">
                <a:solidFill>
                  <a:srgbClr val="E8EAED"/>
                </a:solidFill>
                <a:latin typeface="Calibri" pitchFamily="34" charset="0"/>
                <a:ea typeface="Calibri" pitchFamily="34" charset="-122"/>
                <a:cs typeface="Calibri" pitchFamily="34" charset="-120"/>
              </a:rPr>
              <a:t>Conseil juridique RGPD, CGU</a:t>
            </a:r>
            <a:endParaRPr lang="en-US" sz="1100" dirty="0"/>
          </a:p>
        </p:txBody>
      </p:sp>
      <p:sp>
        <p:nvSpPr>
          <p:cNvPr id="19" name="Text 17"/>
          <p:cNvSpPr txBox="1"/>
          <p:nvPr/>
        </p:nvSpPr>
        <p:spPr>
          <a:xfrm>
            <a:off x="6153912" y="2642616"/>
            <a:ext cx="1828800" cy="306324"/>
          </a:xfrm>
          <a:prstGeom prst="rect">
            <a:avLst/>
          </a:prstGeom>
          <a:noFill/>
          <a:ln/>
        </p:spPr>
        <p:txBody>
          <a:bodyPr wrap="square" lIns="0" tIns="0" rIns="0" bIns="0" rtlCol="0" anchor="ctr"/>
          <a:lstStyle/>
          <a:p>
            <a:pPr algn="r" indent="0" marL="0">
              <a:buNone/>
            </a:pPr>
            <a:r>
              <a:rPr lang="en-US" sz="1100" dirty="0">
                <a:solidFill>
                  <a:srgbClr val="ADB2B9"/>
                </a:solidFill>
                <a:latin typeface="Calibri" pitchFamily="34" charset="0"/>
                <a:ea typeface="Calibri" pitchFamily="34" charset="-122"/>
                <a:cs typeface="Calibri" pitchFamily="34" charset="-120"/>
              </a:rPr>
              <a:t>2 000</a:t>
            </a:r>
            <a:endParaRPr lang="en-US" sz="1100" dirty="0"/>
          </a:p>
        </p:txBody>
      </p:sp>
      <p:sp>
        <p:nvSpPr>
          <p:cNvPr id="20" name="Text 18"/>
          <p:cNvSpPr txBox="1"/>
          <p:nvPr/>
        </p:nvSpPr>
        <p:spPr>
          <a:xfrm>
            <a:off x="7982712" y="2642616"/>
            <a:ext cx="1828800" cy="306324"/>
          </a:xfrm>
          <a:prstGeom prst="rect">
            <a:avLst/>
          </a:prstGeom>
          <a:noFill/>
          <a:ln/>
        </p:spPr>
        <p:txBody>
          <a:bodyPr wrap="square" lIns="0" tIns="0" rIns="0" bIns="0" rtlCol="0" anchor="ctr"/>
          <a:lstStyle/>
          <a:p>
            <a:pPr algn="r" indent="0" marL="0">
              <a:buNone/>
            </a:pPr>
            <a:r>
              <a:rPr lang="en-US" sz="1100" dirty="0">
                <a:solidFill>
                  <a:srgbClr val="ADB2B9"/>
                </a:solidFill>
                <a:latin typeface="Calibri" pitchFamily="34" charset="0"/>
                <a:ea typeface="Calibri" pitchFamily="34" charset="-122"/>
                <a:cs typeface="Calibri" pitchFamily="34" charset="-120"/>
              </a:rPr>
              <a:t>—</a:t>
            </a:r>
            <a:endParaRPr lang="en-US" sz="1100" dirty="0"/>
          </a:p>
        </p:txBody>
      </p:sp>
      <p:sp>
        <p:nvSpPr>
          <p:cNvPr id="21" name="Text 19"/>
          <p:cNvSpPr txBox="1"/>
          <p:nvPr/>
        </p:nvSpPr>
        <p:spPr>
          <a:xfrm>
            <a:off x="9811512" y="2642616"/>
            <a:ext cx="1828800" cy="306324"/>
          </a:xfrm>
          <a:prstGeom prst="rect">
            <a:avLst/>
          </a:prstGeom>
          <a:noFill/>
          <a:ln/>
        </p:spPr>
        <p:txBody>
          <a:bodyPr wrap="square" lIns="0" tIns="0" rIns="0" bIns="0" rtlCol="0" anchor="ctr"/>
          <a:lstStyle/>
          <a:p>
            <a:pPr algn="r" indent="0" marL="0">
              <a:buNone/>
            </a:pPr>
            <a:r>
              <a:rPr lang="en-US" sz="1100" dirty="0">
                <a:solidFill>
                  <a:srgbClr val="ADB2B9"/>
                </a:solidFill>
                <a:latin typeface="Calibri" pitchFamily="34" charset="0"/>
                <a:ea typeface="Calibri" pitchFamily="34" charset="-122"/>
                <a:cs typeface="Calibri" pitchFamily="34" charset="-120"/>
              </a:rPr>
              <a:t>—</a:t>
            </a:r>
            <a:endParaRPr lang="en-US" sz="1100" dirty="0"/>
          </a:p>
        </p:txBody>
      </p:sp>
      <p:sp>
        <p:nvSpPr>
          <p:cNvPr id="22" name="Shape 20"/>
          <p:cNvSpPr/>
          <p:nvPr/>
        </p:nvSpPr>
        <p:spPr>
          <a:xfrm>
            <a:off x="475488" y="2948940"/>
            <a:ext cx="11237976" cy="306324"/>
          </a:xfrm>
          <a:prstGeom prst="rect">
            <a:avLst/>
          </a:prstGeom>
          <a:solidFill>
            <a:srgbClr val="1D2026"/>
          </a:solidFill>
          <a:ln w="12700">
            <a:solidFill>
              <a:srgbClr val="1D2026"/>
            </a:solidFill>
            <a:prstDash val="solid"/>
          </a:ln>
        </p:spPr>
      </p:sp>
      <p:sp>
        <p:nvSpPr>
          <p:cNvPr id="23" name="Text 21"/>
          <p:cNvSpPr txBox="1"/>
          <p:nvPr/>
        </p:nvSpPr>
        <p:spPr>
          <a:xfrm>
            <a:off x="548640" y="2948940"/>
            <a:ext cx="5605272" cy="306324"/>
          </a:xfrm>
          <a:prstGeom prst="rect">
            <a:avLst/>
          </a:prstGeom>
          <a:noFill/>
          <a:ln/>
        </p:spPr>
        <p:txBody>
          <a:bodyPr wrap="square" lIns="0" tIns="0" rIns="0" bIns="0" rtlCol="0" anchor="ctr"/>
          <a:lstStyle/>
          <a:p>
            <a:pPr algn="l" indent="0" marL="0">
              <a:buNone/>
            </a:pPr>
            <a:r>
              <a:rPr lang="en-US" sz="1100" dirty="0">
                <a:solidFill>
                  <a:srgbClr val="E8EAED"/>
                </a:solidFill>
                <a:latin typeface="Calibri" pitchFamily="34" charset="0"/>
                <a:ea typeface="Calibri" pitchFamily="34" charset="-122"/>
                <a:cs typeface="Calibri" pitchFamily="34" charset="-120"/>
              </a:rPr>
              <a:t>Licence du catalogue d'exercices (provision)</a:t>
            </a:r>
            <a:endParaRPr lang="en-US" sz="1100" dirty="0"/>
          </a:p>
        </p:txBody>
      </p:sp>
      <p:sp>
        <p:nvSpPr>
          <p:cNvPr id="24" name="Text 22"/>
          <p:cNvSpPr txBox="1"/>
          <p:nvPr/>
        </p:nvSpPr>
        <p:spPr>
          <a:xfrm>
            <a:off x="6153912" y="2948940"/>
            <a:ext cx="1828800" cy="306324"/>
          </a:xfrm>
          <a:prstGeom prst="rect">
            <a:avLst/>
          </a:prstGeom>
          <a:noFill/>
          <a:ln/>
        </p:spPr>
        <p:txBody>
          <a:bodyPr wrap="square" lIns="0" tIns="0" rIns="0" bIns="0" rtlCol="0" anchor="ctr"/>
          <a:lstStyle/>
          <a:p>
            <a:pPr algn="r" indent="0" marL="0">
              <a:buNone/>
            </a:pPr>
            <a:r>
              <a:rPr lang="en-US" sz="1100" dirty="0">
                <a:solidFill>
                  <a:srgbClr val="ADB2B9"/>
                </a:solidFill>
                <a:latin typeface="Calibri" pitchFamily="34" charset="0"/>
                <a:ea typeface="Calibri" pitchFamily="34" charset="-122"/>
                <a:cs typeface="Calibri" pitchFamily="34" charset="-120"/>
              </a:rPr>
              <a:t>1 500</a:t>
            </a:r>
            <a:endParaRPr lang="en-US" sz="1100" dirty="0"/>
          </a:p>
        </p:txBody>
      </p:sp>
      <p:sp>
        <p:nvSpPr>
          <p:cNvPr id="25" name="Text 23"/>
          <p:cNvSpPr txBox="1"/>
          <p:nvPr/>
        </p:nvSpPr>
        <p:spPr>
          <a:xfrm>
            <a:off x="7982712" y="2948940"/>
            <a:ext cx="1828800" cy="306324"/>
          </a:xfrm>
          <a:prstGeom prst="rect">
            <a:avLst/>
          </a:prstGeom>
          <a:noFill/>
          <a:ln/>
        </p:spPr>
        <p:txBody>
          <a:bodyPr wrap="square" lIns="0" tIns="0" rIns="0" bIns="0" rtlCol="0" anchor="ctr"/>
          <a:lstStyle/>
          <a:p>
            <a:pPr algn="r" indent="0" marL="0">
              <a:buNone/>
            </a:pPr>
            <a:r>
              <a:rPr lang="en-US" sz="1100" dirty="0">
                <a:solidFill>
                  <a:srgbClr val="ADB2B9"/>
                </a:solidFill>
                <a:latin typeface="Calibri" pitchFamily="34" charset="0"/>
                <a:ea typeface="Calibri" pitchFamily="34" charset="-122"/>
                <a:cs typeface="Calibri" pitchFamily="34" charset="-120"/>
              </a:rPr>
              <a:t>—</a:t>
            </a:r>
            <a:endParaRPr lang="en-US" sz="1100" dirty="0"/>
          </a:p>
        </p:txBody>
      </p:sp>
      <p:sp>
        <p:nvSpPr>
          <p:cNvPr id="26" name="Text 24"/>
          <p:cNvSpPr txBox="1"/>
          <p:nvPr/>
        </p:nvSpPr>
        <p:spPr>
          <a:xfrm>
            <a:off x="9811512" y="2948940"/>
            <a:ext cx="1828800" cy="306324"/>
          </a:xfrm>
          <a:prstGeom prst="rect">
            <a:avLst/>
          </a:prstGeom>
          <a:noFill/>
          <a:ln/>
        </p:spPr>
        <p:txBody>
          <a:bodyPr wrap="square" lIns="0" tIns="0" rIns="0" bIns="0" rtlCol="0" anchor="ctr"/>
          <a:lstStyle/>
          <a:p>
            <a:pPr algn="r" indent="0" marL="0">
              <a:buNone/>
            </a:pPr>
            <a:r>
              <a:rPr lang="en-US" sz="1100" dirty="0">
                <a:solidFill>
                  <a:srgbClr val="ADB2B9"/>
                </a:solidFill>
                <a:latin typeface="Calibri" pitchFamily="34" charset="0"/>
                <a:ea typeface="Calibri" pitchFamily="34" charset="-122"/>
                <a:cs typeface="Calibri" pitchFamily="34" charset="-120"/>
              </a:rPr>
              <a:t>—</a:t>
            </a:r>
            <a:endParaRPr lang="en-US" sz="1100" dirty="0"/>
          </a:p>
        </p:txBody>
      </p:sp>
      <p:sp>
        <p:nvSpPr>
          <p:cNvPr id="27" name="Text 25"/>
          <p:cNvSpPr txBox="1"/>
          <p:nvPr/>
        </p:nvSpPr>
        <p:spPr>
          <a:xfrm>
            <a:off x="548640" y="3255264"/>
            <a:ext cx="5605272" cy="306324"/>
          </a:xfrm>
          <a:prstGeom prst="rect">
            <a:avLst/>
          </a:prstGeom>
          <a:noFill/>
          <a:ln/>
        </p:spPr>
        <p:txBody>
          <a:bodyPr wrap="square" lIns="0" tIns="0" rIns="0" bIns="0" rtlCol="0" anchor="ctr"/>
          <a:lstStyle/>
          <a:p>
            <a:pPr algn="l" indent="0" marL="0">
              <a:buNone/>
            </a:pPr>
            <a:r>
              <a:rPr lang="en-US" sz="1100" dirty="0">
                <a:solidFill>
                  <a:srgbClr val="E8EAED"/>
                </a:solidFill>
                <a:latin typeface="Calibri" pitchFamily="34" charset="0"/>
                <a:ea typeface="Calibri" pitchFamily="34" charset="-122"/>
                <a:cs typeface="Calibri" pitchFamily="34" charset="-120"/>
              </a:rPr>
              <a:t>Expert-comptable</a:t>
            </a:r>
            <a:endParaRPr lang="en-US" sz="1100" dirty="0"/>
          </a:p>
        </p:txBody>
      </p:sp>
      <p:sp>
        <p:nvSpPr>
          <p:cNvPr id="28" name="Text 26"/>
          <p:cNvSpPr txBox="1"/>
          <p:nvPr/>
        </p:nvSpPr>
        <p:spPr>
          <a:xfrm>
            <a:off x="6153912" y="3255264"/>
            <a:ext cx="1828800" cy="306324"/>
          </a:xfrm>
          <a:prstGeom prst="rect">
            <a:avLst/>
          </a:prstGeom>
          <a:noFill/>
          <a:ln/>
        </p:spPr>
        <p:txBody>
          <a:bodyPr wrap="square" lIns="0" tIns="0" rIns="0" bIns="0" rtlCol="0" anchor="ctr"/>
          <a:lstStyle/>
          <a:p>
            <a:pPr algn="r" indent="0" marL="0">
              <a:buNone/>
            </a:pPr>
            <a:r>
              <a:rPr lang="en-US" sz="1100" dirty="0">
                <a:solidFill>
                  <a:srgbClr val="ADB2B9"/>
                </a:solidFill>
                <a:latin typeface="Calibri" pitchFamily="34" charset="0"/>
                <a:ea typeface="Calibri" pitchFamily="34" charset="-122"/>
                <a:cs typeface="Calibri" pitchFamily="34" charset="-120"/>
              </a:rPr>
              <a:t>1 200</a:t>
            </a:r>
            <a:endParaRPr lang="en-US" sz="1100" dirty="0"/>
          </a:p>
        </p:txBody>
      </p:sp>
      <p:sp>
        <p:nvSpPr>
          <p:cNvPr id="29" name="Text 27"/>
          <p:cNvSpPr txBox="1"/>
          <p:nvPr/>
        </p:nvSpPr>
        <p:spPr>
          <a:xfrm>
            <a:off x="7982712" y="3255264"/>
            <a:ext cx="1828800" cy="306324"/>
          </a:xfrm>
          <a:prstGeom prst="rect">
            <a:avLst/>
          </a:prstGeom>
          <a:noFill/>
          <a:ln/>
        </p:spPr>
        <p:txBody>
          <a:bodyPr wrap="square" lIns="0" tIns="0" rIns="0" bIns="0" rtlCol="0" anchor="ctr"/>
          <a:lstStyle/>
          <a:p>
            <a:pPr algn="r" indent="0" marL="0">
              <a:buNone/>
            </a:pPr>
            <a:r>
              <a:rPr lang="en-US" sz="1100" dirty="0">
                <a:solidFill>
                  <a:srgbClr val="ADB2B9"/>
                </a:solidFill>
                <a:latin typeface="Calibri" pitchFamily="34" charset="0"/>
                <a:ea typeface="Calibri" pitchFamily="34" charset="-122"/>
                <a:cs typeface="Calibri" pitchFamily="34" charset="-120"/>
              </a:rPr>
              <a:t>1 500</a:t>
            </a:r>
            <a:endParaRPr lang="en-US" sz="1100" dirty="0"/>
          </a:p>
        </p:txBody>
      </p:sp>
      <p:sp>
        <p:nvSpPr>
          <p:cNvPr id="30" name="Text 28"/>
          <p:cNvSpPr txBox="1"/>
          <p:nvPr/>
        </p:nvSpPr>
        <p:spPr>
          <a:xfrm>
            <a:off x="9811512" y="3255264"/>
            <a:ext cx="1828800" cy="306324"/>
          </a:xfrm>
          <a:prstGeom prst="rect">
            <a:avLst/>
          </a:prstGeom>
          <a:noFill/>
          <a:ln/>
        </p:spPr>
        <p:txBody>
          <a:bodyPr wrap="square" lIns="0" tIns="0" rIns="0" bIns="0" rtlCol="0" anchor="ctr"/>
          <a:lstStyle/>
          <a:p>
            <a:pPr algn="r" indent="0" marL="0">
              <a:buNone/>
            </a:pPr>
            <a:r>
              <a:rPr lang="en-US" sz="1100" dirty="0">
                <a:solidFill>
                  <a:srgbClr val="ADB2B9"/>
                </a:solidFill>
                <a:latin typeface="Calibri" pitchFamily="34" charset="0"/>
                <a:ea typeface="Calibri" pitchFamily="34" charset="-122"/>
                <a:cs typeface="Calibri" pitchFamily="34" charset="-120"/>
              </a:rPr>
              <a:t>1 800</a:t>
            </a:r>
            <a:endParaRPr lang="en-US" sz="1100" dirty="0"/>
          </a:p>
        </p:txBody>
      </p:sp>
      <p:sp>
        <p:nvSpPr>
          <p:cNvPr id="31" name="Shape 29"/>
          <p:cNvSpPr/>
          <p:nvPr/>
        </p:nvSpPr>
        <p:spPr>
          <a:xfrm>
            <a:off x="475488" y="3561588"/>
            <a:ext cx="11237976" cy="306324"/>
          </a:xfrm>
          <a:prstGeom prst="rect">
            <a:avLst/>
          </a:prstGeom>
          <a:solidFill>
            <a:srgbClr val="1D2026"/>
          </a:solidFill>
          <a:ln w="12700">
            <a:solidFill>
              <a:srgbClr val="1D2026"/>
            </a:solidFill>
            <a:prstDash val="solid"/>
          </a:ln>
        </p:spPr>
      </p:sp>
      <p:sp>
        <p:nvSpPr>
          <p:cNvPr id="32" name="Text 30"/>
          <p:cNvSpPr txBox="1"/>
          <p:nvPr/>
        </p:nvSpPr>
        <p:spPr>
          <a:xfrm>
            <a:off x="548640" y="3561588"/>
            <a:ext cx="5605272" cy="306324"/>
          </a:xfrm>
          <a:prstGeom prst="rect">
            <a:avLst/>
          </a:prstGeom>
          <a:noFill/>
          <a:ln/>
        </p:spPr>
        <p:txBody>
          <a:bodyPr wrap="square" lIns="0" tIns="0" rIns="0" bIns="0" rtlCol="0" anchor="ctr"/>
          <a:lstStyle/>
          <a:p>
            <a:pPr algn="l" indent="0" marL="0">
              <a:buNone/>
            </a:pPr>
            <a:r>
              <a:rPr lang="en-US" sz="1100" dirty="0">
                <a:solidFill>
                  <a:srgbClr val="E8EAED"/>
                </a:solidFill>
                <a:latin typeface="Calibri" pitchFamily="34" charset="0"/>
                <a:ea typeface="Calibri" pitchFamily="34" charset="-122"/>
                <a:cs typeface="Calibri" pitchFamily="34" charset="-120"/>
              </a:rPr>
              <a:t>Assurance responsabilité civile professionnelle</a:t>
            </a:r>
            <a:endParaRPr lang="en-US" sz="1100" dirty="0"/>
          </a:p>
        </p:txBody>
      </p:sp>
      <p:sp>
        <p:nvSpPr>
          <p:cNvPr id="33" name="Text 31"/>
          <p:cNvSpPr txBox="1"/>
          <p:nvPr/>
        </p:nvSpPr>
        <p:spPr>
          <a:xfrm>
            <a:off x="6153912" y="3561588"/>
            <a:ext cx="1828800" cy="306324"/>
          </a:xfrm>
          <a:prstGeom prst="rect">
            <a:avLst/>
          </a:prstGeom>
          <a:noFill/>
          <a:ln/>
        </p:spPr>
        <p:txBody>
          <a:bodyPr wrap="square" lIns="0" tIns="0" rIns="0" bIns="0" rtlCol="0" anchor="ctr"/>
          <a:lstStyle/>
          <a:p>
            <a:pPr algn="r" indent="0" marL="0">
              <a:buNone/>
            </a:pPr>
            <a:r>
              <a:rPr lang="en-US" sz="1100" dirty="0">
                <a:solidFill>
                  <a:srgbClr val="ADB2B9"/>
                </a:solidFill>
                <a:latin typeface="Calibri" pitchFamily="34" charset="0"/>
                <a:ea typeface="Calibri" pitchFamily="34" charset="-122"/>
                <a:cs typeface="Calibri" pitchFamily="34" charset="-120"/>
              </a:rPr>
              <a:t>500</a:t>
            </a:r>
            <a:endParaRPr lang="en-US" sz="1100" dirty="0"/>
          </a:p>
        </p:txBody>
      </p:sp>
      <p:sp>
        <p:nvSpPr>
          <p:cNvPr id="34" name="Text 32"/>
          <p:cNvSpPr txBox="1"/>
          <p:nvPr/>
        </p:nvSpPr>
        <p:spPr>
          <a:xfrm>
            <a:off x="7982712" y="3561588"/>
            <a:ext cx="1828800" cy="306324"/>
          </a:xfrm>
          <a:prstGeom prst="rect">
            <a:avLst/>
          </a:prstGeom>
          <a:noFill/>
          <a:ln/>
        </p:spPr>
        <p:txBody>
          <a:bodyPr wrap="square" lIns="0" tIns="0" rIns="0" bIns="0" rtlCol="0" anchor="ctr"/>
          <a:lstStyle/>
          <a:p>
            <a:pPr algn="r" indent="0" marL="0">
              <a:buNone/>
            </a:pPr>
            <a:r>
              <a:rPr lang="en-US" sz="1100" dirty="0">
                <a:solidFill>
                  <a:srgbClr val="ADB2B9"/>
                </a:solidFill>
                <a:latin typeface="Calibri" pitchFamily="34" charset="0"/>
                <a:ea typeface="Calibri" pitchFamily="34" charset="-122"/>
                <a:cs typeface="Calibri" pitchFamily="34" charset="-120"/>
              </a:rPr>
              <a:t>500</a:t>
            </a:r>
            <a:endParaRPr lang="en-US" sz="1100" dirty="0"/>
          </a:p>
        </p:txBody>
      </p:sp>
      <p:sp>
        <p:nvSpPr>
          <p:cNvPr id="35" name="Text 33"/>
          <p:cNvSpPr txBox="1"/>
          <p:nvPr/>
        </p:nvSpPr>
        <p:spPr>
          <a:xfrm>
            <a:off x="9811512" y="3561588"/>
            <a:ext cx="1828800" cy="306324"/>
          </a:xfrm>
          <a:prstGeom prst="rect">
            <a:avLst/>
          </a:prstGeom>
          <a:noFill/>
          <a:ln/>
        </p:spPr>
        <p:txBody>
          <a:bodyPr wrap="square" lIns="0" tIns="0" rIns="0" bIns="0" rtlCol="0" anchor="ctr"/>
          <a:lstStyle/>
          <a:p>
            <a:pPr algn="r" indent="0" marL="0">
              <a:buNone/>
            </a:pPr>
            <a:r>
              <a:rPr lang="en-US" sz="1100" dirty="0">
                <a:solidFill>
                  <a:srgbClr val="ADB2B9"/>
                </a:solidFill>
                <a:latin typeface="Calibri" pitchFamily="34" charset="0"/>
                <a:ea typeface="Calibri" pitchFamily="34" charset="-122"/>
                <a:cs typeface="Calibri" pitchFamily="34" charset="-120"/>
              </a:rPr>
              <a:t>600</a:t>
            </a:r>
            <a:endParaRPr lang="en-US" sz="1100" dirty="0"/>
          </a:p>
        </p:txBody>
      </p:sp>
      <p:sp>
        <p:nvSpPr>
          <p:cNvPr id="36" name="Text 34"/>
          <p:cNvSpPr txBox="1"/>
          <p:nvPr/>
        </p:nvSpPr>
        <p:spPr>
          <a:xfrm>
            <a:off x="548640" y="3867912"/>
            <a:ext cx="5605272" cy="306324"/>
          </a:xfrm>
          <a:prstGeom prst="rect">
            <a:avLst/>
          </a:prstGeom>
          <a:noFill/>
          <a:ln/>
        </p:spPr>
        <p:txBody>
          <a:bodyPr wrap="square" lIns="0" tIns="0" rIns="0" bIns="0" rtlCol="0" anchor="ctr"/>
          <a:lstStyle/>
          <a:p>
            <a:pPr algn="l" indent="0" marL="0">
              <a:buNone/>
            </a:pPr>
            <a:r>
              <a:rPr lang="en-US" sz="1100" dirty="0">
                <a:solidFill>
                  <a:srgbClr val="E8EAED"/>
                </a:solidFill>
                <a:latin typeface="Calibri" pitchFamily="34" charset="0"/>
                <a:ea typeface="Calibri" pitchFamily="34" charset="-122"/>
                <a:cs typeface="Calibri" pitchFamily="34" charset="-120"/>
              </a:rPr>
              <a:t>Comptes Apple et Google</a:t>
            </a:r>
            <a:endParaRPr lang="en-US" sz="1100" dirty="0"/>
          </a:p>
        </p:txBody>
      </p:sp>
      <p:sp>
        <p:nvSpPr>
          <p:cNvPr id="37" name="Text 35"/>
          <p:cNvSpPr txBox="1"/>
          <p:nvPr/>
        </p:nvSpPr>
        <p:spPr>
          <a:xfrm>
            <a:off x="6153912" y="3867912"/>
            <a:ext cx="1828800" cy="306324"/>
          </a:xfrm>
          <a:prstGeom prst="rect">
            <a:avLst/>
          </a:prstGeom>
          <a:noFill/>
          <a:ln/>
        </p:spPr>
        <p:txBody>
          <a:bodyPr wrap="square" lIns="0" tIns="0" rIns="0" bIns="0" rtlCol="0" anchor="ctr"/>
          <a:lstStyle/>
          <a:p>
            <a:pPr algn="r" indent="0" marL="0">
              <a:buNone/>
            </a:pPr>
            <a:r>
              <a:rPr lang="en-US" sz="1100" dirty="0">
                <a:solidFill>
                  <a:srgbClr val="ADB2B9"/>
                </a:solidFill>
                <a:latin typeface="Calibri" pitchFamily="34" charset="0"/>
                <a:ea typeface="Calibri" pitchFamily="34" charset="-122"/>
                <a:cs typeface="Calibri" pitchFamily="34" charset="-120"/>
              </a:rPr>
              <a:t>120</a:t>
            </a:r>
            <a:endParaRPr lang="en-US" sz="1100" dirty="0"/>
          </a:p>
        </p:txBody>
      </p:sp>
      <p:sp>
        <p:nvSpPr>
          <p:cNvPr id="38" name="Text 36"/>
          <p:cNvSpPr txBox="1"/>
          <p:nvPr/>
        </p:nvSpPr>
        <p:spPr>
          <a:xfrm>
            <a:off x="7982712" y="3867912"/>
            <a:ext cx="1828800" cy="306324"/>
          </a:xfrm>
          <a:prstGeom prst="rect">
            <a:avLst/>
          </a:prstGeom>
          <a:noFill/>
          <a:ln/>
        </p:spPr>
        <p:txBody>
          <a:bodyPr wrap="square" lIns="0" tIns="0" rIns="0" bIns="0" rtlCol="0" anchor="ctr"/>
          <a:lstStyle/>
          <a:p>
            <a:pPr algn="r" indent="0" marL="0">
              <a:buNone/>
            </a:pPr>
            <a:r>
              <a:rPr lang="en-US" sz="1100" dirty="0">
                <a:solidFill>
                  <a:srgbClr val="ADB2B9"/>
                </a:solidFill>
                <a:latin typeface="Calibri" pitchFamily="34" charset="0"/>
                <a:ea typeface="Calibri" pitchFamily="34" charset="-122"/>
                <a:cs typeface="Calibri" pitchFamily="34" charset="-120"/>
              </a:rPr>
              <a:t>100</a:t>
            </a:r>
            <a:endParaRPr lang="en-US" sz="1100" dirty="0"/>
          </a:p>
        </p:txBody>
      </p:sp>
      <p:sp>
        <p:nvSpPr>
          <p:cNvPr id="39" name="Text 37"/>
          <p:cNvSpPr txBox="1"/>
          <p:nvPr/>
        </p:nvSpPr>
        <p:spPr>
          <a:xfrm>
            <a:off x="9811512" y="3867912"/>
            <a:ext cx="1828800" cy="306324"/>
          </a:xfrm>
          <a:prstGeom prst="rect">
            <a:avLst/>
          </a:prstGeom>
          <a:noFill/>
          <a:ln/>
        </p:spPr>
        <p:txBody>
          <a:bodyPr wrap="square" lIns="0" tIns="0" rIns="0" bIns="0" rtlCol="0" anchor="ctr"/>
          <a:lstStyle/>
          <a:p>
            <a:pPr algn="r" indent="0" marL="0">
              <a:buNone/>
            </a:pPr>
            <a:r>
              <a:rPr lang="en-US" sz="1100" dirty="0">
                <a:solidFill>
                  <a:srgbClr val="ADB2B9"/>
                </a:solidFill>
                <a:latin typeface="Calibri" pitchFamily="34" charset="0"/>
                <a:ea typeface="Calibri" pitchFamily="34" charset="-122"/>
                <a:cs typeface="Calibri" pitchFamily="34" charset="-120"/>
              </a:rPr>
              <a:t>100</a:t>
            </a:r>
            <a:endParaRPr lang="en-US" sz="1100" dirty="0"/>
          </a:p>
        </p:txBody>
      </p:sp>
      <p:sp>
        <p:nvSpPr>
          <p:cNvPr id="40" name="Shape 38"/>
          <p:cNvSpPr/>
          <p:nvPr/>
        </p:nvSpPr>
        <p:spPr>
          <a:xfrm>
            <a:off x="475488" y="4174236"/>
            <a:ext cx="11237976" cy="306324"/>
          </a:xfrm>
          <a:prstGeom prst="rect">
            <a:avLst/>
          </a:prstGeom>
          <a:solidFill>
            <a:srgbClr val="1D2026"/>
          </a:solidFill>
          <a:ln w="12700">
            <a:solidFill>
              <a:srgbClr val="1D2026"/>
            </a:solidFill>
            <a:prstDash val="solid"/>
          </a:ln>
        </p:spPr>
      </p:sp>
      <p:sp>
        <p:nvSpPr>
          <p:cNvPr id="41" name="Text 39"/>
          <p:cNvSpPr txBox="1"/>
          <p:nvPr/>
        </p:nvSpPr>
        <p:spPr>
          <a:xfrm>
            <a:off x="548640" y="4174236"/>
            <a:ext cx="5605272" cy="306324"/>
          </a:xfrm>
          <a:prstGeom prst="rect">
            <a:avLst/>
          </a:prstGeom>
          <a:noFill/>
          <a:ln/>
        </p:spPr>
        <p:txBody>
          <a:bodyPr wrap="square" lIns="0" tIns="0" rIns="0" bIns="0" rtlCol="0" anchor="ctr"/>
          <a:lstStyle/>
          <a:p>
            <a:pPr algn="l" indent="0" marL="0">
              <a:buNone/>
            </a:pPr>
            <a:r>
              <a:rPr lang="en-US" sz="1100" dirty="0">
                <a:solidFill>
                  <a:srgbClr val="E8EAED"/>
                </a:solidFill>
                <a:latin typeface="Calibri" pitchFamily="34" charset="0"/>
                <a:ea typeface="Calibri" pitchFamily="34" charset="-122"/>
                <a:cs typeface="Calibri" pitchFamily="34" charset="-120"/>
              </a:rPr>
              <a:t>Marketing</a:t>
            </a:r>
            <a:endParaRPr lang="en-US" sz="1100" dirty="0"/>
          </a:p>
        </p:txBody>
      </p:sp>
      <p:sp>
        <p:nvSpPr>
          <p:cNvPr id="42" name="Text 40"/>
          <p:cNvSpPr txBox="1"/>
          <p:nvPr/>
        </p:nvSpPr>
        <p:spPr>
          <a:xfrm>
            <a:off x="6153912" y="4174236"/>
            <a:ext cx="1828800" cy="306324"/>
          </a:xfrm>
          <a:prstGeom prst="rect">
            <a:avLst/>
          </a:prstGeom>
          <a:noFill/>
          <a:ln/>
        </p:spPr>
        <p:txBody>
          <a:bodyPr wrap="square" lIns="0" tIns="0" rIns="0" bIns="0" rtlCol="0" anchor="ctr"/>
          <a:lstStyle/>
          <a:p>
            <a:pPr algn="r" indent="0" marL="0">
              <a:buNone/>
            </a:pPr>
            <a:r>
              <a:rPr lang="en-US" sz="1100" dirty="0">
                <a:solidFill>
                  <a:srgbClr val="ADB2B9"/>
                </a:solidFill>
                <a:latin typeface="Calibri" pitchFamily="34" charset="0"/>
                <a:ea typeface="Calibri" pitchFamily="34" charset="-122"/>
                <a:cs typeface="Calibri" pitchFamily="34" charset="-120"/>
              </a:rPr>
              <a:t>3 000</a:t>
            </a:r>
            <a:endParaRPr lang="en-US" sz="1100" dirty="0"/>
          </a:p>
        </p:txBody>
      </p:sp>
      <p:sp>
        <p:nvSpPr>
          <p:cNvPr id="43" name="Text 41"/>
          <p:cNvSpPr txBox="1"/>
          <p:nvPr/>
        </p:nvSpPr>
        <p:spPr>
          <a:xfrm>
            <a:off x="7982712" y="4174236"/>
            <a:ext cx="1828800" cy="306324"/>
          </a:xfrm>
          <a:prstGeom prst="rect">
            <a:avLst/>
          </a:prstGeom>
          <a:noFill/>
          <a:ln/>
        </p:spPr>
        <p:txBody>
          <a:bodyPr wrap="square" lIns="0" tIns="0" rIns="0" bIns="0" rtlCol="0" anchor="ctr"/>
          <a:lstStyle/>
          <a:p>
            <a:pPr algn="r" indent="0" marL="0">
              <a:buNone/>
            </a:pPr>
            <a:r>
              <a:rPr lang="en-US" sz="1100" dirty="0">
                <a:solidFill>
                  <a:srgbClr val="ADB2B9"/>
                </a:solidFill>
                <a:latin typeface="Calibri" pitchFamily="34" charset="0"/>
                <a:ea typeface="Calibri" pitchFamily="34" charset="-122"/>
                <a:cs typeface="Calibri" pitchFamily="34" charset="-120"/>
              </a:rPr>
              <a:t>8 000</a:t>
            </a:r>
            <a:endParaRPr lang="en-US" sz="1100" dirty="0"/>
          </a:p>
        </p:txBody>
      </p:sp>
      <p:sp>
        <p:nvSpPr>
          <p:cNvPr id="44" name="Text 42"/>
          <p:cNvSpPr txBox="1"/>
          <p:nvPr/>
        </p:nvSpPr>
        <p:spPr>
          <a:xfrm>
            <a:off x="9811512" y="4174236"/>
            <a:ext cx="1828800" cy="306324"/>
          </a:xfrm>
          <a:prstGeom prst="rect">
            <a:avLst/>
          </a:prstGeom>
          <a:noFill/>
          <a:ln/>
        </p:spPr>
        <p:txBody>
          <a:bodyPr wrap="square" lIns="0" tIns="0" rIns="0" bIns="0" rtlCol="0" anchor="ctr"/>
          <a:lstStyle/>
          <a:p>
            <a:pPr algn="r" indent="0" marL="0">
              <a:buNone/>
            </a:pPr>
            <a:r>
              <a:rPr lang="en-US" sz="1100" dirty="0">
                <a:solidFill>
                  <a:srgbClr val="ADB2B9"/>
                </a:solidFill>
                <a:latin typeface="Calibri" pitchFamily="34" charset="0"/>
                <a:ea typeface="Calibri" pitchFamily="34" charset="-122"/>
                <a:cs typeface="Calibri" pitchFamily="34" charset="-120"/>
              </a:rPr>
              <a:t>15 000</a:t>
            </a:r>
            <a:endParaRPr lang="en-US" sz="1100" dirty="0"/>
          </a:p>
        </p:txBody>
      </p:sp>
      <p:sp>
        <p:nvSpPr>
          <p:cNvPr id="45" name="Text 43"/>
          <p:cNvSpPr txBox="1"/>
          <p:nvPr/>
        </p:nvSpPr>
        <p:spPr>
          <a:xfrm>
            <a:off x="548640" y="4480560"/>
            <a:ext cx="5605272" cy="306324"/>
          </a:xfrm>
          <a:prstGeom prst="rect">
            <a:avLst/>
          </a:prstGeom>
          <a:noFill/>
          <a:ln/>
        </p:spPr>
        <p:txBody>
          <a:bodyPr wrap="square" lIns="0" tIns="0" rIns="0" bIns="0" rtlCol="0" anchor="ctr"/>
          <a:lstStyle/>
          <a:p>
            <a:pPr algn="l" indent="0" marL="0">
              <a:buNone/>
            </a:pPr>
            <a:r>
              <a:rPr lang="en-US" sz="1100" dirty="0">
                <a:solidFill>
                  <a:srgbClr val="E8EAED"/>
                </a:solidFill>
                <a:latin typeface="Calibri" pitchFamily="34" charset="0"/>
                <a:ea typeface="Calibri" pitchFamily="34" charset="-122"/>
                <a:cs typeface="Calibri" pitchFamily="34" charset="-120"/>
              </a:rPr>
              <a:t>Frais de paiement</a:t>
            </a:r>
            <a:endParaRPr lang="en-US" sz="1100" dirty="0"/>
          </a:p>
        </p:txBody>
      </p:sp>
      <p:sp>
        <p:nvSpPr>
          <p:cNvPr id="46" name="Text 44"/>
          <p:cNvSpPr txBox="1"/>
          <p:nvPr/>
        </p:nvSpPr>
        <p:spPr>
          <a:xfrm>
            <a:off x="6153912" y="4480560"/>
            <a:ext cx="1828800" cy="306324"/>
          </a:xfrm>
          <a:prstGeom prst="rect">
            <a:avLst/>
          </a:prstGeom>
          <a:noFill/>
          <a:ln/>
        </p:spPr>
        <p:txBody>
          <a:bodyPr wrap="square" lIns="0" tIns="0" rIns="0" bIns="0" rtlCol="0" anchor="ctr"/>
          <a:lstStyle/>
          <a:p>
            <a:pPr algn="r" indent="0" marL="0">
              <a:buNone/>
            </a:pPr>
            <a:r>
              <a:rPr lang="en-US" sz="1100" dirty="0">
                <a:solidFill>
                  <a:srgbClr val="ADB2B9"/>
                </a:solidFill>
                <a:latin typeface="Calibri" pitchFamily="34" charset="0"/>
                <a:ea typeface="Calibri" pitchFamily="34" charset="-122"/>
                <a:cs typeface="Calibri" pitchFamily="34" charset="-120"/>
              </a:rPr>
              <a:t>84</a:t>
            </a:r>
            <a:endParaRPr lang="en-US" sz="1100" dirty="0"/>
          </a:p>
        </p:txBody>
      </p:sp>
      <p:sp>
        <p:nvSpPr>
          <p:cNvPr id="47" name="Text 45"/>
          <p:cNvSpPr txBox="1"/>
          <p:nvPr/>
        </p:nvSpPr>
        <p:spPr>
          <a:xfrm>
            <a:off x="7982712" y="4480560"/>
            <a:ext cx="1828800" cy="306324"/>
          </a:xfrm>
          <a:prstGeom prst="rect">
            <a:avLst/>
          </a:prstGeom>
          <a:noFill/>
          <a:ln/>
        </p:spPr>
        <p:txBody>
          <a:bodyPr wrap="square" lIns="0" tIns="0" rIns="0" bIns="0" rtlCol="0" anchor="ctr"/>
          <a:lstStyle/>
          <a:p>
            <a:pPr algn="r" indent="0" marL="0">
              <a:buNone/>
            </a:pPr>
            <a:r>
              <a:rPr lang="en-US" sz="1100" dirty="0">
                <a:solidFill>
                  <a:srgbClr val="ADB2B9"/>
                </a:solidFill>
                <a:latin typeface="Calibri" pitchFamily="34" charset="0"/>
                <a:ea typeface="Calibri" pitchFamily="34" charset="-122"/>
                <a:cs typeface="Calibri" pitchFamily="34" charset="-120"/>
              </a:rPr>
              <a:t>820</a:t>
            </a:r>
            <a:endParaRPr lang="en-US" sz="1100" dirty="0"/>
          </a:p>
        </p:txBody>
      </p:sp>
      <p:sp>
        <p:nvSpPr>
          <p:cNvPr id="48" name="Text 46"/>
          <p:cNvSpPr txBox="1"/>
          <p:nvPr/>
        </p:nvSpPr>
        <p:spPr>
          <a:xfrm>
            <a:off x="9811512" y="4480560"/>
            <a:ext cx="1828800" cy="306324"/>
          </a:xfrm>
          <a:prstGeom prst="rect">
            <a:avLst/>
          </a:prstGeom>
          <a:noFill/>
          <a:ln/>
        </p:spPr>
        <p:txBody>
          <a:bodyPr wrap="square" lIns="0" tIns="0" rIns="0" bIns="0" rtlCol="0" anchor="ctr"/>
          <a:lstStyle/>
          <a:p>
            <a:pPr algn="r" indent="0" marL="0">
              <a:buNone/>
            </a:pPr>
            <a:r>
              <a:rPr lang="en-US" sz="1100" dirty="0">
                <a:solidFill>
                  <a:srgbClr val="ADB2B9"/>
                </a:solidFill>
                <a:latin typeface="Calibri" pitchFamily="34" charset="0"/>
                <a:ea typeface="Calibri" pitchFamily="34" charset="-122"/>
                <a:cs typeface="Calibri" pitchFamily="34" charset="-120"/>
              </a:rPr>
              <a:t>2 040</a:t>
            </a:r>
            <a:endParaRPr lang="en-US" sz="1100" dirty="0"/>
          </a:p>
        </p:txBody>
      </p:sp>
      <p:sp>
        <p:nvSpPr>
          <p:cNvPr id="49" name="Shape 47"/>
          <p:cNvSpPr/>
          <p:nvPr/>
        </p:nvSpPr>
        <p:spPr>
          <a:xfrm>
            <a:off x="475488" y="4786884"/>
            <a:ext cx="11237976" cy="306324"/>
          </a:xfrm>
          <a:prstGeom prst="rect">
            <a:avLst/>
          </a:prstGeom>
          <a:solidFill>
            <a:srgbClr val="1D2026"/>
          </a:solidFill>
          <a:ln w="12700">
            <a:solidFill>
              <a:srgbClr val="1D2026"/>
            </a:solidFill>
            <a:prstDash val="solid"/>
          </a:ln>
        </p:spPr>
      </p:sp>
      <p:sp>
        <p:nvSpPr>
          <p:cNvPr id="50" name="Text 48"/>
          <p:cNvSpPr txBox="1"/>
          <p:nvPr/>
        </p:nvSpPr>
        <p:spPr>
          <a:xfrm>
            <a:off x="548640" y="4786884"/>
            <a:ext cx="5605272" cy="306324"/>
          </a:xfrm>
          <a:prstGeom prst="rect">
            <a:avLst/>
          </a:prstGeom>
          <a:noFill/>
          <a:ln/>
        </p:spPr>
        <p:txBody>
          <a:bodyPr wrap="square" lIns="0" tIns="0" rIns="0" bIns="0" rtlCol="0" anchor="ctr"/>
          <a:lstStyle/>
          <a:p>
            <a:pPr algn="l" indent="0" marL="0">
              <a:buNone/>
            </a:pPr>
            <a:r>
              <a:rPr lang="en-US" sz="1100" dirty="0">
                <a:solidFill>
                  <a:srgbClr val="E8EAED"/>
                </a:solidFill>
                <a:latin typeface="Calibri" pitchFamily="34" charset="0"/>
                <a:ea typeface="Calibri" pitchFamily="34" charset="-122"/>
                <a:cs typeface="Calibri" pitchFamily="34" charset="-120"/>
              </a:rPr>
              <a:t>Outils (e-mail, supervision)</a:t>
            </a:r>
            <a:endParaRPr lang="en-US" sz="1100" dirty="0"/>
          </a:p>
        </p:txBody>
      </p:sp>
      <p:sp>
        <p:nvSpPr>
          <p:cNvPr id="51" name="Text 49"/>
          <p:cNvSpPr txBox="1"/>
          <p:nvPr/>
        </p:nvSpPr>
        <p:spPr>
          <a:xfrm>
            <a:off x="6153912" y="4786884"/>
            <a:ext cx="1828800" cy="306324"/>
          </a:xfrm>
          <a:prstGeom prst="rect">
            <a:avLst/>
          </a:prstGeom>
          <a:noFill/>
          <a:ln/>
        </p:spPr>
        <p:txBody>
          <a:bodyPr wrap="square" lIns="0" tIns="0" rIns="0" bIns="0" rtlCol="0" anchor="ctr"/>
          <a:lstStyle/>
          <a:p>
            <a:pPr algn="r" indent="0" marL="0">
              <a:buNone/>
            </a:pPr>
            <a:r>
              <a:rPr lang="en-US" sz="1100" dirty="0">
                <a:solidFill>
                  <a:srgbClr val="ADB2B9"/>
                </a:solidFill>
                <a:latin typeface="Calibri" pitchFamily="34" charset="0"/>
                <a:ea typeface="Calibri" pitchFamily="34" charset="-122"/>
                <a:cs typeface="Calibri" pitchFamily="34" charset="-120"/>
              </a:rPr>
              <a:t>—</a:t>
            </a:r>
            <a:endParaRPr lang="en-US" sz="1100" dirty="0"/>
          </a:p>
        </p:txBody>
      </p:sp>
      <p:sp>
        <p:nvSpPr>
          <p:cNvPr id="52" name="Text 50"/>
          <p:cNvSpPr txBox="1"/>
          <p:nvPr/>
        </p:nvSpPr>
        <p:spPr>
          <a:xfrm>
            <a:off x="7982712" y="4786884"/>
            <a:ext cx="1828800" cy="306324"/>
          </a:xfrm>
          <a:prstGeom prst="rect">
            <a:avLst/>
          </a:prstGeom>
          <a:noFill/>
          <a:ln/>
        </p:spPr>
        <p:txBody>
          <a:bodyPr wrap="square" lIns="0" tIns="0" rIns="0" bIns="0" rtlCol="0" anchor="ctr"/>
          <a:lstStyle/>
          <a:p>
            <a:pPr algn="r" indent="0" marL="0">
              <a:buNone/>
            </a:pPr>
            <a:r>
              <a:rPr lang="en-US" sz="1100" dirty="0">
                <a:solidFill>
                  <a:srgbClr val="ADB2B9"/>
                </a:solidFill>
                <a:latin typeface="Calibri" pitchFamily="34" charset="0"/>
                <a:ea typeface="Calibri" pitchFamily="34" charset="-122"/>
                <a:cs typeface="Calibri" pitchFamily="34" charset="-120"/>
              </a:rPr>
              <a:t>600</a:t>
            </a:r>
            <a:endParaRPr lang="en-US" sz="1100" dirty="0"/>
          </a:p>
        </p:txBody>
      </p:sp>
      <p:sp>
        <p:nvSpPr>
          <p:cNvPr id="53" name="Text 51"/>
          <p:cNvSpPr txBox="1"/>
          <p:nvPr/>
        </p:nvSpPr>
        <p:spPr>
          <a:xfrm>
            <a:off x="9811512" y="4786884"/>
            <a:ext cx="1828800" cy="306324"/>
          </a:xfrm>
          <a:prstGeom prst="rect">
            <a:avLst/>
          </a:prstGeom>
          <a:noFill/>
          <a:ln/>
        </p:spPr>
        <p:txBody>
          <a:bodyPr wrap="square" lIns="0" tIns="0" rIns="0" bIns="0" rtlCol="0" anchor="ctr"/>
          <a:lstStyle/>
          <a:p>
            <a:pPr algn="r" indent="0" marL="0">
              <a:buNone/>
            </a:pPr>
            <a:r>
              <a:rPr lang="en-US" sz="1100" dirty="0">
                <a:solidFill>
                  <a:srgbClr val="ADB2B9"/>
                </a:solidFill>
                <a:latin typeface="Calibri" pitchFamily="34" charset="0"/>
                <a:ea typeface="Calibri" pitchFamily="34" charset="-122"/>
                <a:cs typeface="Calibri" pitchFamily="34" charset="-120"/>
              </a:rPr>
              <a:t>1 200</a:t>
            </a:r>
            <a:endParaRPr lang="en-US" sz="1100" dirty="0"/>
          </a:p>
        </p:txBody>
      </p:sp>
      <p:sp>
        <p:nvSpPr>
          <p:cNvPr id="54" name="Text 52"/>
          <p:cNvSpPr txBox="1"/>
          <p:nvPr/>
        </p:nvSpPr>
        <p:spPr>
          <a:xfrm>
            <a:off x="548640" y="5093208"/>
            <a:ext cx="5605272" cy="306324"/>
          </a:xfrm>
          <a:prstGeom prst="rect">
            <a:avLst/>
          </a:prstGeom>
          <a:noFill/>
          <a:ln/>
        </p:spPr>
        <p:txBody>
          <a:bodyPr wrap="square" lIns="0" tIns="0" rIns="0" bIns="0" rtlCol="0" anchor="ctr"/>
          <a:lstStyle/>
          <a:p>
            <a:pPr algn="l" indent="0" marL="0">
              <a:buNone/>
            </a:pPr>
            <a:r>
              <a:rPr lang="en-US" sz="1100" dirty="0">
                <a:solidFill>
                  <a:srgbClr val="E8EAED"/>
                </a:solidFill>
                <a:latin typeface="Calibri" pitchFamily="34" charset="0"/>
                <a:ea typeface="Calibri" pitchFamily="34" charset="-122"/>
                <a:cs typeface="Calibri" pitchFamily="34" charset="-120"/>
              </a:rPr>
              <a:t>Support client en freelance</a:t>
            </a:r>
            <a:endParaRPr lang="en-US" sz="1100" dirty="0"/>
          </a:p>
        </p:txBody>
      </p:sp>
      <p:sp>
        <p:nvSpPr>
          <p:cNvPr id="55" name="Text 53"/>
          <p:cNvSpPr txBox="1"/>
          <p:nvPr/>
        </p:nvSpPr>
        <p:spPr>
          <a:xfrm>
            <a:off x="6153912" y="5093208"/>
            <a:ext cx="1828800" cy="306324"/>
          </a:xfrm>
          <a:prstGeom prst="rect">
            <a:avLst/>
          </a:prstGeom>
          <a:noFill/>
          <a:ln/>
        </p:spPr>
        <p:txBody>
          <a:bodyPr wrap="square" lIns="0" tIns="0" rIns="0" bIns="0" rtlCol="0" anchor="ctr"/>
          <a:lstStyle/>
          <a:p>
            <a:pPr algn="r" indent="0" marL="0">
              <a:buNone/>
            </a:pPr>
            <a:r>
              <a:rPr lang="en-US" sz="1100" dirty="0">
                <a:solidFill>
                  <a:srgbClr val="ADB2B9"/>
                </a:solidFill>
                <a:latin typeface="Calibri" pitchFamily="34" charset="0"/>
                <a:ea typeface="Calibri" pitchFamily="34" charset="-122"/>
                <a:cs typeface="Calibri" pitchFamily="34" charset="-120"/>
              </a:rPr>
              <a:t>—</a:t>
            </a:r>
            <a:endParaRPr lang="en-US" sz="1100" dirty="0"/>
          </a:p>
        </p:txBody>
      </p:sp>
      <p:sp>
        <p:nvSpPr>
          <p:cNvPr id="56" name="Text 54"/>
          <p:cNvSpPr txBox="1"/>
          <p:nvPr/>
        </p:nvSpPr>
        <p:spPr>
          <a:xfrm>
            <a:off x="7982712" y="5093208"/>
            <a:ext cx="1828800" cy="306324"/>
          </a:xfrm>
          <a:prstGeom prst="rect">
            <a:avLst/>
          </a:prstGeom>
          <a:noFill/>
          <a:ln/>
        </p:spPr>
        <p:txBody>
          <a:bodyPr wrap="square" lIns="0" tIns="0" rIns="0" bIns="0" rtlCol="0" anchor="ctr"/>
          <a:lstStyle/>
          <a:p>
            <a:pPr algn="r" indent="0" marL="0">
              <a:buNone/>
            </a:pPr>
            <a:r>
              <a:rPr lang="en-US" sz="1100" dirty="0">
                <a:solidFill>
                  <a:srgbClr val="ADB2B9"/>
                </a:solidFill>
                <a:latin typeface="Calibri" pitchFamily="34" charset="0"/>
                <a:ea typeface="Calibri" pitchFamily="34" charset="-122"/>
                <a:cs typeface="Calibri" pitchFamily="34" charset="-120"/>
              </a:rPr>
              <a:t>—</a:t>
            </a:r>
            <a:endParaRPr lang="en-US" sz="1100" dirty="0"/>
          </a:p>
        </p:txBody>
      </p:sp>
      <p:sp>
        <p:nvSpPr>
          <p:cNvPr id="57" name="Text 55"/>
          <p:cNvSpPr txBox="1"/>
          <p:nvPr/>
        </p:nvSpPr>
        <p:spPr>
          <a:xfrm>
            <a:off x="9811512" y="5093208"/>
            <a:ext cx="1828800" cy="306324"/>
          </a:xfrm>
          <a:prstGeom prst="rect">
            <a:avLst/>
          </a:prstGeom>
          <a:noFill/>
          <a:ln/>
        </p:spPr>
        <p:txBody>
          <a:bodyPr wrap="square" lIns="0" tIns="0" rIns="0" bIns="0" rtlCol="0" anchor="ctr"/>
          <a:lstStyle/>
          <a:p>
            <a:pPr algn="r" indent="0" marL="0">
              <a:buNone/>
            </a:pPr>
            <a:r>
              <a:rPr lang="en-US" sz="1100" dirty="0">
                <a:solidFill>
                  <a:srgbClr val="ADB2B9"/>
                </a:solidFill>
                <a:latin typeface="Calibri" pitchFamily="34" charset="0"/>
                <a:ea typeface="Calibri" pitchFamily="34" charset="-122"/>
                <a:cs typeface="Calibri" pitchFamily="34" charset="-120"/>
              </a:rPr>
              <a:t>6 000</a:t>
            </a:r>
            <a:endParaRPr lang="en-US" sz="1100" dirty="0"/>
          </a:p>
        </p:txBody>
      </p:sp>
      <p:sp>
        <p:nvSpPr>
          <p:cNvPr id="58" name="Shape 56"/>
          <p:cNvSpPr/>
          <p:nvPr/>
        </p:nvSpPr>
        <p:spPr>
          <a:xfrm>
            <a:off x="475488" y="5399532"/>
            <a:ext cx="11237976" cy="306324"/>
          </a:xfrm>
          <a:prstGeom prst="rect">
            <a:avLst/>
          </a:prstGeom>
          <a:solidFill>
            <a:srgbClr val="1D2026"/>
          </a:solidFill>
          <a:ln w="12700">
            <a:solidFill>
              <a:srgbClr val="1D2026"/>
            </a:solidFill>
            <a:prstDash val="solid"/>
          </a:ln>
        </p:spPr>
      </p:sp>
      <p:sp>
        <p:nvSpPr>
          <p:cNvPr id="59" name="Text 57"/>
          <p:cNvSpPr txBox="1"/>
          <p:nvPr/>
        </p:nvSpPr>
        <p:spPr>
          <a:xfrm>
            <a:off x="548640" y="5399532"/>
            <a:ext cx="5605272" cy="306324"/>
          </a:xfrm>
          <a:prstGeom prst="rect">
            <a:avLst/>
          </a:prstGeom>
          <a:noFill/>
          <a:ln/>
        </p:spPr>
        <p:txBody>
          <a:bodyPr wrap="square" lIns="0" tIns="0" rIns="0" bIns="0" rtlCol="0" anchor="ctr"/>
          <a:lstStyle/>
          <a:p>
            <a:pPr algn="l" indent="0" marL="0">
              <a:buNone/>
            </a:pPr>
            <a:r>
              <a:rPr lang="en-US" sz="1100" dirty="0">
                <a:solidFill>
                  <a:srgbClr val="E8EAED"/>
                </a:solidFill>
                <a:latin typeface="Calibri" pitchFamily="34" charset="0"/>
                <a:ea typeface="Calibri" pitchFamily="34" charset="-122"/>
                <a:cs typeface="Calibri" pitchFamily="34" charset="-120"/>
              </a:rPr>
              <a:t>Total des charges</a:t>
            </a:r>
            <a:endParaRPr lang="en-US" sz="1100" dirty="0"/>
          </a:p>
        </p:txBody>
      </p:sp>
      <p:sp>
        <p:nvSpPr>
          <p:cNvPr id="60" name="Text 58"/>
          <p:cNvSpPr txBox="1"/>
          <p:nvPr/>
        </p:nvSpPr>
        <p:spPr>
          <a:xfrm>
            <a:off x="6153912" y="5399532"/>
            <a:ext cx="1828800" cy="306324"/>
          </a:xfrm>
          <a:prstGeom prst="rect">
            <a:avLst/>
          </a:prstGeom>
          <a:noFill/>
          <a:ln/>
        </p:spPr>
        <p:txBody>
          <a:bodyPr wrap="square" lIns="0" tIns="0" rIns="0" bIns="0" rtlCol="0" anchor="ctr"/>
          <a:lstStyle/>
          <a:p>
            <a:pPr algn="r" indent="0" marL="0">
              <a:buNone/>
            </a:pPr>
            <a:r>
              <a:rPr lang="en-US" sz="1100" b="1" dirty="0">
                <a:solidFill>
                  <a:srgbClr val="E8EAED"/>
                </a:solidFill>
                <a:latin typeface="Calibri" pitchFamily="34" charset="0"/>
                <a:ea typeface="Calibri" pitchFamily="34" charset="-122"/>
                <a:cs typeface="Calibri" pitchFamily="34" charset="-120"/>
              </a:rPr>
              <a:t>9 004</a:t>
            </a:r>
            <a:endParaRPr lang="en-US" sz="1100" dirty="0"/>
          </a:p>
        </p:txBody>
      </p:sp>
      <p:sp>
        <p:nvSpPr>
          <p:cNvPr id="61" name="Text 59"/>
          <p:cNvSpPr txBox="1"/>
          <p:nvPr/>
        </p:nvSpPr>
        <p:spPr>
          <a:xfrm>
            <a:off x="7982712" y="5399532"/>
            <a:ext cx="1828800" cy="306324"/>
          </a:xfrm>
          <a:prstGeom prst="rect">
            <a:avLst/>
          </a:prstGeom>
          <a:noFill/>
          <a:ln/>
        </p:spPr>
        <p:txBody>
          <a:bodyPr wrap="square" lIns="0" tIns="0" rIns="0" bIns="0" rtlCol="0" anchor="ctr"/>
          <a:lstStyle/>
          <a:p>
            <a:pPr algn="r" indent="0" marL="0">
              <a:buNone/>
            </a:pPr>
            <a:r>
              <a:rPr lang="en-US" sz="1100" b="1" dirty="0">
                <a:solidFill>
                  <a:srgbClr val="E8EAED"/>
                </a:solidFill>
                <a:latin typeface="Calibri" pitchFamily="34" charset="0"/>
                <a:ea typeface="Calibri" pitchFamily="34" charset="-122"/>
                <a:cs typeface="Calibri" pitchFamily="34" charset="-120"/>
              </a:rPr>
              <a:t>12 720</a:t>
            </a:r>
            <a:endParaRPr lang="en-US" sz="1100" dirty="0"/>
          </a:p>
        </p:txBody>
      </p:sp>
      <p:sp>
        <p:nvSpPr>
          <p:cNvPr id="62" name="Text 60"/>
          <p:cNvSpPr txBox="1"/>
          <p:nvPr/>
        </p:nvSpPr>
        <p:spPr>
          <a:xfrm>
            <a:off x="9811512" y="5399532"/>
            <a:ext cx="1828800" cy="306324"/>
          </a:xfrm>
          <a:prstGeom prst="rect">
            <a:avLst/>
          </a:prstGeom>
          <a:noFill/>
          <a:ln/>
        </p:spPr>
        <p:txBody>
          <a:bodyPr wrap="square" lIns="0" tIns="0" rIns="0" bIns="0" rtlCol="0" anchor="ctr"/>
          <a:lstStyle/>
          <a:p>
            <a:pPr algn="r" indent="0" marL="0">
              <a:buNone/>
            </a:pPr>
            <a:r>
              <a:rPr lang="en-US" sz="1100" b="1" dirty="0">
                <a:solidFill>
                  <a:srgbClr val="E8EAED"/>
                </a:solidFill>
                <a:latin typeface="Calibri" pitchFamily="34" charset="0"/>
                <a:ea typeface="Calibri" pitchFamily="34" charset="-122"/>
                <a:cs typeface="Calibri" pitchFamily="34" charset="-120"/>
              </a:rPr>
              <a:t>29 740</a:t>
            </a:r>
            <a:endParaRPr lang="en-US" sz="1100" dirty="0"/>
          </a:p>
        </p:txBody>
      </p:sp>
      <p:sp>
        <p:nvSpPr>
          <p:cNvPr id="63" name="Shape 61"/>
          <p:cNvSpPr/>
          <p:nvPr/>
        </p:nvSpPr>
        <p:spPr>
          <a:xfrm>
            <a:off x="475488" y="5705856"/>
            <a:ext cx="11237976" cy="306324"/>
          </a:xfrm>
          <a:prstGeom prst="roundRect">
            <a:avLst>
              <a:gd name="adj" fmla="val 14925"/>
            </a:avLst>
          </a:prstGeom>
          <a:solidFill>
            <a:srgbClr val="23272E"/>
          </a:solidFill>
          <a:ln w="12700">
            <a:solidFill>
              <a:srgbClr val="E3B23C"/>
            </a:solidFill>
            <a:prstDash val="solid"/>
          </a:ln>
        </p:spPr>
      </p:sp>
      <p:sp>
        <p:nvSpPr>
          <p:cNvPr id="64" name="Text 62"/>
          <p:cNvSpPr txBox="1"/>
          <p:nvPr/>
        </p:nvSpPr>
        <p:spPr>
          <a:xfrm>
            <a:off x="548640" y="5705856"/>
            <a:ext cx="5605272" cy="306324"/>
          </a:xfrm>
          <a:prstGeom prst="rect">
            <a:avLst/>
          </a:prstGeom>
          <a:noFill/>
          <a:ln/>
        </p:spPr>
        <p:txBody>
          <a:bodyPr wrap="square" lIns="0" tIns="0" rIns="0" bIns="0" rtlCol="0" anchor="ctr"/>
          <a:lstStyle/>
          <a:p>
            <a:pPr algn="l" indent="0" marL="0">
              <a:buNone/>
            </a:pPr>
            <a:r>
              <a:rPr lang="en-US" sz="1100" b="1" dirty="0">
                <a:solidFill>
                  <a:srgbClr val="E8EAED"/>
                </a:solidFill>
                <a:latin typeface="Calibri" pitchFamily="34" charset="0"/>
                <a:ea typeface="Calibri" pitchFamily="34" charset="-122"/>
                <a:cs typeface="Calibri" pitchFamily="34" charset="-120"/>
              </a:rPr>
              <a:t>Résultat</a:t>
            </a:r>
            <a:endParaRPr lang="en-US" sz="1100" dirty="0"/>
          </a:p>
        </p:txBody>
      </p:sp>
      <p:sp>
        <p:nvSpPr>
          <p:cNvPr id="65" name="Text 63"/>
          <p:cNvSpPr txBox="1"/>
          <p:nvPr/>
        </p:nvSpPr>
        <p:spPr>
          <a:xfrm>
            <a:off x="6153912" y="5705856"/>
            <a:ext cx="1828800" cy="306324"/>
          </a:xfrm>
          <a:prstGeom prst="rect">
            <a:avLst/>
          </a:prstGeom>
          <a:noFill/>
          <a:ln/>
        </p:spPr>
        <p:txBody>
          <a:bodyPr wrap="square" lIns="0" tIns="0" rIns="0" bIns="0" rtlCol="0" anchor="ctr"/>
          <a:lstStyle/>
          <a:p>
            <a:pPr algn="r" indent="0" marL="0">
              <a:buNone/>
            </a:pPr>
            <a:r>
              <a:rPr lang="en-US" sz="1100" b="1" dirty="0">
                <a:solidFill>
                  <a:srgbClr val="E2675F"/>
                </a:solidFill>
                <a:latin typeface="Calibri" pitchFamily="34" charset="0"/>
                <a:ea typeface="Calibri" pitchFamily="34" charset="-122"/>
                <a:cs typeface="Calibri" pitchFamily="34" charset="-120"/>
              </a:rPr>
              <a:t>− 5 647</a:t>
            </a:r>
            <a:endParaRPr lang="en-US" sz="1100" dirty="0"/>
          </a:p>
        </p:txBody>
      </p:sp>
      <p:sp>
        <p:nvSpPr>
          <p:cNvPr id="66" name="Text 64"/>
          <p:cNvSpPr txBox="1"/>
          <p:nvPr/>
        </p:nvSpPr>
        <p:spPr>
          <a:xfrm>
            <a:off x="7982712" y="5705856"/>
            <a:ext cx="1828800" cy="306324"/>
          </a:xfrm>
          <a:prstGeom prst="rect">
            <a:avLst/>
          </a:prstGeom>
          <a:noFill/>
          <a:ln/>
        </p:spPr>
        <p:txBody>
          <a:bodyPr wrap="square" lIns="0" tIns="0" rIns="0" bIns="0" rtlCol="0" anchor="ctr"/>
          <a:lstStyle/>
          <a:p>
            <a:pPr algn="r" indent="0" marL="0">
              <a:buNone/>
            </a:pPr>
            <a:r>
              <a:rPr lang="en-US" sz="1100" b="1" dirty="0">
                <a:solidFill>
                  <a:srgbClr val="5EC080"/>
                </a:solidFill>
                <a:latin typeface="Calibri" pitchFamily="34" charset="0"/>
                <a:ea typeface="Calibri" pitchFamily="34" charset="-122"/>
                <a:cs typeface="Calibri" pitchFamily="34" charset="-120"/>
              </a:rPr>
              <a:t>+ 20 069</a:t>
            </a:r>
            <a:endParaRPr lang="en-US" sz="1100" dirty="0"/>
          </a:p>
        </p:txBody>
      </p:sp>
      <p:sp>
        <p:nvSpPr>
          <p:cNvPr id="67" name="Text 65"/>
          <p:cNvSpPr txBox="1"/>
          <p:nvPr/>
        </p:nvSpPr>
        <p:spPr>
          <a:xfrm>
            <a:off x="9811512" y="5705856"/>
            <a:ext cx="1828800" cy="306324"/>
          </a:xfrm>
          <a:prstGeom prst="rect">
            <a:avLst/>
          </a:prstGeom>
          <a:noFill/>
          <a:ln/>
        </p:spPr>
        <p:txBody>
          <a:bodyPr wrap="square" lIns="0" tIns="0" rIns="0" bIns="0" rtlCol="0" anchor="ctr"/>
          <a:lstStyle/>
          <a:p>
            <a:pPr algn="r" indent="0" marL="0">
              <a:buNone/>
            </a:pPr>
            <a:r>
              <a:rPr lang="en-US" sz="1100" b="1" dirty="0">
                <a:solidFill>
                  <a:srgbClr val="5EC080"/>
                </a:solidFill>
                <a:latin typeface="Calibri" pitchFamily="34" charset="0"/>
                <a:ea typeface="Calibri" pitchFamily="34" charset="-122"/>
                <a:cs typeface="Calibri" pitchFamily="34" charset="-120"/>
              </a:rPr>
              <a:t>+ 51 806</a:t>
            </a:r>
            <a:endParaRPr lang="en-US" sz="1100" dirty="0"/>
          </a:p>
        </p:txBody>
      </p:sp>
      <p:sp>
        <p:nvSpPr>
          <p:cNvPr id="68" name="Text 66"/>
          <p:cNvSpPr txBox="1"/>
          <p:nvPr/>
        </p:nvSpPr>
        <p:spPr>
          <a:xfrm>
            <a:off x="548640" y="5961888"/>
            <a:ext cx="11091672" cy="310896"/>
          </a:xfrm>
          <a:prstGeom prst="rect">
            <a:avLst/>
          </a:prstGeom>
          <a:noFill/>
          <a:ln/>
        </p:spPr>
        <p:txBody>
          <a:bodyPr wrap="square" lIns="0" tIns="0" rIns="0" bIns="0" rtlCol="0" anchor="ctr"/>
          <a:lstStyle/>
          <a:p>
            <a:pPr indent="0" marL="0">
              <a:buNone/>
            </a:pPr>
            <a:r>
              <a:rPr lang="en-US" sz="950" i="1" dirty="0">
                <a:solidFill>
                  <a:srgbClr val="868E99"/>
                </a:solidFill>
                <a:latin typeface="Calibri" pitchFamily="34" charset="0"/>
                <a:ea typeface="Calibri" pitchFamily="34" charset="-122"/>
                <a:cs typeface="Calibri" pitchFamily="34" charset="-120"/>
              </a:rPr>
              <a:t>Point mort mensuel ≈ 1 000 € de charges fixes, atteint vers le mois 13 · montants hors TVA · hypothèses diapositive 13</a:t>
            </a:r>
            <a:endParaRPr lang="en-US" sz="950" dirty="0"/>
          </a:p>
        </p:txBody>
      </p:sp>
      <p:sp>
        <p:nvSpPr>
          <p:cNvPr id="69" name="Text 67"/>
          <p:cNvSpPr txBox="1"/>
          <p:nvPr/>
        </p:nvSpPr>
        <p:spPr>
          <a:xfrm>
            <a:off x="548640" y="6336792"/>
            <a:ext cx="8229600" cy="274320"/>
          </a:xfrm>
          <a:prstGeom prst="rect">
            <a:avLst/>
          </a:prstGeom>
          <a:noFill/>
          <a:ln/>
        </p:spPr>
        <p:txBody>
          <a:bodyPr wrap="square" lIns="0" tIns="0" rIns="0" bIns="0" rtlCol="0" anchor="ctr"/>
          <a:lstStyle/>
          <a:p>
            <a:pPr algn="l" indent="0" marL="0">
              <a:buNone/>
            </a:pPr>
            <a:r>
              <a:rPr lang="en-US" sz="900" dirty="0">
                <a:solidFill>
                  <a:srgbClr val="868E99"/>
                </a:solidFill>
                <a:latin typeface="Calibri" pitchFamily="34" charset="0"/>
                <a:ea typeface="Calibri" pitchFamily="34" charset="-122"/>
                <a:cs typeface="Calibri" pitchFamily="34" charset="-120"/>
              </a:rPr>
              <a:t>fitcarnet Pro · business plan · 21 septembre 2026</a:t>
            </a:r>
            <a:endParaRPr lang="en-US" sz="900" dirty="0"/>
          </a:p>
        </p:txBody>
      </p:sp>
      <p:sp>
        <p:nvSpPr>
          <p:cNvPr id="70" name="Text 68"/>
          <p:cNvSpPr txBox="1"/>
          <p:nvPr/>
        </p:nvSpPr>
        <p:spPr>
          <a:xfrm>
            <a:off x="8897112" y="6336792"/>
            <a:ext cx="2743200" cy="274320"/>
          </a:xfrm>
          <a:prstGeom prst="rect">
            <a:avLst/>
          </a:prstGeom>
          <a:noFill/>
          <a:ln/>
        </p:spPr>
        <p:txBody>
          <a:bodyPr wrap="square" lIns="0" tIns="0" rIns="0" bIns="0" rtlCol="0" anchor="ctr"/>
          <a:lstStyle/>
          <a:p>
            <a:pPr algn="r" indent="0" marL="0">
              <a:buNone/>
            </a:pPr>
            <a:r>
              <a:rPr lang="en-US" sz="900" dirty="0">
                <a:solidFill>
                  <a:srgbClr val="868E99"/>
                </a:solidFill>
                <a:latin typeface="Calibri" pitchFamily="34" charset="0"/>
                <a:ea typeface="Calibri" pitchFamily="34" charset="-122"/>
                <a:cs typeface="Calibri" pitchFamily="34" charset="-120"/>
              </a:rPr>
              <a:t>22 / 24</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4161A"/>
        </a:solidFill>
      </p:bgPr>
    </p:bg>
    <p:spTree>
      <p:nvGrpSpPr>
        <p:cNvPr id="1" name=""/>
        <p:cNvGrpSpPr/>
        <p:nvPr/>
      </p:nvGrpSpPr>
      <p:grpSpPr>
        <a:xfrm>
          <a:off x="0" y="0"/>
          <a:ext cx="0" cy="0"/>
          <a:chOff x="0" y="0"/>
          <a:chExt cx="0" cy="0"/>
        </a:xfrm>
      </p:grpSpPr>
      <p:sp>
        <p:nvSpPr>
          <p:cNvPr id="2" name="Text 0"/>
          <p:cNvSpPr txBox="1"/>
          <p:nvPr/>
        </p:nvSpPr>
        <p:spPr>
          <a:xfrm>
            <a:off x="548640" y="347472"/>
            <a:ext cx="11091672" cy="237744"/>
          </a:xfrm>
          <a:prstGeom prst="rect">
            <a:avLst/>
          </a:prstGeom>
          <a:noFill/>
          <a:ln/>
        </p:spPr>
        <p:txBody>
          <a:bodyPr wrap="square" lIns="0" tIns="0" rIns="0" bIns="0" rtlCol="0" anchor="ctr"/>
          <a:lstStyle/>
          <a:p>
            <a:pPr indent="0" marL="0">
              <a:buNone/>
            </a:pPr>
            <a:r>
              <a:rPr lang="en-US" sz="1050" b="1" spc="200" kern="0" dirty="0">
                <a:solidFill>
                  <a:srgbClr val="E3B23C"/>
                </a:solidFill>
                <a:latin typeface="Calibri" pitchFamily="34" charset="0"/>
                <a:ea typeface="Calibri" pitchFamily="34" charset="-122"/>
                <a:cs typeface="Calibri" pitchFamily="34" charset="-120"/>
              </a:rPr>
              <a:t>ANNEXE</a:t>
            </a:r>
            <a:endParaRPr lang="en-US" sz="1050" dirty="0"/>
          </a:p>
        </p:txBody>
      </p:sp>
      <p:sp>
        <p:nvSpPr>
          <p:cNvPr id="3" name="Text 1"/>
          <p:cNvSpPr txBox="1"/>
          <p:nvPr/>
        </p:nvSpPr>
        <p:spPr>
          <a:xfrm>
            <a:off x="548640" y="603504"/>
            <a:ext cx="11091672" cy="566928"/>
          </a:xfrm>
          <a:prstGeom prst="rect">
            <a:avLst/>
          </a:prstGeom>
          <a:noFill/>
          <a:ln/>
        </p:spPr>
        <p:txBody>
          <a:bodyPr wrap="square" lIns="0" tIns="0" rIns="0" bIns="0" rtlCol="0" anchor="ctr"/>
          <a:lstStyle/>
          <a:p>
            <a:pPr indent="0" marL="0">
              <a:buNone/>
            </a:pPr>
            <a:r>
              <a:rPr lang="en-US" sz="3000" b="1" dirty="0">
                <a:solidFill>
                  <a:srgbClr val="E8EAED"/>
                </a:solidFill>
                <a:latin typeface="Arial Narrow" pitchFamily="34" charset="0"/>
                <a:ea typeface="Arial Narrow" pitchFamily="34" charset="-122"/>
                <a:cs typeface="Arial Narrow" pitchFamily="34" charset="-120"/>
              </a:rPr>
              <a:t>Cadre juridique et conformité</a:t>
            </a:r>
            <a:endParaRPr lang="en-US" sz="3000" dirty="0"/>
          </a:p>
        </p:txBody>
      </p:sp>
      <p:sp>
        <p:nvSpPr>
          <p:cNvPr id="4" name="Text 2"/>
          <p:cNvSpPr txBox="1"/>
          <p:nvPr/>
        </p:nvSpPr>
        <p:spPr>
          <a:xfrm>
            <a:off x="548640" y="1188720"/>
            <a:ext cx="11091672" cy="310896"/>
          </a:xfrm>
          <a:prstGeom prst="rect">
            <a:avLst/>
          </a:prstGeom>
          <a:noFill/>
          <a:ln/>
        </p:spPr>
        <p:txBody>
          <a:bodyPr wrap="square" lIns="0" tIns="0" rIns="0" bIns="0" rtlCol="0" anchor="ctr"/>
          <a:lstStyle/>
          <a:p>
            <a:pPr indent="0" marL="0">
              <a:buNone/>
            </a:pPr>
            <a:r>
              <a:rPr lang="en-US" sz="1450" dirty="0">
                <a:solidFill>
                  <a:srgbClr val="ADB2B9"/>
                </a:solidFill>
                <a:latin typeface="Calibri" pitchFamily="34" charset="0"/>
                <a:ea typeface="Calibri" pitchFamily="34" charset="-122"/>
                <a:cs typeface="Calibri" pitchFamily="34" charset="-120"/>
              </a:rPr>
              <a:t>À régler avant la première facture</a:t>
            </a:r>
            <a:endParaRPr lang="en-US" sz="1450" dirty="0"/>
          </a:p>
        </p:txBody>
      </p:sp>
      <p:sp>
        <p:nvSpPr>
          <p:cNvPr id="5" name="Shape 3"/>
          <p:cNvSpPr/>
          <p:nvPr/>
        </p:nvSpPr>
        <p:spPr>
          <a:xfrm>
            <a:off x="548640" y="1828800"/>
            <a:ext cx="3575304" cy="3017520"/>
          </a:xfrm>
          <a:prstGeom prst="roundRect">
            <a:avLst>
              <a:gd name="adj" fmla="val 2121"/>
            </a:avLst>
          </a:prstGeom>
          <a:solidFill>
            <a:srgbClr val="1D2026"/>
          </a:solidFill>
          <a:ln w="9525">
            <a:solidFill>
              <a:srgbClr val="2F343D"/>
            </a:solidFill>
            <a:prstDash val="solid"/>
          </a:ln>
        </p:spPr>
      </p:sp>
      <p:sp>
        <p:nvSpPr>
          <p:cNvPr id="6" name="Text 4"/>
          <p:cNvSpPr txBox="1"/>
          <p:nvPr/>
        </p:nvSpPr>
        <p:spPr>
          <a:xfrm>
            <a:off x="804672" y="1993392"/>
            <a:ext cx="3063240" cy="329184"/>
          </a:xfrm>
          <a:prstGeom prst="rect">
            <a:avLst/>
          </a:prstGeom>
          <a:noFill/>
          <a:ln/>
        </p:spPr>
        <p:txBody>
          <a:bodyPr wrap="square" lIns="0" tIns="0" rIns="0" bIns="0" rtlCol="0" anchor="ctr"/>
          <a:lstStyle/>
          <a:p>
            <a:pPr indent="0" marL="0">
              <a:buNone/>
            </a:pPr>
            <a:r>
              <a:rPr lang="en-US" sz="2100" b="1" dirty="0">
                <a:solidFill>
                  <a:srgbClr val="E3B23C"/>
                </a:solidFill>
                <a:latin typeface="Arial Narrow" pitchFamily="34" charset="0"/>
                <a:ea typeface="Arial Narrow" pitchFamily="34" charset="-122"/>
                <a:cs typeface="Arial Narrow" pitchFamily="34" charset="-120"/>
              </a:rPr>
              <a:t>Structure</a:t>
            </a:r>
            <a:endParaRPr lang="en-US" sz="2100" dirty="0"/>
          </a:p>
        </p:txBody>
      </p:sp>
      <p:sp>
        <p:nvSpPr>
          <p:cNvPr id="7" name="Shape 5"/>
          <p:cNvSpPr/>
          <p:nvPr/>
        </p:nvSpPr>
        <p:spPr>
          <a:xfrm>
            <a:off x="804672" y="2542032"/>
            <a:ext cx="109728" cy="29261"/>
          </a:xfrm>
          <a:prstGeom prst="rect">
            <a:avLst/>
          </a:prstGeom>
          <a:solidFill>
            <a:srgbClr val="E3B23C"/>
          </a:solidFill>
          <a:ln w="12700">
            <a:solidFill>
              <a:srgbClr val="E3B23C"/>
            </a:solidFill>
            <a:prstDash val="solid"/>
          </a:ln>
        </p:spPr>
      </p:sp>
      <p:sp>
        <p:nvSpPr>
          <p:cNvPr id="8" name="Text 6"/>
          <p:cNvSpPr txBox="1"/>
          <p:nvPr/>
        </p:nvSpPr>
        <p:spPr>
          <a:xfrm>
            <a:off x="1024128" y="2377440"/>
            <a:ext cx="2843784" cy="566928"/>
          </a:xfrm>
          <a:prstGeom prst="rect">
            <a:avLst/>
          </a:prstGeom>
          <a:noFill/>
          <a:ln/>
        </p:spPr>
        <p:txBody>
          <a:bodyPr wrap="square" lIns="0" tIns="0" rIns="0" bIns="0" rtlCol="0" anchor="t"/>
          <a:lstStyle/>
          <a:p>
            <a:pPr indent="0" marL="0">
              <a:lnSpc>
                <a:spcPts val="1500"/>
              </a:lnSpc>
              <a:buNone/>
            </a:pPr>
            <a:r>
              <a:rPr lang="en-US" sz="1100" dirty="0">
                <a:solidFill>
                  <a:srgbClr val="ADB2B9"/>
                </a:solidFill>
                <a:latin typeface="Calibri" pitchFamily="34" charset="0"/>
                <a:ea typeface="Calibri" pitchFamily="34" charset="-122"/>
                <a:cs typeface="Calibri" pitchFamily="34" charset="-120"/>
              </a:rPr>
              <a:t>Micro-entreprise pour démarrer ; plafond de chiffre d'affaires à vérifier pour l'année 3.</a:t>
            </a:r>
            <a:endParaRPr lang="en-US" sz="1100" dirty="0"/>
          </a:p>
        </p:txBody>
      </p:sp>
      <p:sp>
        <p:nvSpPr>
          <p:cNvPr id="9" name="Shape 7"/>
          <p:cNvSpPr/>
          <p:nvPr/>
        </p:nvSpPr>
        <p:spPr>
          <a:xfrm>
            <a:off x="804672" y="3108960"/>
            <a:ext cx="109728" cy="29261"/>
          </a:xfrm>
          <a:prstGeom prst="rect">
            <a:avLst/>
          </a:prstGeom>
          <a:solidFill>
            <a:srgbClr val="E3B23C"/>
          </a:solidFill>
          <a:ln w="12700">
            <a:solidFill>
              <a:srgbClr val="E3B23C"/>
            </a:solidFill>
            <a:prstDash val="solid"/>
          </a:ln>
        </p:spPr>
      </p:sp>
      <p:sp>
        <p:nvSpPr>
          <p:cNvPr id="10" name="Text 8"/>
          <p:cNvSpPr txBox="1"/>
          <p:nvPr/>
        </p:nvSpPr>
        <p:spPr>
          <a:xfrm>
            <a:off x="1024128" y="2944368"/>
            <a:ext cx="2843784" cy="566928"/>
          </a:xfrm>
          <a:prstGeom prst="rect">
            <a:avLst/>
          </a:prstGeom>
          <a:noFill/>
          <a:ln/>
        </p:spPr>
        <p:txBody>
          <a:bodyPr wrap="square" lIns="0" tIns="0" rIns="0" bIns="0" rtlCol="0" anchor="t"/>
          <a:lstStyle/>
          <a:p>
            <a:pPr indent="0" marL="0">
              <a:lnSpc>
                <a:spcPts val="1500"/>
              </a:lnSpc>
              <a:buNone/>
            </a:pPr>
            <a:r>
              <a:rPr lang="en-US" sz="1100" dirty="0">
                <a:solidFill>
                  <a:srgbClr val="ADB2B9"/>
                </a:solidFill>
                <a:latin typeface="Calibri" pitchFamily="34" charset="0"/>
                <a:ea typeface="Calibri" pitchFamily="34" charset="-122"/>
                <a:cs typeface="Calibri" pitchFamily="34" charset="-120"/>
              </a:rPr>
              <a:t>Passage en SASU si le seuil approche ou si un associé entre.</a:t>
            </a:r>
            <a:endParaRPr lang="en-US" sz="1100" dirty="0"/>
          </a:p>
        </p:txBody>
      </p:sp>
      <p:sp>
        <p:nvSpPr>
          <p:cNvPr id="11" name="Shape 9"/>
          <p:cNvSpPr/>
          <p:nvPr/>
        </p:nvSpPr>
        <p:spPr>
          <a:xfrm>
            <a:off x="804672" y="3675888"/>
            <a:ext cx="109728" cy="29261"/>
          </a:xfrm>
          <a:prstGeom prst="rect">
            <a:avLst/>
          </a:prstGeom>
          <a:solidFill>
            <a:srgbClr val="E3B23C"/>
          </a:solidFill>
          <a:ln w="12700">
            <a:solidFill>
              <a:srgbClr val="E3B23C"/>
            </a:solidFill>
            <a:prstDash val="solid"/>
          </a:ln>
        </p:spPr>
      </p:sp>
      <p:sp>
        <p:nvSpPr>
          <p:cNvPr id="12" name="Text 10"/>
          <p:cNvSpPr txBox="1"/>
          <p:nvPr/>
        </p:nvSpPr>
        <p:spPr>
          <a:xfrm>
            <a:off x="1024128" y="3511296"/>
            <a:ext cx="2843784" cy="566928"/>
          </a:xfrm>
          <a:prstGeom prst="rect">
            <a:avLst/>
          </a:prstGeom>
          <a:noFill/>
          <a:ln/>
        </p:spPr>
        <p:txBody>
          <a:bodyPr wrap="square" lIns="0" tIns="0" rIns="0" bIns="0" rtlCol="0" anchor="t"/>
          <a:lstStyle/>
          <a:p>
            <a:pPr indent="0" marL="0">
              <a:lnSpc>
                <a:spcPts val="1500"/>
              </a:lnSpc>
              <a:buNone/>
            </a:pPr>
            <a:r>
              <a:rPr lang="en-US" sz="1100" dirty="0">
                <a:solidFill>
                  <a:srgbClr val="ADB2B9"/>
                </a:solidFill>
                <a:latin typeface="Calibri" pitchFamily="34" charset="0"/>
                <a:ea typeface="Calibri" pitchFamily="34" charset="-122"/>
                <a:cs typeface="Calibri" pitchFamily="34" charset="-120"/>
              </a:rPr>
              <a:t>Assurance responsabilité civile professionnelle.</a:t>
            </a:r>
            <a:endParaRPr lang="en-US" sz="1100" dirty="0"/>
          </a:p>
        </p:txBody>
      </p:sp>
      <p:sp>
        <p:nvSpPr>
          <p:cNvPr id="13" name="Shape 11"/>
          <p:cNvSpPr/>
          <p:nvPr/>
        </p:nvSpPr>
        <p:spPr>
          <a:xfrm>
            <a:off x="4306824" y="1828800"/>
            <a:ext cx="3575304" cy="3017520"/>
          </a:xfrm>
          <a:prstGeom prst="roundRect">
            <a:avLst>
              <a:gd name="adj" fmla="val 2121"/>
            </a:avLst>
          </a:prstGeom>
          <a:solidFill>
            <a:srgbClr val="1D2026"/>
          </a:solidFill>
          <a:ln w="9525">
            <a:solidFill>
              <a:srgbClr val="2F343D"/>
            </a:solidFill>
            <a:prstDash val="solid"/>
          </a:ln>
        </p:spPr>
      </p:sp>
      <p:sp>
        <p:nvSpPr>
          <p:cNvPr id="14" name="Text 12"/>
          <p:cNvSpPr txBox="1"/>
          <p:nvPr/>
        </p:nvSpPr>
        <p:spPr>
          <a:xfrm>
            <a:off x="4562856" y="1993392"/>
            <a:ext cx="3063240" cy="329184"/>
          </a:xfrm>
          <a:prstGeom prst="rect">
            <a:avLst/>
          </a:prstGeom>
          <a:noFill/>
          <a:ln/>
        </p:spPr>
        <p:txBody>
          <a:bodyPr wrap="square" lIns="0" tIns="0" rIns="0" bIns="0" rtlCol="0" anchor="ctr"/>
          <a:lstStyle/>
          <a:p>
            <a:pPr indent="0" marL="0">
              <a:buNone/>
            </a:pPr>
            <a:r>
              <a:rPr lang="en-US" sz="2100" b="1" dirty="0">
                <a:solidFill>
                  <a:srgbClr val="E3B23C"/>
                </a:solidFill>
                <a:latin typeface="Arial Narrow" pitchFamily="34" charset="0"/>
                <a:ea typeface="Arial Narrow" pitchFamily="34" charset="-122"/>
                <a:cs typeface="Arial Narrow" pitchFamily="34" charset="-120"/>
              </a:rPr>
              <a:t>Données personnelles</a:t>
            </a:r>
            <a:endParaRPr lang="en-US" sz="2100" dirty="0"/>
          </a:p>
        </p:txBody>
      </p:sp>
      <p:sp>
        <p:nvSpPr>
          <p:cNvPr id="15" name="Shape 13"/>
          <p:cNvSpPr/>
          <p:nvPr/>
        </p:nvSpPr>
        <p:spPr>
          <a:xfrm>
            <a:off x="4562856" y="2542032"/>
            <a:ext cx="109728" cy="29261"/>
          </a:xfrm>
          <a:prstGeom prst="rect">
            <a:avLst/>
          </a:prstGeom>
          <a:solidFill>
            <a:srgbClr val="E3B23C"/>
          </a:solidFill>
          <a:ln w="12700">
            <a:solidFill>
              <a:srgbClr val="E3B23C"/>
            </a:solidFill>
            <a:prstDash val="solid"/>
          </a:ln>
        </p:spPr>
      </p:sp>
      <p:sp>
        <p:nvSpPr>
          <p:cNvPr id="16" name="Text 14"/>
          <p:cNvSpPr txBox="1"/>
          <p:nvPr/>
        </p:nvSpPr>
        <p:spPr>
          <a:xfrm>
            <a:off x="4782312" y="2377440"/>
            <a:ext cx="2843784" cy="566928"/>
          </a:xfrm>
          <a:prstGeom prst="rect">
            <a:avLst/>
          </a:prstGeom>
          <a:noFill/>
          <a:ln/>
        </p:spPr>
        <p:txBody>
          <a:bodyPr wrap="square" lIns="0" tIns="0" rIns="0" bIns="0" rtlCol="0" anchor="t"/>
          <a:lstStyle/>
          <a:p>
            <a:pPr indent="0" marL="0">
              <a:lnSpc>
                <a:spcPts val="1500"/>
              </a:lnSpc>
              <a:buNone/>
            </a:pPr>
            <a:r>
              <a:rPr lang="en-US" sz="1100" dirty="0">
                <a:solidFill>
                  <a:srgbClr val="ADB2B9"/>
                </a:solidFill>
                <a:latin typeface="Calibri" pitchFamily="34" charset="0"/>
                <a:ea typeface="Calibri" pitchFamily="34" charset="-122"/>
                <a:cs typeface="Calibri" pitchFamily="34" charset="-120"/>
              </a:rPr>
              <a:t>Registre des traitements, analyse d'impact.</a:t>
            </a:r>
            <a:endParaRPr lang="en-US" sz="1100" dirty="0"/>
          </a:p>
        </p:txBody>
      </p:sp>
      <p:sp>
        <p:nvSpPr>
          <p:cNvPr id="17" name="Shape 15"/>
          <p:cNvSpPr/>
          <p:nvPr/>
        </p:nvSpPr>
        <p:spPr>
          <a:xfrm>
            <a:off x="4562856" y="3108960"/>
            <a:ext cx="109728" cy="29261"/>
          </a:xfrm>
          <a:prstGeom prst="rect">
            <a:avLst/>
          </a:prstGeom>
          <a:solidFill>
            <a:srgbClr val="E3B23C"/>
          </a:solidFill>
          <a:ln w="12700">
            <a:solidFill>
              <a:srgbClr val="E3B23C"/>
            </a:solidFill>
            <a:prstDash val="solid"/>
          </a:ln>
        </p:spPr>
      </p:sp>
      <p:sp>
        <p:nvSpPr>
          <p:cNvPr id="18" name="Text 16"/>
          <p:cNvSpPr txBox="1"/>
          <p:nvPr/>
        </p:nvSpPr>
        <p:spPr>
          <a:xfrm>
            <a:off x="4782312" y="2944368"/>
            <a:ext cx="2843784" cy="566928"/>
          </a:xfrm>
          <a:prstGeom prst="rect">
            <a:avLst/>
          </a:prstGeom>
          <a:noFill/>
          <a:ln/>
        </p:spPr>
        <p:txBody>
          <a:bodyPr wrap="square" lIns="0" tIns="0" rIns="0" bIns="0" rtlCol="0" anchor="t"/>
          <a:lstStyle/>
          <a:p>
            <a:pPr indent="0" marL="0">
              <a:lnSpc>
                <a:spcPts val="1500"/>
              </a:lnSpc>
              <a:buNone/>
            </a:pPr>
            <a:r>
              <a:rPr lang="en-US" sz="1100" dirty="0">
                <a:solidFill>
                  <a:srgbClr val="ADB2B9"/>
                </a:solidFill>
                <a:latin typeface="Calibri" pitchFamily="34" charset="0"/>
                <a:ea typeface="Calibri" pitchFamily="34" charset="-122"/>
                <a:cs typeface="Calibri" pitchFamily="34" charset="-120"/>
              </a:rPr>
              <a:t>Rôles clairs : le coach responsable de traitement, fitcarnet sous-traitant.</a:t>
            </a:r>
            <a:endParaRPr lang="en-US" sz="1100" dirty="0"/>
          </a:p>
        </p:txBody>
      </p:sp>
      <p:sp>
        <p:nvSpPr>
          <p:cNvPr id="19" name="Shape 17"/>
          <p:cNvSpPr/>
          <p:nvPr/>
        </p:nvSpPr>
        <p:spPr>
          <a:xfrm>
            <a:off x="4562856" y="3675888"/>
            <a:ext cx="109728" cy="29261"/>
          </a:xfrm>
          <a:prstGeom prst="rect">
            <a:avLst/>
          </a:prstGeom>
          <a:solidFill>
            <a:srgbClr val="E3B23C"/>
          </a:solidFill>
          <a:ln w="12700">
            <a:solidFill>
              <a:srgbClr val="E3B23C"/>
            </a:solidFill>
            <a:prstDash val="solid"/>
          </a:ln>
        </p:spPr>
      </p:sp>
      <p:sp>
        <p:nvSpPr>
          <p:cNvPr id="20" name="Text 18"/>
          <p:cNvSpPr txBox="1"/>
          <p:nvPr/>
        </p:nvSpPr>
        <p:spPr>
          <a:xfrm>
            <a:off x="4782312" y="3511296"/>
            <a:ext cx="2843784" cy="566928"/>
          </a:xfrm>
          <a:prstGeom prst="rect">
            <a:avLst/>
          </a:prstGeom>
          <a:noFill/>
          <a:ln/>
        </p:spPr>
        <p:txBody>
          <a:bodyPr wrap="square" lIns="0" tIns="0" rIns="0" bIns="0" rtlCol="0" anchor="t"/>
          <a:lstStyle/>
          <a:p>
            <a:pPr indent="0" marL="0">
              <a:lnSpc>
                <a:spcPts val="1500"/>
              </a:lnSpc>
              <a:buNone/>
            </a:pPr>
            <a:r>
              <a:rPr lang="en-US" sz="1100" dirty="0">
                <a:solidFill>
                  <a:srgbClr val="ADB2B9"/>
                </a:solidFill>
                <a:latin typeface="Calibri" pitchFamily="34" charset="0"/>
                <a:ea typeface="Calibri" pitchFamily="34" charset="-122"/>
                <a:cs typeface="Calibri" pitchFamily="34" charset="-120"/>
              </a:rPr>
              <a:t>Hébergement en France ; statut HDS à faire trancher.</a:t>
            </a:r>
            <a:endParaRPr lang="en-US" sz="1100" dirty="0"/>
          </a:p>
        </p:txBody>
      </p:sp>
      <p:sp>
        <p:nvSpPr>
          <p:cNvPr id="21" name="Shape 19"/>
          <p:cNvSpPr/>
          <p:nvPr/>
        </p:nvSpPr>
        <p:spPr>
          <a:xfrm>
            <a:off x="4562856" y="4242816"/>
            <a:ext cx="109728" cy="29261"/>
          </a:xfrm>
          <a:prstGeom prst="rect">
            <a:avLst/>
          </a:prstGeom>
          <a:solidFill>
            <a:srgbClr val="E3B23C"/>
          </a:solidFill>
          <a:ln w="12700">
            <a:solidFill>
              <a:srgbClr val="E3B23C"/>
            </a:solidFill>
            <a:prstDash val="solid"/>
          </a:ln>
        </p:spPr>
      </p:sp>
      <p:sp>
        <p:nvSpPr>
          <p:cNvPr id="22" name="Text 20"/>
          <p:cNvSpPr txBox="1"/>
          <p:nvPr/>
        </p:nvSpPr>
        <p:spPr>
          <a:xfrm>
            <a:off x="4782312" y="4078224"/>
            <a:ext cx="2843784" cy="566928"/>
          </a:xfrm>
          <a:prstGeom prst="rect">
            <a:avLst/>
          </a:prstGeom>
          <a:noFill/>
          <a:ln/>
        </p:spPr>
        <p:txBody>
          <a:bodyPr wrap="square" lIns="0" tIns="0" rIns="0" bIns="0" rtlCol="0" anchor="t"/>
          <a:lstStyle/>
          <a:p>
            <a:pPr indent="0" marL="0">
              <a:lnSpc>
                <a:spcPts val="1500"/>
              </a:lnSpc>
              <a:buNone/>
            </a:pPr>
            <a:r>
              <a:rPr lang="en-US" sz="1100" dirty="0">
                <a:solidFill>
                  <a:srgbClr val="ADB2B9"/>
                </a:solidFill>
                <a:latin typeface="Calibri" pitchFamily="34" charset="0"/>
                <a:ea typeface="Calibri" pitchFamily="34" charset="-122"/>
                <a:cs typeface="Calibri" pitchFamily="34" charset="-120"/>
              </a:rPr>
              <a:t>Suppression de compte déjà en place.</a:t>
            </a:r>
            <a:endParaRPr lang="en-US" sz="1100" dirty="0"/>
          </a:p>
        </p:txBody>
      </p:sp>
      <p:sp>
        <p:nvSpPr>
          <p:cNvPr id="23" name="Shape 21"/>
          <p:cNvSpPr/>
          <p:nvPr/>
        </p:nvSpPr>
        <p:spPr>
          <a:xfrm>
            <a:off x="8065008" y="1828800"/>
            <a:ext cx="3575304" cy="3017520"/>
          </a:xfrm>
          <a:prstGeom prst="roundRect">
            <a:avLst>
              <a:gd name="adj" fmla="val 2121"/>
            </a:avLst>
          </a:prstGeom>
          <a:solidFill>
            <a:srgbClr val="1D2026"/>
          </a:solidFill>
          <a:ln w="9525">
            <a:solidFill>
              <a:srgbClr val="2F343D"/>
            </a:solidFill>
            <a:prstDash val="solid"/>
          </a:ln>
        </p:spPr>
      </p:sp>
      <p:sp>
        <p:nvSpPr>
          <p:cNvPr id="24" name="Text 22"/>
          <p:cNvSpPr txBox="1"/>
          <p:nvPr/>
        </p:nvSpPr>
        <p:spPr>
          <a:xfrm>
            <a:off x="8321040" y="1993392"/>
            <a:ext cx="3063240" cy="329184"/>
          </a:xfrm>
          <a:prstGeom prst="rect">
            <a:avLst/>
          </a:prstGeom>
          <a:noFill/>
          <a:ln/>
        </p:spPr>
        <p:txBody>
          <a:bodyPr wrap="square" lIns="0" tIns="0" rIns="0" bIns="0" rtlCol="0" anchor="ctr"/>
          <a:lstStyle/>
          <a:p>
            <a:pPr indent="0" marL="0">
              <a:buNone/>
            </a:pPr>
            <a:r>
              <a:rPr lang="en-US" sz="2100" b="1" dirty="0">
                <a:solidFill>
                  <a:srgbClr val="E3B23C"/>
                </a:solidFill>
                <a:latin typeface="Arial Narrow" pitchFamily="34" charset="0"/>
                <a:ea typeface="Arial Narrow" pitchFamily="34" charset="-122"/>
                <a:cs typeface="Arial Narrow" pitchFamily="34" charset="-120"/>
              </a:rPr>
              <a:t>Contenus tiers</a:t>
            </a:r>
            <a:endParaRPr lang="en-US" sz="2100" dirty="0"/>
          </a:p>
        </p:txBody>
      </p:sp>
      <p:sp>
        <p:nvSpPr>
          <p:cNvPr id="25" name="Shape 23"/>
          <p:cNvSpPr/>
          <p:nvPr/>
        </p:nvSpPr>
        <p:spPr>
          <a:xfrm>
            <a:off x="8321040" y="2542032"/>
            <a:ext cx="109728" cy="29261"/>
          </a:xfrm>
          <a:prstGeom prst="rect">
            <a:avLst/>
          </a:prstGeom>
          <a:solidFill>
            <a:srgbClr val="E3B23C"/>
          </a:solidFill>
          <a:ln w="12700">
            <a:solidFill>
              <a:srgbClr val="E3B23C"/>
            </a:solidFill>
            <a:prstDash val="solid"/>
          </a:ln>
        </p:spPr>
      </p:sp>
      <p:sp>
        <p:nvSpPr>
          <p:cNvPr id="26" name="Text 24"/>
          <p:cNvSpPr txBox="1"/>
          <p:nvPr/>
        </p:nvSpPr>
        <p:spPr>
          <a:xfrm>
            <a:off x="8540496" y="2377440"/>
            <a:ext cx="2843784" cy="566928"/>
          </a:xfrm>
          <a:prstGeom prst="rect">
            <a:avLst/>
          </a:prstGeom>
          <a:noFill/>
          <a:ln/>
        </p:spPr>
        <p:txBody>
          <a:bodyPr wrap="square" lIns="0" tIns="0" rIns="0" bIns="0" rtlCol="0" anchor="t"/>
          <a:lstStyle/>
          <a:p>
            <a:pPr indent="0" marL="0">
              <a:lnSpc>
                <a:spcPts val="1500"/>
              </a:lnSpc>
              <a:buNone/>
            </a:pPr>
            <a:r>
              <a:rPr lang="en-US" sz="1100" dirty="0">
                <a:solidFill>
                  <a:srgbClr val="ADB2B9"/>
                </a:solidFill>
                <a:latin typeface="Calibri" pitchFamily="34" charset="0"/>
                <a:ea typeface="Calibri" pitchFamily="34" charset="-122"/>
                <a:cs typeface="Calibri" pitchFamily="34" charset="-120"/>
              </a:rPr>
              <a:t>CIQUAL (ANSES) : conditions de réutilisation et de citation à confirmer.</a:t>
            </a:r>
            <a:endParaRPr lang="en-US" sz="1100" dirty="0"/>
          </a:p>
        </p:txBody>
      </p:sp>
      <p:sp>
        <p:nvSpPr>
          <p:cNvPr id="27" name="Shape 25"/>
          <p:cNvSpPr/>
          <p:nvPr/>
        </p:nvSpPr>
        <p:spPr>
          <a:xfrm>
            <a:off x="8321040" y="3108960"/>
            <a:ext cx="109728" cy="29261"/>
          </a:xfrm>
          <a:prstGeom prst="rect">
            <a:avLst/>
          </a:prstGeom>
          <a:solidFill>
            <a:srgbClr val="E3B23C"/>
          </a:solidFill>
          <a:ln w="12700">
            <a:solidFill>
              <a:srgbClr val="E3B23C"/>
            </a:solidFill>
            <a:prstDash val="solid"/>
          </a:ln>
        </p:spPr>
      </p:sp>
      <p:sp>
        <p:nvSpPr>
          <p:cNvPr id="28" name="Text 26"/>
          <p:cNvSpPr txBox="1"/>
          <p:nvPr/>
        </p:nvSpPr>
        <p:spPr>
          <a:xfrm>
            <a:off x="8540496" y="2944368"/>
            <a:ext cx="2843784" cy="566928"/>
          </a:xfrm>
          <a:prstGeom prst="rect">
            <a:avLst/>
          </a:prstGeom>
          <a:noFill/>
          <a:ln/>
        </p:spPr>
        <p:txBody>
          <a:bodyPr wrap="square" lIns="0" tIns="0" rIns="0" bIns="0" rtlCol="0" anchor="t"/>
          <a:lstStyle/>
          <a:p>
            <a:pPr indent="0" marL="0">
              <a:lnSpc>
                <a:spcPts val="1500"/>
              </a:lnSpc>
              <a:buNone/>
            </a:pPr>
            <a:r>
              <a:rPr lang="en-US" sz="1100" dirty="0">
                <a:solidFill>
                  <a:srgbClr val="ADB2B9"/>
                </a:solidFill>
                <a:latin typeface="Calibri" pitchFamily="34" charset="0"/>
                <a:ea typeface="Calibri" pitchFamily="34" charset="-122"/>
                <a:cs typeface="Calibri" pitchFamily="34" charset="-120"/>
              </a:rPr>
              <a:t>Catalogue d'exercices : licence à régulariser.</a:t>
            </a:r>
            <a:endParaRPr lang="en-US" sz="1100" dirty="0"/>
          </a:p>
        </p:txBody>
      </p:sp>
      <p:sp>
        <p:nvSpPr>
          <p:cNvPr id="29" name="Shape 27"/>
          <p:cNvSpPr/>
          <p:nvPr/>
        </p:nvSpPr>
        <p:spPr>
          <a:xfrm>
            <a:off x="8321040" y="3675888"/>
            <a:ext cx="109728" cy="29261"/>
          </a:xfrm>
          <a:prstGeom prst="rect">
            <a:avLst/>
          </a:prstGeom>
          <a:solidFill>
            <a:srgbClr val="E3B23C"/>
          </a:solidFill>
          <a:ln w="12700">
            <a:solidFill>
              <a:srgbClr val="E3B23C"/>
            </a:solidFill>
            <a:prstDash val="solid"/>
          </a:ln>
        </p:spPr>
      </p:sp>
      <p:sp>
        <p:nvSpPr>
          <p:cNvPr id="30" name="Text 28"/>
          <p:cNvSpPr txBox="1"/>
          <p:nvPr/>
        </p:nvSpPr>
        <p:spPr>
          <a:xfrm>
            <a:off x="8540496" y="3511296"/>
            <a:ext cx="2843784" cy="566928"/>
          </a:xfrm>
          <a:prstGeom prst="rect">
            <a:avLst/>
          </a:prstGeom>
          <a:noFill/>
          <a:ln/>
        </p:spPr>
        <p:txBody>
          <a:bodyPr wrap="square" lIns="0" tIns="0" rIns="0" bIns="0" rtlCol="0" anchor="t"/>
          <a:lstStyle/>
          <a:p>
            <a:pPr indent="0" marL="0">
              <a:lnSpc>
                <a:spcPts val="1500"/>
              </a:lnSpc>
              <a:buNone/>
            </a:pPr>
            <a:r>
              <a:rPr lang="en-US" sz="1100" dirty="0">
                <a:solidFill>
                  <a:srgbClr val="ADB2B9"/>
                </a:solidFill>
                <a:latin typeface="Calibri" pitchFamily="34" charset="0"/>
                <a:ea typeface="Calibri" pitchFamily="34" charset="-122"/>
                <a:cs typeface="Calibri" pitchFamily="34" charset="-120"/>
              </a:rPr>
              <a:t>Pictogrammes des muscles : provenance à vérifier.</a:t>
            </a:r>
            <a:endParaRPr lang="en-US" sz="1100" dirty="0"/>
          </a:p>
        </p:txBody>
      </p:sp>
      <p:sp>
        <p:nvSpPr>
          <p:cNvPr id="31" name="Shape 29"/>
          <p:cNvSpPr/>
          <p:nvPr/>
        </p:nvSpPr>
        <p:spPr>
          <a:xfrm>
            <a:off x="8321040" y="4242816"/>
            <a:ext cx="109728" cy="29261"/>
          </a:xfrm>
          <a:prstGeom prst="rect">
            <a:avLst/>
          </a:prstGeom>
          <a:solidFill>
            <a:srgbClr val="E3B23C"/>
          </a:solidFill>
          <a:ln w="12700">
            <a:solidFill>
              <a:srgbClr val="E3B23C"/>
            </a:solidFill>
            <a:prstDash val="solid"/>
          </a:ln>
        </p:spPr>
      </p:sp>
      <p:sp>
        <p:nvSpPr>
          <p:cNvPr id="32" name="Text 30"/>
          <p:cNvSpPr txBox="1"/>
          <p:nvPr/>
        </p:nvSpPr>
        <p:spPr>
          <a:xfrm>
            <a:off x="8540496" y="4078224"/>
            <a:ext cx="2843784" cy="566928"/>
          </a:xfrm>
          <a:prstGeom prst="rect">
            <a:avLst/>
          </a:prstGeom>
          <a:noFill/>
          <a:ln/>
        </p:spPr>
        <p:txBody>
          <a:bodyPr wrap="square" lIns="0" tIns="0" rIns="0" bIns="0" rtlCol="0" anchor="t"/>
          <a:lstStyle/>
          <a:p>
            <a:pPr indent="0" marL="0">
              <a:lnSpc>
                <a:spcPts val="1500"/>
              </a:lnSpc>
              <a:buNone/>
            </a:pPr>
            <a:r>
              <a:rPr lang="en-US" sz="1100" dirty="0">
                <a:solidFill>
                  <a:srgbClr val="ADB2B9"/>
                </a:solidFill>
                <a:latin typeface="Calibri" pitchFamily="34" charset="0"/>
                <a:ea typeface="Calibri" pitchFamily="34" charset="-122"/>
                <a:cs typeface="Calibri" pitchFamily="34" charset="-120"/>
              </a:rPr>
              <a:t>Vidéos YouTube : intégration, pas de copie.</a:t>
            </a:r>
            <a:endParaRPr lang="en-US" sz="1100" dirty="0"/>
          </a:p>
        </p:txBody>
      </p:sp>
      <p:sp>
        <p:nvSpPr>
          <p:cNvPr id="33" name="Shape 31"/>
          <p:cNvSpPr/>
          <p:nvPr/>
        </p:nvSpPr>
        <p:spPr>
          <a:xfrm>
            <a:off x="548640" y="5047488"/>
            <a:ext cx="11091672" cy="749808"/>
          </a:xfrm>
          <a:prstGeom prst="roundRect">
            <a:avLst>
              <a:gd name="adj" fmla="val 8537"/>
            </a:avLst>
          </a:prstGeom>
          <a:solidFill>
            <a:srgbClr val="23272E"/>
          </a:solidFill>
          <a:ln w="15875">
            <a:solidFill>
              <a:srgbClr val="E3B23C"/>
            </a:solidFill>
            <a:prstDash val="solid"/>
          </a:ln>
        </p:spPr>
      </p:sp>
      <p:sp>
        <p:nvSpPr>
          <p:cNvPr id="34" name="Text 32"/>
          <p:cNvSpPr txBox="1"/>
          <p:nvPr/>
        </p:nvSpPr>
        <p:spPr>
          <a:xfrm>
            <a:off x="877824" y="5047488"/>
            <a:ext cx="10433304" cy="749808"/>
          </a:xfrm>
          <a:prstGeom prst="rect">
            <a:avLst/>
          </a:prstGeom>
          <a:noFill/>
          <a:ln/>
        </p:spPr>
        <p:txBody>
          <a:bodyPr wrap="square" lIns="0" tIns="0" rIns="0" bIns="0" rtlCol="0" anchor="ctr"/>
          <a:lstStyle/>
          <a:p>
            <a:pPr indent="0" marL="0">
              <a:buNone/>
            </a:pPr>
            <a:r>
              <a:rPr lang="en-US" sz="1300" b="1" dirty="0">
                <a:solidFill>
                  <a:srgbClr val="E3B23C"/>
                </a:solidFill>
                <a:latin typeface="Calibri" pitchFamily="34" charset="0"/>
                <a:ea typeface="Calibri" pitchFamily="34" charset="-122"/>
                <a:cs typeface="Calibri" pitchFamily="34" charset="-120"/>
              </a:rPr>
              <a:t>Posture : </a:t>
            </a:r>
            <a:pPr indent="0" marL="0">
              <a:buNone/>
            </a:pPr>
            <a:r>
              <a:rPr lang="en-US" sz="1300" dirty="0">
                <a:solidFill>
                  <a:srgbClr val="ADB2B9"/>
                </a:solidFill>
                <a:latin typeface="Calibri" pitchFamily="34" charset="0"/>
                <a:ea typeface="Calibri" pitchFamily="34" charset="-122"/>
                <a:cs typeface="Calibri" pitchFamily="34" charset="-120"/>
              </a:rPr>
              <a:t>l'application aide à exécuter un plan fixé par un professionnel. Elle ne pose pas de diagnostic et ne prescrit rien.</a:t>
            </a:r>
            <a:endParaRPr lang="en-US" sz="1300" dirty="0"/>
          </a:p>
        </p:txBody>
      </p:sp>
      <p:sp>
        <p:nvSpPr>
          <p:cNvPr id="35" name="Text 33"/>
          <p:cNvSpPr txBox="1"/>
          <p:nvPr/>
        </p:nvSpPr>
        <p:spPr>
          <a:xfrm>
            <a:off x="548640" y="5961888"/>
            <a:ext cx="11091672" cy="310896"/>
          </a:xfrm>
          <a:prstGeom prst="rect">
            <a:avLst/>
          </a:prstGeom>
          <a:noFill/>
          <a:ln/>
        </p:spPr>
        <p:txBody>
          <a:bodyPr wrap="square" lIns="0" tIns="0" rIns="0" bIns="0" rtlCol="0" anchor="ctr"/>
          <a:lstStyle/>
          <a:p>
            <a:pPr indent="0" marL="0">
              <a:buNone/>
            </a:pPr>
            <a:r>
              <a:rPr lang="en-US" sz="950" i="1" dirty="0">
                <a:solidFill>
                  <a:srgbClr val="868E99"/>
                </a:solidFill>
                <a:latin typeface="Calibri" pitchFamily="34" charset="0"/>
                <a:ea typeface="Calibri" pitchFamily="34" charset="-122"/>
                <a:cs typeface="Calibri" pitchFamily="34" charset="-120"/>
              </a:rPr>
              <a:t>Points à valider par un juriste — budget prévu en année 1</a:t>
            </a:r>
            <a:endParaRPr lang="en-US" sz="950" dirty="0"/>
          </a:p>
        </p:txBody>
      </p:sp>
      <p:sp>
        <p:nvSpPr>
          <p:cNvPr id="36" name="Text 34"/>
          <p:cNvSpPr txBox="1"/>
          <p:nvPr/>
        </p:nvSpPr>
        <p:spPr>
          <a:xfrm>
            <a:off x="548640" y="6336792"/>
            <a:ext cx="8229600" cy="274320"/>
          </a:xfrm>
          <a:prstGeom prst="rect">
            <a:avLst/>
          </a:prstGeom>
          <a:noFill/>
          <a:ln/>
        </p:spPr>
        <p:txBody>
          <a:bodyPr wrap="square" lIns="0" tIns="0" rIns="0" bIns="0" rtlCol="0" anchor="ctr"/>
          <a:lstStyle/>
          <a:p>
            <a:pPr algn="l" indent="0" marL="0">
              <a:buNone/>
            </a:pPr>
            <a:r>
              <a:rPr lang="en-US" sz="900" dirty="0">
                <a:solidFill>
                  <a:srgbClr val="868E99"/>
                </a:solidFill>
                <a:latin typeface="Calibri" pitchFamily="34" charset="0"/>
                <a:ea typeface="Calibri" pitchFamily="34" charset="-122"/>
                <a:cs typeface="Calibri" pitchFamily="34" charset="-120"/>
              </a:rPr>
              <a:t>fitcarnet Pro · business plan · 21 septembre 2026</a:t>
            </a:r>
            <a:endParaRPr lang="en-US" sz="900" dirty="0"/>
          </a:p>
        </p:txBody>
      </p:sp>
      <p:sp>
        <p:nvSpPr>
          <p:cNvPr id="37" name="Text 35"/>
          <p:cNvSpPr txBox="1"/>
          <p:nvPr/>
        </p:nvSpPr>
        <p:spPr>
          <a:xfrm>
            <a:off x="8897112" y="6336792"/>
            <a:ext cx="2743200" cy="274320"/>
          </a:xfrm>
          <a:prstGeom prst="rect">
            <a:avLst/>
          </a:prstGeom>
          <a:noFill/>
          <a:ln/>
        </p:spPr>
        <p:txBody>
          <a:bodyPr wrap="square" lIns="0" tIns="0" rIns="0" bIns="0" rtlCol="0" anchor="ctr"/>
          <a:lstStyle/>
          <a:p>
            <a:pPr algn="r" indent="0" marL="0">
              <a:buNone/>
            </a:pPr>
            <a:r>
              <a:rPr lang="en-US" sz="900" dirty="0">
                <a:solidFill>
                  <a:srgbClr val="868E99"/>
                </a:solidFill>
                <a:latin typeface="Calibri" pitchFamily="34" charset="0"/>
                <a:ea typeface="Calibri" pitchFamily="34" charset="-122"/>
                <a:cs typeface="Calibri" pitchFamily="34" charset="-120"/>
              </a:rPr>
              <a:t>23 / 24</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4161A"/>
        </a:solidFill>
      </p:bgPr>
    </p:bg>
    <p:spTree>
      <p:nvGrpSpPr>
        <p:cNvPr id="1" name=""/>
        <p:cNvGrpSpPr/>
        <p:nvPr/>
      </p:nvGrpSpPr>
      <p:grpSpPr>
        <a:xfrm>
          <a:off x="0" y="0"/>
          <a:ext cx="0" cy="0"/>
          <a:chOff x="0" y="0"/>
          <a:chExt cx="0" cy="0"/>
        </a:xfrm>
      </p:grpSpPr>
      <p:sp>
        <p:nvSpPr>
          <p:cNvPr id="2" name="Text 0"/>
          <p:cNvSpPr txBox="1"/>
          <p:nvPr/>
        </p:nvSpPr>
        <p:spPr>
          <a:xfrm>
            <a:off x="548640" y="347472"/>
            <a:ext cx="11091672" cy="237744"/>
          </a:xfrm>
          <a:prstGeom prst="rect">
            <a:avLst/>
          </a:prstGeom>
          <a:noFill/>
          <a:ln/>
        </p:spPr>
        <p:txBody>
          <a:bodyPr wrap="square" lIns="0" tIns="0" rIns="0" bIns="0" rtlCol="0" anchor="ctr"/>
          <a:lstStyle/>
          <a:p>
            <a:pPr indent="0" marL="0">
              <a:buNone/>
            </a:pPr>
            <a:r>
              <a:rPr lang="en-US" sz="1050" b="1" spc="200" kern="0" dirty="0">
                <a:solidFill>
                  <a:srgbClr val="E3B23C"/>
                </a:solidFill>
                <a:latin typeface="Calibri" pitchFamily="34" charset="0"/>
                <a:ea typeface="Calibri" pitchFamily="34" charset="-122"/>
                <a:cs typeface="Calibri" pitchFamily="34" charset="-120"/>
              </a:rPr>
              <a:t>ANNEXE</a:t>
            </a:r>
            <a:endParaRPr lang="en-US" sz="1050" dirty="0"/>
          </a:p>
        </p:txBody>
      </p:sp>
      <p:sp>
        <p:nvSpPr>
          <p:cNvPr id="3" name="Text 1"/>
          <p:cNvSpPr txBox="1"/>
          <p:nvPr/>
        </p:nvSpPr>
        <p:spPr>
          <a:xfrm>
            <a:off x="548640" y="603504"/>
            <a:ext cx="11091672" cy="566928"/>
          </a:xfrm>
          <a:prstGeom prst="rect">
            <a:avLst/>
          </a:prstGeom>
          <a:noFill/>
          <a:ln/>
        </p:spPr>
        <p:txBody>
          <a:bodyPr wrap="square" lIns="0" tIns="0" rIns="0" bIns="0" rtlCol="0" anchor="ctr"/>
          <a:lstStyle/>
          <a:p>
            <a:pPr indent="0" marL="0">
              <a:buNone/>
            </a:pPr>
            <a:r>
              <a:rPr lang="en-US" sz="3000" b="1" dirty="0">
                <a:solidFill>
                  <a:srgbClr val="E8EAED"/>
                </a:solidFill>
                <a:latin typeface="Arial Narrow" pitchFamily="34" charset="0"/>
                <a:ea typeface="Arial Narrow" pitchFamily="34" charset="-122"/>
                <a:cs typeface="Arial Narrow" pitchFamily="34" charset="-120"/>
              </a:rPr>
              <a:t>Sources</a:t>
            </a:r>
            <a:endParaRPr lang="en-US" sz="3000" dirty="0"/>
          </a:p>
        </p:txBody>
      </p:sp>
      <p:sp>
        <p:nvSpPr>
          <p:cNvPr id="4" name="Text 2"/>
          <p:cNvSpPr txBox="1"/>
          <p:nvPr/>
        </p:nvSpPr>
        <p:spPr>
          <a:xfrm>
            <a:off x="548640" y="1188720"/>
            <a:ext cx="11091672" cy="310896"/>
          </a:xfrm>
          <a:prstGeom prst="rect">
            <a:avLst/>
          </a:prstGeom>
          <a:noFill/>
          <a:ln/>
        </p:spPr>
        <p:txBody>
          <a:bodyPr wrap="square" lIns="0" tIns="0" rIns="0" bIns="0" rtlCol="0" anchor="ctr"/>
          <a:lstStyle/>
          <a:p>
            <a:pPr indent="0" marL="0">
              <a:buNone/>
            </a:pPr>
            <a:r>
              <a:rPr lang="en-US" sz="1450" dirty="0">
                <a:solidFill>
                  <a:srgbClr val="ADB2B9"/>
                </a:solidFill>
                <a:latin typeface="Calibri" pitchFamily="34" charset="0"/>
                <a:ea typeface="Calibri" pitchFamily="34" charset="-122"/>
                <a:cs typeface="Calibri" pitchFamily="34" charset="-120"/>
              </a:rPr>
              <a:t>Les données de marché et les prix des concurrents sont publics. Les prévisions, non.</a:t>
            </a:r>
            <a:endParaRPr lang="en-US" sz="1450" dirty="0"/>
          </a:p>
        </p:txBody>
      </p:sp>
      <p:sp>
        <p:nvSpPr>
          <p:cNvPr id="5" name="Shape 3"/>
          <p:cNvSpPr/>
          <p:nvPr/>
        </p:nvSpPr>
        <p:spPr>
          <a:xfrm>
            <a:off x="548640" y="1920240"/>
            <a:ext cx="3575304" cy="2834640"/>
          </a:xfrm>
          <a:prstGeom prst="roundRect">
            <a:avLst>
              <a:gd name="adj" fmla="val 2258"/>
            </a:avLst>
          </a:prstGeom>
          <a:solidFill>
            <a:srgbClr val="1D2026"/>
          </a:solidFill>
          <a:ln w="9525">
            <a:solidFill>
              <a:srgbClr val="2F343D"/>
            </a:solidFill>
            <a:prstDash val="solid"/>
          </a:ln>
        </p:spPr>
      </p:sp>
      <p:sp>
        <p:nvSpPr>
          <p:cNvPr id="6" name="Text 4"/>
          <p:cNvSpPr txBox="1"/>
          <p:nvPr/>
        </p:nvSpPr>
        <p:spPr>
          <a:xfrm>
            <a:off x="804672" y="2084832"/>
            <a:ext cx="3063240" cy="603504"/>
          </a:xfrm>
          <a:prstGeom prst="rect">
            <a:avLst/>
          </a:prstGeom>
          <a:noFill/>
          <a:ln/>
        </p:spPr>
        <p:txBody>
          <a:bodyPr wrap="square" lIns="0" tIns="0" rIns="0" bIns="0" rtlCol="0" anchor="t"/>
          <a:lstStyle/>
          <a:p>
            <a:pPr indent="0" marL="0">
              <a:lnSpc>
                <a:spcPts val="2000"/>
              </a:lnSpc>
              <a:buNone/>
            </a:pPr>
            <a:r>
              <a:rPr lang="en-US" sz="1800" b="1" dirty="0">
                <a:solidFill>
                  <a:srgbClr val="E3B23C"/>
                </a:solidFill>
                <a:latin typeface="Arial Narrow" pitchFamily="34" charset="0"/>
                <a:ea typeface="Arial Narrow" pitchFamily="34" charset="-122"/>
                <a:cs typeface="Arial Narrow" pitchFamily="34" charset="-120"/>
              </a:rPr>
              <a:t>Marché et professionnels</a:t>
            </a:r>
            <a:endParaRPr lang="en-US" sz="1800" dirty="0"/>
          </a:p>
        </p:txBody>
      </p:sp>
      <p:sp>
        <p:nvSpPr>
          <p:cNvPr id="7" name="Text 5"/>
          <p:cNvSpPr txBox="1"/>
          <p:nvPr/>
        </p:nvSpPr>
        <p:spPr>
          <a:xfrm>
            <a:off x="804672" y="2743200"/>
            <a:ext cx="3063240" cy="402336"/>
          </a:xfrm>
          <a:prstGeom prst="rect">
            <a:avLst/>
          </a:prstGeom>
          <a:noFill/>
          <a:ln/>
        </p:spPr>
        <p:txBody>
          <a:bodyPr wrap="square" lIns="0" tIns="0" rIns="0" bIns="0" rtlCol="0" anchor="t"/>
          <a:lstStyle/>
          <a:p>
            <a:pPr indent="0" marL="0">
              <a:lnSpc>
                <a:spcPts val="1500"/>
              </a:lnSpc>
              <a:buNone/>
            </a:pPr>
            <a:r>
              <a:rPr lang="en-US" sz="1100" dirty="0">
                <a:solidFill>
                  <a:srgbClr val="ADB2B9"/>
                </a:solidFill>
                <a:latin typeface="Calibri" pitchFamily="34" charset="0"/>
                <a:ea typeface="Calibri" pitchFamily="34" charset="-122"/>
                <a:cs typeface="Calibri" pitchFamily="34" charset="-120"/>
              </a:rPr>
              <a:t>· sports.gouv.fr — éducateurs sportifs</a:t>
            </a:r>
            <a:endParaRPr lang="en-US" sz="1100" dirty="0"/>
          </a:p>
        </p:txBody>
      </p:sp>
      <p:sp>
        <p:nvSpPr>
          <p:cNvPr id="8" name="Text 6"/>
          <p:cNvSpPr txBox="1"/>
          <p:nvPr/>
        </p:nvSpPr>
        <p:spPr>
          <a:xfrm>
            <a:off x="804672" y="3145536"/>
            <a:ext cx="3063240" cy="402336"/>
          </a:xfrm>
          <a:prstGeom prst="rect">
            <a:avLst/>
          </a:prstGeom>
          <a:noFill/>
          <a:ln/>
        </p:spPr>
        <p:txBody>
          <a:bodyPr wrap="square" lIns="0" tIns="0" rIns="0" bIns="0" rtlCol="0" anchor="t"/>
          <a:lstStyle/>
          <a:p>
            <a:pPr indent="0" marL="0">
              <a:lnSpc>
                <a:spcPts val="1500"/>
              </a:lnSpc>
              <a:buNone/>
            </a:pPr>
            <a:r>
              <a:rPr lang="en-US" sz="1100" dirty="0">
                <a:solidFill>
                  <a:srgbClr val="ADB2B9"/>
                </a:solidFill>
                <a:latin typeface="Calibri" pitchFamily="34" charset="0"/>
                <a:ea typeface="Calibri" pitchFamily="34" charset="-122"/>
                <a:cs typeface="Calibri" pitchFamily="34" charset="-120"/>
              </a:rPr>
              <a:t>· Broussal-Derval — emploi des coachs en France, 2025</a:t>
            </a:r>
            <a:endParaRPr lang="en-US" sz="1100" dirty="0"/>
          </a:p>
        </p:txBody>
      </p:sp>
      <p:sp>
        <p:nvSpPr>
          <p:cNvPr id="9" name="Text 7"/>
          <p:cNvSpPr txBox="1"/>
          <p:nvPr/>
        </p:nvSpPr>
        <p:spPr>
          <a:xfrm>
            <a:off x="804672" y="3547872"/>
            <a:ext cx="3063240" cy="402336"/>
          </a:xfrm>
          <a:prstGeom prst="rect">
            <a:avLst/>
          </a:prstGeom>
          <a:noFill/>
          <a:ln/>
        </p:spPr>
        <p:txBody>
          <a:bodyPr wrap="square" lIns="0" tIns="0" rIns="0" bIns="0" rtlCol="0" anchor="t"/>
          <a:lstStyle/>
          <a:p>
            <a:pPr indent="0" marL="0">
              <a:lnSpc>
                <a:spcPts val="1500"/>
              </a:lnSpc>
              <a:buNone/>
            </a:pPr>
            <a:r>
              <a:rPr lang="en-US" sz="1100" dirty="0">
                <a:solidFill>
                  <a:srgbClr val="ADB2B9"/>
                </a:solidFill>
                <a:latin typeface="Calibri" pitchFamily="34" charset="0"/>
                <a:ea typeface="Calibri" pitchFamily="34" charset="-122"/>
                <a:cs typeface="Calibri" pitchFamily="34" charset="-120"/>
              </a:rPr>
              <a:t>· AFDN — infographie DREES 2024 (17 369 diététiciens)</a:t>
            </a:r>
            <a:endParaRPr lang="en-US" sz="1100" dirty="0"/>
          </a:p>
        </p:txBody>
      </p:sp>
      <p:sp>
        <p:nvSpPr>
          <p:cNvPr id="10" name="Text 8"/>
          <p:cNvSpPr txBox="1"/>
          <p:nvPr/>
        </p:nvSpPr>
        <p:spPr>
          <a:xfrm>
            <a:off x="804672" y="3950208"/>
            <a:ext cx="3063240" cy="402336"/>
          </a:xfrm>
          <a:prstGeom prst="rect">
            <a:avLst/>
          </a:prstGeom>
          <a:noFill/>
          <a:ln/>
        </p:spPr>
        <p:txBody>
          <a:bodyPr wrap="square" lIns="0" tIns="0" rIns="0" bIns="0" rtlCol="0" anchor="t"/>
          <a:lstStyle/>
          <a:p>
            <a:pPr indent="0" marL="0">
              <a:lnSpc>
                <a:spcPts val="1500"/>
              </a:lnSpc>
              <a:buNone/>
            </a:pPr>
            <a:r>
              <a:rPr lang="en-US" sz="1100" dirty="0">
                <a:solidFill>
                  <a:srgbClr val="ADB2B9"/>
                </a:solidFill>
                <a:latin typeface="Calibri" pitchFamily="34" charset="0"/>
                <a:ea typeface="Calibri" pitchFamily="34" charset="-122"/>
                <a:cs typeface="Calibri" pitchFamily="34" charset="-120"/>
              </a:rPr>
              <a:t>· StatCounter — parts de marché iOS / Android, France, mars 2026</a:t>
            </a:r>
            <a:endParaRPr lang="en-US" sz="1100" dirty="0"/>
          </a:p>
        </p:txBody>
      </p:sp>
      <p:sp>
        <p:nvSpPr>
          <p:cNvPr id="11" name="Shape 9"/>
          <p:cNvSpPr/>
          <p:nvPr/>
        </p:nvSpPr>
        <p:spPr>
          <a:xfrm>
            <a:off x="4306824" y="1920240"/>
            <a:ext cx="3575304" cy="2834640"/>
          </a:xfrm>
          <a:prstGeom prst="roundRect">
            <a:avLst>
              <a:gd name="adj" fmla="val 2258"/>
            </a:avLst>
          </a:prstGeom>
          <a:solidFill>
            <a:srgbClr val="1D2026"/>
          </a:solidFill>
          <a:ln w="9525">
            <a:solidFill>
              <a:srgbClr val="2F343D"/>
            </a:solidFill>
            <a:prstDash val="solid"/>
          </a:ln>
        </p:spPr>
      </p:sp>
      <p:sp>
        <p:nvSpPr>
          <p:cNvPr id="12" name="Text 10"/>
          <p:cNvSpPr txBox="1"/>
          <p:nvPr/>
        </p:nvSpPr>
        <p:spPr>
          <a:xfrm>
            <a:off x="4562856" y="2084832"/>
            <a:ext cx="3063240" cy="603504"/>
          </a:xfrm>
          <a:prstGeom prst="rect">
            <a:avLst/>
          </a:prstGeom>
          <a:noFill/>
          <a:ln/>
        </p:spPr>
        <p:txBody>
          <a:bodyPr wrap="square" lIns="0" tIns="0" rIns="0" bIns="0" rtlCol="0" anchor="t"/>
          <a:lstStyle/>
          <a:p>
            <a:pPr indent="0" marL="0">
              <a:lnSpc>
                <a:spcPts val="2000"/>
              </a:lnSpc>
              <a:buNone/>
            </a:pPr>
            <a:r>
              <a:rPr lang="en-US" sz="1800" b="1" dirty="0">
                <a:solidFill>
                  <a:srgbClr val="E3B23C"/>
                </a:solidFill>
                <a:latin typeface="Arial Narrow" pitchFamily="34" charset="0"/>
                <a:ea typeface="Arial Narrow" pitchFamily="34" charset="-122"/>
                <a:cs typeface="Arial Narrow" pitchFamily="34" charset="-120"/>
              </a:rPr>
              <a:t>Concurrents (prix relevés sept. 2026)</a:t>
            </a:r>
            <a:endParaRPr lang="en-US" sz="1800" dirty="0"/>
          </a:p>
        </p:txBody>
      </p:sp>
      <p:sp>
        <p:nvSpPr>
          <p:cNvPr id="13" name="Text 11"/>
          <p:cNvSpPr txBox="1"/>
          <p:nvPr/>
        </p:nvSpPr>
        <p:spPr>
          <a:xfrm>
            <a:off x="4562856" y="2743200"/>
            <a:ext cx="3063240" cy="402336"/>
          </a:xfrm>
          <a:prstGeom prst="rect">
            <a:avLst/>
          </a:prstGeom>
          <a:noFill/>
          <a:ln/>
        </p:spPr>
        <p:txBody>
          <a:bodyPr wrap="square" lIns="0" tIns="0" rIns="0" bIns="0" rtlCol="0" anchor="t"/>
          <a:lstStyle/>
          <a:p>
            <a:pPr indent="0" marL="0">
              <a:lnSpc>
                <a:spcPts val="1500"/>
              </a:lnSpc>
              <a:buNone/>
            </a:pPr>
            <a:r>
              <a:rPr lang="en-US" sz="1100" dirty="0">
                <a:solidFill>
                  <a:srgbClr val="ADB2B9"/>
                </a:solidFill>
                <a:latin typeface="Calibri" pitchFamily="34" charset="0"/>
                <a:ea typeface="Calibri" pitchFamily="34" charset="-122"/>
                <a:cs typeface="Calibri" pitchFamily="34" charset="-120"/>
              </a:rPr>
              <a:t>· Trainerize, tarifs 2026</a:t>
            </a:r>
            <a:endParaRPr lang="en-US" sz="1100" dirty="0"/>
          </a:p>
        </p:txBody>
      </p:sp>
      <p:sp>
        <p:nvSpPr>
          <p:cNvPr id="14" name="Text 12"/>
          <p:cNvSpPr txBox="1"/>
          <p:nvPr/>
        </p:nvSpPr>
        <p:spPr>
          <a:xfrm>
            <a:off x="4562856" y="3145536"/>
            <a:ext cx="3063240" cy="402336"/>
          </a:xfrm>
          <a:prstGeom prst="rect">
            <a:avLst/>
          </a:prstGeom>
          <a:noFill/>
          <a:ln/>
        </p:spPr>
        <p:txBody>
          <a:bodyPr wrap="square" lIns="0" tIns="0" rIns="0" bIns="0" rtlCol="0" anchor="t"/>
          <a:lstStyle/>
          <a:p>
            <a:pPr indent="0" marL="0">
              <a:lnSpc>
                <a:spcPts val="1500"/>
              </a:lnSpc>
              <a:buNone/>
            </a:pPr>
            <a:r>
              <a:rPr lang="en-US" sz="1100" dirty="0">
                <a:solidFill>
                  <a:srgbClr val="ADB2B9"/>
                </a:solidFill>
                <a:latin typeface="Calibri" pitchFamily="34" charset="0"/>
                <a:ea typeface="Calibri" pitchFamily="34" charset="-122"/>
                <a:cs typeface="Calibri" pitchFamily="34" charset="-120"/>
              </a:rPr>
              <a:t>· TrueCoach</a:t>
            </a:r>
            <a:endParaRPr lang="en-US" sz="1100" dirty="0"/>
          </a:p>
        </p:txBody>
      </p:sp>
      <p:sp>
        <p:nvSpPr>
          <p:cNvPr id="15" name="Text 13"/>
          <p:cNvSpPr txBox="1"/>
          <p:nvPr/>
        </p:nvSpPr>
        <p:spPr>
          <a:xfrm>
            <a:off x="4562856" y="3547872"/>
            <a:ext cx="3063240" cy="402336"/>
          </a:xfrm>
          <a:prstGeom prst="rect">
            <a:avLst/>
          </a:prstGeom>
          <a:noFill/>
          <a:ln/>
        </p:spPr>
        <p:txBody>
          <a:bodyPr wrap="square" lIns="0" tIns="0" rIns="0" bIns="0" rtlCol="0" anchor="t"/>
          <a:lstStyle/>
          <a:p>
            <a:pPr indent="0" marL="0">
              <a:lnSpc>
                <a:spcPts val="1500"/>
              </a:lnSpc>
              <a:buNone/>
            </a:pPr>
            <a:r>
              <a:rPr lang="en-US" sz="1100" dirty="0">
                <a:solidFill>
                  <a:srgbClr val="ADB2B9"/>
                </a:solidFill>
                <a:latin typeface="Calibri" pitchFamily="34" charset="0"/>
                <a:ea typeface="Calibri" pitchFamily="34" charset="-122"/>
                <a:cs typeface="Calibri" pitchFamily="34" charset="-120"/>
              </a:rPr>
              <a:t>· Everfit</a:t>
            </a:r>
            <a:endParaRPr lang="en-US" sz="1100" dirty="0"/>
          </a:p>
        </p:txBody>
      </p:sp>
      <p:sp>
        <p:nvSpPr>
          <p:cNvPr id="16" name="Text 14"/>
          <p:cNvSpPr txBox="1"/>
          <p:nvPr/>
        </p:nvSpPr>
        <p:spPr>
          <a:xfrm>
            <a:off x="4562856" y="3950208"/>
            <a:ext cx="3063240" cy="402336"/>
          </a:xfrm>
          <a:prstGeom prst="rect">
            <a:avLst/>
          </a:prstGeom>
          <a:noFill/>
          <a:ln/>
        </p:spPr>
        <p:txBody>
          <a:bodyPr wrap="square" lIns="0" tIns="0" rIns="0" bIns="0" rtlCol="0" anchor="t"/>
          <a:lstStyle/>
          <a:p>
            <a:pPr indent="0" marL="0">
              <a:lnSpc>
                <a:spcPts val="1500"/>
              </a:lnSpc>
              <a:buNone/>
            </a:pPr>
            <a:r>
              <a:rPr lang="en-US" sz="1100" dirty="0">
                <a:solidFill>
                  <a:srgbClr val="ADB2B9"/>
                </a:solidFill>
                <a:latin typeface="Calibri" pitchFamily="34" charset="0"/>
                <a:ea typeface="Calibri" pitchFamily="34" charset="-122"/>
                <a:cs typeface="Calibri" pitchFamily="34" charset="-120"/>
              </a:rPr>
              <a:t>· Nutrium, tarifs</a:t>
            </a:r>
            <a:endParaRPr lang="en-US" sz="1100" dirty="0"/>
          </a:p>
        </p:txBody>
      </p:sp>
      <p:sp>
        <p:nvSpPr>
          <p:cNvPr id="17" name="Text 15"/>
          <p:cNvSpPr txBox="1"/>
          <p:nvPr/>
        </p:nvSpPr>
        <p:spPr>
          <a:xfrm>
            <a:off x="4562856" y="4352544"/>
            <a:ext cx="3063240" cy="402336"/>
          </a:xfrm>
          <a:prstGeom prst="rect">
            <a:avLst/>
          </a:prstGeom>
          <a:noFill/>
          <a:ln/>
        </p:spPr>
        <p:txBody>
          <a:bodyPr wrap="square" lIns="0" tIns="0" rIns="0" bIns="0" rtlCol="0" anchor="t"/>
          <a:lstStyle/>
          <a:p>
            <a:pPr indent="0" marL="0">
              <a:lnSpc>
                <a:spcPts val="1500"/>
              </a:lnSpc>
              <a:buNone/>
            </a:pPr>
            <a:r>
              <a:rPr lang="en-US" sz="1100" dirty="0">
                <a:solidFill>
                  <a:srgbClr val="ADB2B9"/>
                </a:solidFill>
                <a:latin typeface="Calibri" pitchFamily="34" charset="0"/>
                <a:ea typeface="Calibri" pitchFamily="34" charset="-122"/>
                <a:cs typeface="Calibri" pitchFamily="34" charset="-120"/>
              </a:rPr>
              <a:t>· Azeoo · Kinetix (prix non relevés)</a:t>
            </a:r>
            <a:endParaRPr lang="en-US" sz="1100" dirty="0"/>
          </a:p>
        </p:txBody>
      </p:sp>
      <p:sp>
        <p:nvSpPr>
          <p:cNvPr id="18" name="Shape 16"/>
          <p:cNvSpPr/>
          <p:nvPr/>
        </p:nvSpPr>
        <p:spPr>
          <a:xfrm>
            <a:off x="8065008" y="1920240"/>
            <a:ext cx="3575304" cy="2834640"/>
          </a:xfrm>
          <a:prstGeom prst="roundRect">
            <a:avLst>
              <a:gd name="adj" fmla="val 2258"/>
            </a:avLst>
          </a:prstGeom>
          <a:solidFill>
            <a:srgbClr val="1D2026"/>
          </a:solidFill>
          <a:ln w="9525">
            <a:solidFill>
              <a:srgbClr val="2F343D"/>
            </a:solidFill>
            <a:prstDash val="solid"/>
          </a:ln>
        </p:spPr>
      </p:sp>
      <p:sp>
        <p:nvSpPr>
          <p:cNvPr id="19" name="Text 17"/>
          <p:cNvSpPr txBox="1"/>
          <p:nvPr/>
        </p:nvSpPr>
        <p:spPr>
          <a:xfrm>
            <a:off x="8321040" y="2084832"/>
            <a:ext cx="3063240" cy="603504"/>
          </a:xfrm>
          <a:prstGeom prst="rect">
            <a:avLst/>
          </a:prstGeom>
          <a:noFill/>
          <a:ln/>
        </p:spPr>
        <p:txBody>
          <a:bodyPr wrap="square" lIns="0" tIns="0" rIns="0" bIns="0" rtlCol="0" anchor="t"/>
          <a:lstStyle/>
          <a:p>
            <a:pPr indent="0" marL="0">
              <a:lnSpc>
                <a:spcPts val="2000"/>
              </a:lnSpc>
              <a:buNone/>
            </a:pPr>
            <a:r>
              <a:rPr lang="en-US" sz="1800" b="1" dirty="0">
                <a:solidFill>
                  <a:srgbClr val="E3B23C"/>
                </a:solidFill>
                <a:latin typeface="Arial Narrow" pitchFamily="34" charset="0"/>
                <a:ea typeface="Arial Narrow" pitchFamily="34" charset="-122"/>
                <a:cs typeface="Arial Narrow" pitchFamily="34" charset="-120"/>
              </a:rPr>
              <a:t>Données et licences</a:t>
            </a:r>
            <a:endParaRPr lang="en-US" sz="1800" dirty="0"/>
          </a:p>
        </p:txBody>
      </p:sp>
      <p:sp>
        <p:nvSpPr>
          <p:cNvPr id="20" name="Text 18"/>
          <p:cNvSpPr txBox="1"/>
          <p:nvPr/>
        </p:nvSpPr>
        <p:spPr>
          <a:xfrm>
            <a:off x="8321040" y="2743200"/>
            <a:ext cx="3063240" cy="402336"/>
          </a:xfrm>
          <a:prstGeom prst="rect">
            <a:avLst/>
          </a:prstGeom>
          <a:noFill/>
          <a:ln/>
        </p:spPr>
        <p:txBody>
          <a:bodyPr wrap="square" lIns="0" tIns="0" rIns="0" bIns="0" rtlCol="0" anchor="t"/>
          <a:lstStyle/>
          <a:p>
            <a:pPr indent="0" marL="0">
              <a:lnSpc>
                <a:spcPts val="1500"/>
              </a:lnSpc>
              <a:buNone/>
            </a:pPr>
            <a:r>
              <a:rPr lang="en-US" sz="1100" dirty="0">
                <a:solidFill>
                  <a:srgbClr val="ADB2B9"/>
                </a:solidFill>
                <a:latin typeface="Calibri" pitchFamily="34" charset="0"/>
                <a:ea typeface="Calibri" pitchFamily="34" charset="-122"/>
                <a:cs typeface="Calibri" pitchFamily="34" charset="-120"/>
              </a:rPr>
              <a:t>· Table CIQUAL 2025, ANSES — à la racine du dépôt</a:t>
            </a:r>
            <a:endParaRPr lang="en-US" sz="1100" dirty="0"/>
          </a:p>
        </p:txBody>
      </p:sp>
      <p:sp>
        <p:nvSpPr>
          <p:cNvPr id="21" name="Text 19"/>
          <p:cNvSpPr txBox="1"/>
          <p:nvPr/>
        </p:nvSpPr>
        <p:spPr>
          <a:xfrm>
            <a:off x="8321040" y="3145536"/>
            <a:ext cx="3063240" cy="402336"/>
          </a:xfrm>
          <a:prstGeom prst="rect">
            <a:avLst/>
          </a:prstGeom>
          <a:noFill/>
          <a:ln/>
        </p:spPr>
        <p:txBody>
          <a:bodyPr wrap="square" lIns="0" tIns="0" rIns="0" bIns="0" rtlCol="0" anchor="t"/>
          <a:lstStyle/>
          <a:p>
            <a:pPr indent="0" marL="0">
              <a:lnSpc>
                <a:spcPts val="1500"/>
              </a:lnSpc>
              <a:buNone/>
            </a:pPr>
            <a:r>
              <a:rPr lang="en-US" sz="1100" dirty="0">
                <a:solidFill>
                  <a:srgbClr val="ADB2B9"/>
                </a:solidFill>
                <a:latin typeface="Calibri" pitchFamily="34" charset="0"/>
                <a:ea typeface="Calibri" pitchFamily="34" charset="-122"/>
                <a:cs typeface="Calibri" pitchFamily="34" charset="-120"/>
              </a:rPr>
              <a:t>· Règlement UE n° 1169/2011 — convention des fibres</a:t>
            </a:r>
            <a:endParaRPr lang="en-US" sz="1100" dirty="0"/>
          </a:p>
        </p:txBody>
      </p:sp>
      <p:sp>
        <p:nvSpPr>
          <p:cNvPr id="22" name="Text 20"/>
          <p:cNvSpPr txBox="1"/>
          <p:nvPr/>
        </p:nvSpPr>
        <p:spPr>
          <a:xfrm>
            <a:off x="8321040" y="3547872"/>
            <a:ext cx="3063240" cy="402336"/>
          </a:xfrm>
          <a:prstGeom prst="rect">
            <a:avLst/>
          </a:prstGeom>
          <a:noFill/>
          <a:ln/>
        </p:spPr>
        <p:txBody>
          <a:bodyPr wrap="square" lIns="0" tIns="0" rIns="0" bIns="0" rtlCol="0" anchor="t"/>
          <a:lstStyle/>
          <a:p>
            <a:pPr indent="0" marL="0">
              <a:lnSpc>
                <a:spcPts val="1500"/>
              </a:lnSpc>
              <a:buNone/>
            </a:pPr>
            <a:r>
              <a:rPr lang="en-US" sz="1100" dirty="0">
                <a:solidFill>
                  <a:srgbClr val="ADB2B9"/>
                </a:solidFill>
                <a:latin typeface="Calibri" pitchFamily="34" charset="0"/>
                <a:ea typeface="Calibri" pitchFamily="34" charset="-122"/>
                <a:cs typeface="Calibri" pitchFamily="34" charset="-120"/>
              </a:rPr>
              <a:t>· ExerciseDB — licence à vérifier</a:t>
            </a:r>
            <a:endParaRPr lang="en-US" sz="1100" dirty="0"/>
          </a:p>
        </p:txBody>
      </p:sp>
      <p:sp>
        <p:nvSpPr>
          <p:cNvPr id="23" name="Shape 21"/>
          <p:cNvSpPr/>
          <p:nvPr/>
        </p:nvSpPr>
        <p:spPr>
          <a:xfrm>
            <a:off x="548640" y="4956048"/>
            <a:ext cx="11091672" cy="841248"/>
          </a:xfrm>
          <a:prstGeom prst="roundRect">
            <a:avLst>
              <a:gd name="adj" fmla="val 7609"/>
            </a:avLst>
          </a:prstGeom>
          <a:solidFill>
            <a:srgbClr val="23272E"/>
          </a:solidFill>
          <a:ln w="15875">
            <a:solidFill>
              <a:srgbClr val="E2675F"/>
            </a:solidFill>
            <a:prstDash val="solid"/>
          </a:ln>
        </p:spPr>
      </p:sp>
      <p:sp>
        <p:nvSpPr>
          <p:cNvPr id="24" name="Text 22"/>
          <p:cNvSpPr txBox="1"/>
          <p:nvPr/>
        </p:nvSpPr>
        <p:spPr>
          <a:xfrm>
            <a:off x="877824" y="4956048"/>
            <a:ext cx="10433304" cy="841248"/>
          </a:xfrm>
          <a:prstGeom prst="rect">
            <a:avLst/>
          </a:prstGeom>
          <a:noFill/>
          <a:ln/>
        </p:spPr>
        <p:txBody>
          <a:bodyPr wrap="square" lIns="0" tIns="0" rIns="0" bIns="0" rtlCol="0" anchor="ctr"/>
          <a:lstStyle/>
          <a:p>
            <a:pPr indent="0" marL="0">
              <a:lnSpc>
                <a:spcPts val="1700"/>
              </a:lnSpc>
              <a:buNone/>
            </a:pPr>
            <a:r>
              <a:rPr lang="en-US" sz="1250" b="1" dirty="0">
                <a:solidFill>
                  <a:srgbClr val="E2675F"/>
                </a:solidFill>
                <a:latin typeface="Calibri" pitchFamily="34" charset="0"/>
                <a:ea typeface="Calibri" pitchFamily="34" charset="-122"/>
                <a:cs typeface="Calibri" pitchFamily="34" charset="-120"/>
              </a:rPr>
              <a:t>Ce qui n'a pas de source : </a:t>
            </a:r>
            <a:pPr indent="0" marL="0">
              <a:lnSpc>
                <a:spcPts val="1700"/>
              </a:lnSpc>
              <a:buNone/>
            </a:pPr>
            <a:r>
              <a:rPr lang="en-US" sz="1250" dirty="0">
                <a:solidFill>
                  <a:srgbClr val="ADB2B9"/>
                </a:solidFill>
                <a:latin typeface="Calibri" pitchFamily="34" charset="0"/>
                <a:ea typeface="Calibri" pitchFamily="34" charset="-122"/>
                <a:cs typeface="Calibri" pitchFamily="34" charset="-120"/>
              </a:rPr>
              <a:t>le panier moyen, le rythme d'acquisition, le taux de résiliation et tout le prévisionnel qui en découle. Ce sont des hypothèses de travail, à remplacer par des mesures après les pilotes du mois 6.</a:t>
            </a:r>
            <a:endParaRPr lang="en-US" sz="1250" dirty="0"/>
          </a:p>
        </p:txBody>
      </p:sp>
      <p:sp>
        <p:nvSpPr>
          <p:cNvPr id="25" name="Text 23"/>
          <p:cNvSpPr txBox="1"/>
          <p:nvPr/>
        </p:nvSpPr>
        <p:spPr>
          <a:xfrm>
            <a:off x="548640" y="5961888"/>
            <a:ext cx="11091672" cy="310896"/>
          </a:xfrm>
          <a:prstGeom prst="rect">
            <a:avLst/>
          </a:prstGeom>
          <a:noFill/>
          <a:ln/>
        </p:spPr>
        <p:txBody>
          <a:bodyPr wrap="square" lIns="0" tIns="0" rIns="0" bIns="0" rtlCol="0" anchor="ctr"/>
          <a:lstStyle/>
          <a:p>
            <a:pPr indent="0" marL="0">
              <a:buNone/>
            </a:pPr>
            <a:r>
              <a:rPr lang="en-US" sz="950" i="1" dirty="0">
                <a:solidFill>
                  <a:srgbClr val="868E99"/>
                </a:solidFill>
                <a:latin typeface="Calibri" pitchFamily="34" charset="0"/>
                <a:ea typeface="Calibri" pitchFamily="34" charset="-122"/>
                <a:cs typeface="Calibri" pitchFamily="34" charset="-120"/>
              </a:rPr>
              <a:t>fitcarnet Pro · business plan · d'après le document de travail du 16 septembre 2026</a:t>
            </a:r>
            <a:endParaRPr lang="en-US" sz="950" dirty="0"/>
          </a:p>
        </p:txBody>
      </p:sp>
      <p:sp>
        <p:nvSpPr>
          <p:cNvPr id="26" name="Text 24"/>
          <p:cNvSpPr txBox="1"/>
          <p:nvPr/>
        </p:nvSpPr>
        <p:spPr>
          <a:xfrm>
            <a:off x="548640" y="6336792"/>
            <a:ext cx="8229600" cy="274320"/>
          </a:xfrm>
          <a:prstGeom prst="rect">
            <a:avLst/>
          </a:prstGeom>
          <a:noFill/>
          <a:ln/>
        </p:spPr>
        <p:txBody>
          <a:bodyPr wrap="square" lIns="0" tIns="0" rIns="0" bIns="0" rtlCol="0" anchor="ctr"/>
          <a:lstStyle/>
          <a:p>
            <a:pPr algn="l" indent="0" marL="0">
              <a:buNone/>
            </a:pPr>
            <a:r>
              <a:rPr lang="en-US" sz="900" dirty="0">
                <a:solidFill>
                  <a:srgbClr val="868E99"/>
                </a:solidFill>
                <a:latin typeface="Calibri" pitchFamily="34" charset="0"/>
                <a:ea typeface="Calibri" pitchFamily="34" charset="-122"/>
                <a:cs typeface="Calibri" pitchFamily="34" charset="-120"/>
              </a:rPr>
              <a:t>fitcarnet Pro · business plan · 21 septembre 2026</a:t>
            </a:r>
            <a:endParaRPr lang="en-US" sz="900" dirty="0"/>
          </a:p>
        </p:txBody>
      </p:sp>
      <p:sp>
        <p:nvSpPr>
          <p:cNvPr id="27" name="Text 25"/>
          <p:cNvSpPr txBox="1"/>
          <p:nvPr/>
        </p:nvSpPr>
        <p:spPr>
          <a:xfrm>
            <a:off x="8897112" y="6336792"/>
            <a:ext cx="2743200" cy="274320"/>
          </a:xfrm>
          <a:prstGeom prst="rect">
            <a:avLst/>
          </a:prstGeom>
          <a:noFill/>
          <a:ln/>
        </p:spPr>
        <p:txBody>
          <a:bodyPr wrap="square" lIns="0" tIns="0" rIns="0" bIns="0" rtlCol="0" anchor="ctr"/>
          <a:lstStyle/>
          <a:p>
            <a:pPr algn="r" indent="0" marL="0">
              <a:buNone/>
            </a:pPr>
            <a:r>
              <a:rPr lang="en-US" sz="900" dirty="0">
                <a:solidFill>
                  <a:srgbClr val="868E99"/>
                </a:solidFill>
                <a:latin typeface="Calibri" pitchFamily="34" charset="0"/>
                <a:ea typeface="Calibri" pitchFamily="34" charset="-122"/>
                <a:cs typeface="Calibri" pitchFamily="34" charset="-120"/>
              </a:rPr>
              <a:t>24 / 24</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fitcarnet Pro — business plan</dc:title>
  <dc:subject>PptxGenJS Presentation</dc:subject>
  <dc:creator>fitcarnet</dc:creator>
  <cp:lastModifiedBy>fitcarnet</cp:lastModifiedBy>
  <cp:revision>1</cp:revision>
  <dcterms:created xsi:type="dcterms:W3CDTF">2026-09-21T08:48:41Z</dcterms:created>
  <dcterms:modified xsi:type="dcterms:W3CDTF">2026-09-21T08:48:41Z</dcterms:modified>
</cp:coreProperties>
</file>