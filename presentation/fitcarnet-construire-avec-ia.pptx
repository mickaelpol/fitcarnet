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: une application complète, en production, construite en sept semaines avec l’IA. Je ne vais pas vous montrer le produit, mais la façon de le construire.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temps : pourquoi, comment j’ai cadré, avec quels outils, comment l’IA est spécialisée sur le projet, comment je vérifie, et ce que j’en retiens.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besoin est personnel et réel : je m’en sers tous les jours. C’est ce qui rend le projet exigeant — ce qui est affiché est pesé et mangé.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point clé de toute la présentation : l’IA relit ce cadre à chaque session. Ce n’est pas un prompt, c’est de la documentation versionnée.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seul agent, mais outillé : des méthodes (superpowers), du savoir sur ma pile (symfony, expo), la doc à jour (context7), une carte du code (graphify), et des contrôles qui se déclenchent tout seuls (hooks).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skills génériques d’Internet ne valent rien ici. Celles qui comptent racontent mes règles : isolation des données entre comptes, conventions nutritionnelles, double écriture du schéma…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agent a un regard que les autres n’ont pas. Exemple : verite-documentaire a trouvé des compteurs faux dans ma propre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L’anecdote à raconter : une virgule décimale mal lue par le clavier Android. 577 tests verts, et dix fois trop de poids en base. Seule l’épreuve sur le vrai moteur l’a montrée.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L’IA n’a pas de mémoire d’une session à l’autre. Le dépôt, si. Chaque panne laisse un test, une règle datée dans CLAUDE.md ou une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phrase à laisser : l’IA propose et prouve, je valide. La vitesse vient de l’IA ; la qualité vient du cadre que je lui ai écrit.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FITCARNET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29184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301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1/10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429000" cy="438912"/>
          </a:xfrm>
          <a:prstGeom prst="roundRect">
            <a:avLst>
              <a:gd name="adj" fmla="val 25000"/>
            </a:avLst>
          </a:prstGeom>
          <a:solidFill>
            <a:srgbClr val="E3B23C">
              <a:alpha val="12000"/>
            </a:srgbClr>
          </a:solidFill>
          <a:ln w="9525">
            <a:solidFill>
              <a:srgbClr val="E3B23C">
                <a:alpha val="4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57984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205740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B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Retour d’expérience · Claude Code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651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8E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FITCARNET</a:t>
            </a:r>
            <a:endParaRPr lang="en-US" sz="8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06908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Construire une application complète avec l’IA — comment, avec quoi, et dans quel cadre.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7818120" y="1691640"/>
            <a:ext cx="3822192" cy="1234440"/>
          </a:xfrm>
          <a:prstGeom prst="roundRect">
            <a:avLst>
              <a:gd name="adj" fmla="val 8889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92440" y="169164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7</a:t>
            </a:r>
            <a:endParaRPr lang="en-US" sz="5000" dirty="0"/>
          </a:p>
        </p:txBody>
      </p:sp>
      <p:sp>
        <p:nvSpPr>
          <p:cNvPr id="13" name="Text 10"/>
          <p:cNvSpPr txBox="1"/>
          <p:nvPr/>
        </p:nvSpPr>
        <p:spPr>
          <a:xfrm>
            <a:off x="9829800" y="169164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semaines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818120" y="3108960"/>
            <a:ext cx="3822192" cy="1234440"/>
          </a:xfrm>
          <a:prstGeom prst="roundRect">
            <a:avLst>
              <a:gd name="adj" fmla="val 8889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2440" y="310896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341</a:t>
            </a:r>
            <a:endParaRPr lang="en-US" sz="5000" dirty="0"/>
          </a:p>
        </p:txBody>
      </p:sp>
      <p:sp>
        <p:nvSpPr>
          <p:cNvPr id="16" name="Text 13"/>
          <p:cNvSpPr txBox="1"/>
          <p:nvPr/>
        </p:nvSpPr>
        <p:spPr>
          <a:xfrm>
            <a:off x="9829800" y="310896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818120" y="4526280"/>
            <a:ext cx="3822192" cy="1234440"/>
          </a:xfrm>
          <a:prstGeom prst="roundRect">
            <a:avLst>
              <a:gd name="adj" fmla="val 8889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92440" y="452628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1 306</a:t>
            </a:r>
            <a:endParaRPr lang="en-US" sz="5000" dirty="0"/>
          </a:p>
        </p:txBody>
      </p:sp>
      <p:sp>
        <p:nvSpPr>
          <p:cNvPr id="19" name="Text 16"/>
          <p:cNvSpPr txBox="1"/>
          <p:nvPr/>
        </p:nvSpPr>
        <p:spPr>
          <a:xfrm>
            <a:off x="9829800" y="452628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automatisés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FITCARNET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29184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301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2/10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Ce que je vais vous présenter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410048" cy="1188720"/>
          </a:xfrm>
          <a:prstGeom prst="roundRect">
            <a:avLst>
              <a:gd name="adj" fmla="val 9231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148840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besoin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551176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cette application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3008" y="1920240"/>
            <a:ext cx="5410048" cy="1188720"/>
          </a:xfrm>
          <a:prstGeom prst="roundRect">
            <a:avLst>
              <a:gd name="adj" fmla="val 9231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192024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7376008" y="2148840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cadrage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76008" y="2551176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règles avant le code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410048" cy="1188720"/>
          </a:xfrm>
          <a:prstGeom prst="roundRect">
            <a:avLst>
              <a:gd name="adj" fmla="val 9231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33756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566160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boîte à outils IA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968496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l’agent et son écosystème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3008" y="3337560"/>
            <a:ext cx="5410048" cy="1188720"/>
          </a:xfrm>
          <a:prstGeom prst="roundRect">
            <a:avLst>
              <a:gd name="adj" fmla="val 9231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07328" y="333756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04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7376008" y="3566160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et agents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76008" y="3968496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l’IA spécialisée sur mon projet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5410048" cy="1188720"/>
          </a:xfrm>
          <a:prstGeom prst="roundRect">
            <a:avLst>
              <a:gd name="adj" fmla="val 9231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75488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05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1691640" y="4983480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et garde-fous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5385816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unitaires, API, bout en bout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33008" y="4754880"/>
            <a:ext cx="5410048" cy="1188720"/>
          </a:xfrm>
          <a:prstGeom prst="roundRect">
            <a:avLst>
              <a:gd name="adj" fmla="val 9231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07328" y="475488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06</a:t>
            </a:r>
            <a:endParaRPr lang="en-US" sz="3600" dirty="0"/>
          </a:p>
        </p:txBody>
      </p:sp>
      <p:sp>
        <p:nvSpPr>
          <p:cNvPr id="29" name="Text 27"/>
          <p:cNvSpPr txBox="1"/>
          <p:nvPr/>
        </p:nvSpPr>
        <p:spPr>
          <a:xfrm>
            <a:off x="7376008" y="4983480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Bilan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376008" y="5385816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l’IA accélère, ce qui reste humain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FITCARNET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29184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LE BESOIN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301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3/10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E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Je visais au gramme près.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8E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Je mangeais à peu près.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vise des macros précises et je m’entraîne en salle. Avant : une calculatrice, un frigo qu’on oublie, un carnet papier. Aucun outil ne reliait mes cibles, mon stock réel et mes séances.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B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RÉPONSE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330952" cy="1188720"/>
          </a:xfrm>
          <a:prstGeom prst="roundRect">
            <a:avLst>
              <a:gd name="adj" fmla="val 9231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5087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Composer un repas qui atteint mes cibles avec ce qu’il y a vraiment dans le frigo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2880360"/>
            <a:ext cx="5330952" cy="1188720"/>
          </a:xfrm>
          <a:prstGeom prst="roundRect">
            <a:avLst>
              <a:gd name="adj" fmla="val 9231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88036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8803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Planifier plusieurs jours, batch cooking et liste de courses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4251960"/>
            <a:ext cx="5330952" cy="1188720"/>
          </a:xfrm>
          <a:prstGeom prst="roundRect">
            <a:avLst>
              <a:gd name="adj" fmla="val 9231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425196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42519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Suivre mes séances et ma progression (1RM)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80644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61888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188720" y="580644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besoin réel : je m’en sers tous les jours — ce qui s’affiche est pesé, puis mangé.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FITCARNET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29184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LE CADRAGE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301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4/10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229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Cadrer avant de générer.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82296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L’IA code vite. Sans cadre, elle code vite dans la mauvaise direction. Tout le cadre est écrit, versionné dans git, et relu par l’IA à chaque session.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410048" cy="1508760"/>
          </a:xfrm>
          <a:prstGeom prst="roundRect">
            <a:avLst>
              <a:gd name="adj" fmla="val 7273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14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61518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251460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pile choisie par moi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10896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Symfony 7.4 · API Platform 4 · PostgreSQL 16 · Expo / React Native · Docker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33008" y="2286000"/>
            <a:ext cx="5410048" cy="1508760"/>
          </a:xfrm>
          <a:prstGeom prst="roundRect">
            <a:avLst>
              <a:gd name="adj" fmla="val 7273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61608" y="2514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61518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055968" y="251460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CLAUDE.md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6461608" y="310896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« constitution » du projet : architecture, 7 règles non négociables, pièges connus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48640" y="3977640"/>
            <a:ext cx="5410048" cy="1508760"/>
          </a:xfrm>
          <a:prstGeom prst="roundRect">
            <a:avLst>
              <a:gd name="adj" fmla="val 7273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7240" y="4206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30682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71600" y="420624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REPRENDRE.md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777240" y="480060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journal de bord : ce qui est fait, par quoi continuer, les décisions prises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233008" y="3977640"/>
            <a:ext cx="5410048" cy="1508760"/>
          </a:xfrm>
          <a:prstGeom prst="roundRect">
            <a:avLst>
              <a:gd name="adj" fmla="val 7273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61608" y="4206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192" y="430682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055968" y="420624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règles métier explicites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6461608" y="480060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Ex. « Un chiffre faux est pire qu’un refus de répondre »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548640" y="580644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961888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88720" y="580644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L’application : multi-comptes · auto-hébergée sur mon NAS · web + Android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FITCARNET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29184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LA BOÎTE À OUTILS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301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5/10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 agent au centre, un écosystème autour.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E3B23C">
              <a:alpha val="12000"/>
            </a:srgbClr>
          </a:solidFill>
          <a:ln w="9525">
            <a:solidFill>
              <a:srgbClr val="E3B23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122322"/>
            <a:ext cx="281635" cy="28163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54480" y="17830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Claude Code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1783080"/>
            <a:ext cx="7619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L’agent de développement, en terminal : il lit le dépôt, code, lance les tests, commite.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3545738" cy="1481328"/>
          </a:xfrm>
          <a:prstGeom prst="roundRect">
            <a:avLst>
              <a:gd name="adj" fmla="val 7407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3154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25526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71600" y="315468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superpowers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749040"/>
            <a:ext cx="308853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Méthodes : TDD, brainstorming, plans, débogage systématique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22978" y="2926080"/>
            <a:ext cx="3545738" cy="1481328"/>
          </a:xfrm>
          <a:prstGeom prst="roundRect">
            <a:avLst>
              <a:gd name="adj" fmla="val 7407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51578" y="3154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162" y="32552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45938" y="315468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superpowers-symfony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51578" y="3749040"/>
            <a:ext cx="308853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 skills Symfony · API Platform · Doctrine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097317" y="2926080"/>
            <a:ext cx="3545738" cy="1481328"/>
          </a:xfrm>
          <a:prstGeom prst="roundRect">
            <a:avLst>
              <a:gd name="adj" fmla="val 7407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325917" y="3154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501" y="3255264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920277" y="315468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325917" y="3749040"/>
            <a:ext cx="308853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React Native / Expo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48640" y="4526280"/>
            <a:ext cx="3545738" cy="1481328"/>
          </a:xfrm>
          <a:prstGeom prst="roundRect">
            <a:avLst>
              <a:gd name="adj" fmla="val 7407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77240" y="47548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855464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475488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context7 (MCP)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77240" y="5349240"/>
            <a:ext cx="308853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documentation officielle à jour, injectée dans le contexte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4322978" y="4526280"/>
            <a:ext cx="3545738" cy="1481328"/>
          </a:xfrm>
          <a:prstGeom prst="roundRect">
            <a:avLst>
              <a:gd name="adj" fmla="val 7407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51578" y="47548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2162" y="4855464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145938" y="475488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graphify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4551578" y="5349240"/>
            <a:ext cx="308853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Graphe de connaissances du code : 4 387 nœuds, interrogé avant toute recherche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8097317" y="4526280"/>
            <a:ext cx="3545738" cy="1481328"/>
          </a:xfrm>
          <a:prstGeom prst="roundRect">
            <a:avLst>
              <a:gd name="adj" fmla="val 7407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325917" y="47548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501" y="4855464"/>
            <a:ext cx="256032" cy="25603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8920277" y="475488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Hooks automatiques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8325917" y="5349240"/>
            <a:ext cx="308853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Typage du front et analyse PHPStan après chaque fichier modifié</a:t>
            </a:r>
            <a:endParaRPr lang="en-US" sz="1250" dirty="0"/>
          </a:p>
        </p:txBody>
      </p:sp>
      <p:sp>
        <p:nvSpPr>
          <p:cNvPr id="42" name="Text 33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ce deck : généré dans Lovable, piloté par Claude via MCP.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FITCARNET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29184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SKILLS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301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6/10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E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26 skills : la mémoire métier du projet.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skill est une fiche de savoir-faire que l’IA charge au bon moment. Les miennes portent ce que personne d’autre ne peut écrire : le métier et les pièges de CE projet.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0" y="1051560"/>
            <a:ext cx="5790895" cy="2743200"/>
          </a:xfrm>
          <a:prstGeom prst="roundRect">
            <a:avLst>
              <a:gd name="adj" fmla="val 4000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1188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11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1887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de métier et d’outillage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1920240"/>
            <a:ext cx="2529688" cy="347472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920240"/>
            <a:ext cx="2529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isolation-donnees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39048" y="1920240"/>
            <a:ext cx="2529688" cy="347472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39048" y="1920240"/>
            <a:ext cx="2529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nutrition-fitcarnet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359152"/>
            <a:ext cx="2529688" cy="347472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359152"/>
            <a:ext cx="2529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schema-base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39048" y="2359152"/>
            <a:ext cx="2529688" cy="347472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39048" y="2359152"/>
            <a:ext cx="2529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tests-api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798064"/>
            <a:ext cx="2529688" cy="347472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2798064"/>
            <a:ext cx="2529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front-fitcarnet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39048" y="2798064"/>
            <a:ext cx="2529688" cy="347472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39048" y="2798064"/>
            <a:ext cx="2529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revue-de-code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3236976"/>
            <a:ext cx="2529688" cy="347472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26480" y="3236976"/>
            <a:ext cx="2529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donnees-de-test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39048" y="3236976"/>
            <a:ext cx="2529688" cy="347472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39048" y="3236976"/>
            <a:ext cx="2529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passe-de-controle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52160" y="3977640"/>
            <a:ext cx="5790895" cy="1600200"/>
          </a:xfrm>
          <a:prstGeom prst="roundRect">
            <a:avLst>
              <a:gd name="adj" fmla="val 6857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26480" y="4114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15</a:t>
            </a:r>
            <a:endParaRPr lang="en-US" sz="38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411480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fiches fonctionnalité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4709160"/>
            <a:ext cx="5242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besoin, le parcours utilisateur, les critères d’acceptation — une par fonctionnalité.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760720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E3B23C">
              <a:alpha val="12000"/>
            </a:srgbClr>
          </a:solidFill>
          <a:ln w="9525">
            <a:solidFill>
              <a:srgbClr val="E3B23C">
                <a:alpha val="40000"/>
              </a:srgbClr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52744"/>
            <a:ext cx="256032" cy="256032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188720" y="5760720"/>
            <a:ext cx="10225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B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table d’aiguillage dit quelle skill charger pour quel travail. 10 skills génériques ont été supprimées : elles n’apportaient rien.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FITCARNET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29184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AGENTS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301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7/10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 agents spécialisés. Ils rapportent, je décide.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15798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205740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revue-fitcarnet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65176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Relit le code selon les 8 motifs de défaut réels du projet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22978" y="182880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51578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162" y="215798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45938" y="205740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revue-pile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51578" y="265176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Confronte le code à la documentation officielle de la pile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097317" y="182880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25917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501" y="215798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920277" y="205740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verification-bout-en-bout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325917" y="265176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Éprouve l’application qui tourne, puis efface ses traces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48640" y="370332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032504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371600" y="393192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verification-android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452628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 les gestes de l’utilisateur sur émulateur Android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4322978" y="370332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51578" y="3931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162" y="4032504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145938" y="393192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verification-fonctionnalites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4551578" y="452628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de vue utilisateur, avec capture vidéo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8097317" y="3703320"/>
            <a:ext cx="3545738" cy="1691640"/>
          </a:xfrm>
          <a:prstGeom prst="roundRect">
            <a:avLst>
              <a:gd name="adj" fmla="val 6486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325917" y="3931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501" y="4032504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920277" y="393192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verite-documentaire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8325917" y="452628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Vérifie que la documentation dit vrai</a:t>
            </a:r>
            <a:endParaRPr lang="en-US" sz="1350" dirty="0"/>
          </a:p>
        </p:txBody>
      </p:sp>
      <p:sp>
        <p:nvSpPr>
          <p:cNvPr id="37" name="Shape 29"/>
          <p:cNvSpPr/>
          <p:nvPr/>
        </p:nvSpPr>
        <p:spPr>
          <a:xfrm>
            <a:off x="548640" y="580644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961888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188720" y="580644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 ne modifie le code : ils rapportent, je décide. Aucun ne touche une donnée qu’il n’a pas créée.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FITCARNET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29184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TESTS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301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8/10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Jamais « terminé » sans preuve.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02154" cy="2240280"/>
          </a:xfrm>
          <a:prstGeom prst="roundRect">
            <a:avLst>
              <a:gd name="adj" fmla="val 4898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74520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7BA7D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756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8892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unitaires front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00400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+ 46 tests de rendu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79394" y="1783080"/>
            <a:ext cx="2602154" cy="2240280"/>
          </a:xfrm>
          <a:prstGeom prst="roundRect">
            <a:avLst>
              <a:gd name="adj" fmla="val 4898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07994" y="1874520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498</a:t>
            </a:r>
            <a:endParaRPr lang="en-US" sz="5600" dirty="0"/>
          </a:p>
        </p:txBody>
      </p:sp>
      <p:sp>
        <p:nvSpPr>
          <p:cNvPr id="13" name="Text 11"/>
          <p:cNvSpPr txBox="1"/>
          <p:nvPr/>
        </p:nvSpPr>
        <p:spPr>
          <a:xfrm>
            <a:off x="3607994" y="278892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API PHPUnit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07994" y="3200400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 base ni réseau, en 1,5 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0148" y="1783080"/>
            <a:ext cx="2602154" cy="2240280"/>
          </a:xfrm>
          <a:prstGeom prst="roundRect">
            <a:avLst>
              <a:gd name="adj" fmla="val 4898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8748" y="1874520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906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</a:t>
            </a:r>
            <a:endParaRPr lang="en-US" sz="5600" dirty="0"/>
          </a:p>
        </p:txBody>
      </p:sp>
      <p:sp>
        <p:nvSpPr>
          <p:cNvPr id="17" name="Text 15"/>
          <p:cNvSpPr txBox="1"/>
          <p:nvPr/>
        </p:nvSpPr>
        <p:spPr>
          <a:xfrm>
            <a:off x="6438748" y="278892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épreuves E2E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38748" y="3200400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 : vrai navigateur, vraie API, vraie base, comptes jetables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40901" y="1783080"/>
            <a:ext cx="2602154" cy="2240280"/>
          </a:xfrm>
          <a:prstGeom prst="roundRect">
            <a:avLst>
              <a:gd name="adj" fmla="val 4898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69501" y="1874520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C08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Android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9269501" y="278892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parcours rejoués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69501" y="3200400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émulateur, avec les gestes de l’utilisateur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434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DB2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TDD systématique : le test échoue d’abord, puis le correctif le fait passer. L’IA doit coller la sortie des tests, pas une affirmation.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035040" y="4343400"/>
            <a:ext cx="5608015" cy="1737360"/>
          </a:xfrm>
          <a:prstGeom prst="roundRect">
            <a:avLst>
              <a:gd name="adj" fmla="val 6316"/>
            </a:avLst>
          </a:prstGeom>
          <a:solidFill>
            <a:srgbClr val="E3B23C">
              <a:alpha val="12000"/>
            </a:srgbClr>
          </a:solidFill>
          <a:ln w="9525">
            <a:solidFill>
              <a:srgbClr val="E3B23C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B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PLUSIEURS NIVEAUX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489204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42,5 kg saisis, 425 kg enregistrés — avec 577 tests unitaires au vert. C’est l’émulateur Android qui l’a vu.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FITCARNET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29184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GARDE-FOUS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301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9/10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Chaque panne devient une règle.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657600" cy="3520440"/>
          </a:xfrm>
          <a:prstGeom prst="roundRect">
            <a:avLst>
              <a:gd name="adj" fmla="val 3117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8745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79</a:t>
            </a:r>
            <a:endParaRPr lang="en-US" sz="10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constats d’audit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57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C08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78 clos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343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complet du code mené avec l’IA — septembre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98682" y="2514600"/>
            <a:ext cx="914400" cy="914400"/>
          </a:xfrm>
          <a:prstGeom prst="ellipse">
            <a:avLst/>
          </a:prstGeom>
          <a:solidFill>
            <a:srgbClr val="E3B23C">
              <a:alpha val="12000"/>
            </a:srgbClr>
          </a:solidFill>
          <a:ln w="12700">
            <a:solidFill>
              <a:srgbClr val="E3B23C">
                <a:alpha val="6000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6426" y="2752344"/>
            <a:ext cx="438912" cy="43891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724362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678642" y="3611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Panne ou constat</a:t>
            </a:r>
            <a:endParaRPr lang="en-US" sz="13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172" y="2807208"/>
            <a:ext cx="329184" cy="32918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766446" y="2514600"/>
            <a:ext cx="914400" cy="914400"/>
          </a:xfrm>
          <a:prstGeom prst="ellipse">
            <a:avLst/>
          </a:prstGeom>
          <a:solidFill>
            <a:srgbClr val="E3B23C">
              <a:alpha val="12000"/>
            </a:srgbClr>
          </a:solidFill>
          <a:ln w="12700">
            <a:solidFill>
              <a:srgbClr val="E3B23C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190" y="275234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126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446406" y="3611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qui la reproduit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2936" y="2807208"/>
            <a:ext cx="329184" cy="32918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534210" y="2514600"/>
            <a:ext cx="914400" cy="914400"/>
          </a:xfrm>
          <a:prstGeom prst="ellipse">
            <a:avLst/>
          </a:prstGeom>
          <a:solidFill>
            <a:srgbClr val="E3B23C">
              <a:alpha val="12000"/>
            </a:srgbClr>
          </a:solidFill>
          <a:ln w="12700">
            <a:solidFill>
              <a:srgbClr val="E3B23C">
                <a:alpha val="60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1954" y="2752344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25989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8214170" y="3611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Correctif</a:t>
            </a:r>
            <a:endParaRPr lang="en-US" sz="13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0699" y="2807208"/>
            <a:ext cx="329184" cy="329184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10301973" y="2514600"/>
            <a:ext cx="914400" cy="914400"/>
          </a:xfrm>
          <a:prstGeom prst="ellipse">
            <a:avLst/>
          </a:prstGeom>
          <a:solidFill>
            <a:srgbClr val="E3B23C">
              <a:alpha val="12000"/>
            </a:srgbClr>
          </a:solidFill>
          <a:ln w="12700">
            <a:solidFill>
              <a:srgbClr val="E3B23C">
                <a:alpha val="60000"/>
              </a:srgbClr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9717" y="275234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0027653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9981933" y="3611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Règle, skill ou garde-fou écrit dans le dépôt</a:t>
            </a:r>
            <a:endParaRPr lang="en-US" sz="1350" dirty="0"/>
          </a:p>
        </p:txBody>
      </p:sp>
      <p:sp>
        <p:nvSpPr>
          <p:cNvPr id="31" name="Shape 22"/>
          <p:cNvSpPr/>
          <p:nvPr/>
        </p:nvSpPr>
        <p:spPr>
          <a:xfrm>
            <a:off x="548640" y="580644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E3B23C">
              <a:alpha val="12000"/>
            </a:srgbClr>
          </a:solidFill>
          <a:ln w="9525">
            <a:solidFill>
              <a:srgbClr val="E3B23C">
                <a:alpha val="40000"/>
              </a:srgbClr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961888"/>
            <a:ext cx="256032" cy="25603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188720" y="580644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B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l’IA de demain ne refait pas l’erreur d’hier — le contexte est un actif versionné.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FITCARNET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29184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68E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BILAN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301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10/10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L’IA accélère. Le cadre fait la qualité.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10048" cy="3246120"/>
          </a:xfrm>
          <a:prstGeom prst="roundRect">
            <a:avLst>
              <a:gd name="adj" fmla="val 3380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11226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2011680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Ce que l’IA a accéléré</a:t>
            </a:r>
            <a:endParaRPr lang="en-US" sz="2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9806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269748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application full-stack en production en 7 semaines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6499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26440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341 commits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3192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0160" y="3831336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1 306 tests automatisés</a:t>
            </a:r>
            <a:endParaRPr lang="en-US" sz="1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80160" y="4398264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Audit, relecture et documentation en continu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233008" y="1783080"/>
            <a:ext cx="5410048" cy="3246120"/>
          </a:xfrm>
          <a:prstGeom prst="roundRect">
            <a:avLst>
              <a:gd name="adj" fmla="val 3380"/>
            </a:avLst>
          </a:prstGeom>
          <a:solidFill>
            <a:srgbClr val="23272E"/>
          </a:solidFill>
          <a:ln w="9525">
            <a:solidFill>
              <a:srgbClr val="2F343D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507328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B23C"/>
          </a:solidFill>
          <a:ln w="12700">
            <a:solidFill>
              <a:srgbClr val="E3B23C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7912" y="2112264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147408" y="2011680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A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Ce qui reste humain</a:t>
            </a:r>
            <a:endParaRPr lang="en-US" sz="24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048" y="2798064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964528" y="269748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besoin et les arbitrages</a:t>
            </a:r>
            <a:endParaRPr lang="en-US" sz="14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048" y="3364992"/>
            <a:ext cx="237744" cy="237744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964528" y="326440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règles non négociables</a:t>
            </a:r>
            <a:endParaRPr lang="en-US" sz="14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048" y="3931920"/>
            <a:ext cx="237744" cy="237744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6964528" y="3831336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décision finale : l’IA propose et prouve, je valide</a:t>
            </a:r>
            <a:endParaRPr lang="en-US" sz="1400" dirty="0"/>
          </a:p>
        </p:txBody>
      </p:sp>
      <p:sp>
        <p:nvSpPr>
          <p:cNvPr id="29" name="Text 18"/>
          <p:cNvSpPr txBox="1"/>
          <p:nvPr/>
        </p:nvSpPr>
        <p:spPr>
          <a:xfrm>
            <a:off x="548640" y="5303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3B23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Questions ?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Fitcarnet — Construire une application avec l’IA</dc:title>
  <dc:subject>PptxGenJS Presentation</dc:subject>
  <dc:creator>Mickaël Pol</dc:creator>
  <cp:lastModifiedBy>Mickaël Pol</cp:lastModifiedBy>
  <cp:revision>1</cp:revision>
  <dcterms:created xsi:type="dcterms:W3CDTF">2026-09-21T15:12:12Z</dcterms:created>
  <dcterms:modified xsi:type="dcterms:W3CDTF">2026-09-21T15:12:12Z</dcterms:modified>
</cp:coreProperties>
</file>